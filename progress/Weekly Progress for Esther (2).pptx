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Lst>
  <p:sldSz cy="6858000" cx="12192000"/>
  <p:notesSz cx="6858000" cy="9144000"/>
  <p:embeddedFontLst>
    <p:embeddedFont>
      <p:font typeface="ADLaM Display"/>
      <p:regular r:id="rId154"/>
    </p:embeddedFont>
    <p:embeddedFont>
      <p:font typeface="Inter SemiBold"/>
      <p:regular r:id="rId155"/>
      <p:bold r:id="rId156"/>
      <p:italic r:id="rId157"/>
      <p:boldItalic r:id="rId158"/>
    </p:embeddedFont>
    <p:embeddedFont>
      <p:font typeface="Inter"/>
      <p:regular r:id="rId159"/>
      <p:bold r:id="rId160"/>
      <p:italic r:id="rId161"/>
      <p:boldItalic r:id="rId162"/>
    </p:embeddedFont>
    <p:embeddedFont>
      <p:font typeface="Helvetica Neue"/>
      <p:regular r:id="rId163"/>
      <p:bold r:id="rId164"/>
      <p:italic r:id="rId165"/>
      <p:boldItalic r:id="rId166"/>
    </p:embeddedFont>
    <p:embeddedFont>
      <p:font typeface="Roboto Mono"/>
      <p:regular r:id="rId167"/>
      <p:bold r:id="rId168"/>
      <p:italic r:id="rId169"/>
      <p:boldItalic r:id="rId170"/>
    </p:embeddedFont>
    <p:embeddedFont>
      <p:font typeface="Gill Sans"/>
      <p:regular r:id="rId171"/>
      <p:bold r:id="rId1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3" roundtripDataSignature="AMtx7mguHMugbmogVUnYZnIwQZ8EE85L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5F6827-E82E-4228-9309-3C803ABCFE8B}">
  <a:tblStyle styleId="{AE5F6827-E82E-4228-9309-3C803ABCFE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C67A452-83CC-4573-9EBC-7A23179EE2B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173"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font" Target="fonts/GillSans-bold.fntdata"/><Relationship Id="rId65" Type="http://schemas.openxmlformats.org/officeDocument/2006/relationships/slide" Target="slides/slide60.xml"/><Relationship Id="rId171" Type="http://schemas.openxmlformats.org/officeDocument/2006/relationships/font" Target="fonts/GillSans-regular.fntdata"/><Relationship Id="rId68" Type="http://schemas.openxmlformats.org/officeDocument/2006/relationships/slide" Target="slides/slide63.xml"/><Relationship Id="rId170" Type="http://schemas.openxmlformats.org/officeDocument/2006/relationships/font" Target="fonts/RobotoMono-boldItalic.fntdata"/><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font" Target="fonts/HelveticaNeue-italic.fntdata"/><Relationship Id="rId69" Type="http://schemas.openxmlformats.org/officeDocument/2006/relationships/slide" Target="slides/slide64.xml"/><Relationship Id="rId164" Type="http://schemas.openxmlformats.org/officeDocument/2006/relationships/font" Target="fonts/HelveticaNeue-bold.fntdata"/><Relationship Id="rId163" Type="http://schemas.openxmlformats.org/officeDocument/2006/relationships/font" Target="fonts/HelveticaNeue-regular.fntdata"/><Relationship Id="rId162" Type="http://schemas.openxmlformats.org/officeDocument/2006/relationships/font" Target="fonts/Inter-boldItalic.fntdata"/><Relationship Id="rId169" Type="http://schemas.openxmlformats.org/officeDocument/2006/relationships/font" Target="fonts/RobotoMono-italic.fntdata"/><Relationship Id="rId168" Type="http://schemas.openxmlformats.org/officeDocument/2006/relationships/font" Target="fonts/RobotoMono-bold.fntdata"/><Relationship Id="rId167" Type="http://schemas.openxmlformats.org/officeDocument/2006/relationships/font" Target="fonts/RobotoMono-regular.fntdata"/><Relationship Id="rId166" Type="http://schemas.openxmlformats.org/officeDocument/2006/relationships/font" Target="fonts/HelveticaNeue-boldItalic.fntdata"/><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font" Target="fonts/Inter-italic.fntdata"/><Relationship Id="rId54" Type="http://schemas.openxmlformats.org/officeDocument/2006/relationships/slide" Target="slides/slide49.xml"/><Relationship Id="rId160" Type="http://schemas.openxmlformats.org/officeDocument/2006/relationships/font" Target="fonts/Inter-bold.fntdata"/><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font" Target="fonts/Inter-regular.fntdata"/><Relationship Id="rId59" Type="http://schemas.openxmlformats.org/officeDocument/2006/relationships/slide" Target="slides/slide54.xml"/><Relationship Id="rId154" Type="http://schemas.openxmlformats.org/officeDocument/2006/relationships/font" Target="fonts/ADLaMDisplay-regular.fntdata"/><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font" Target="fonts/InterSemiBold-boldItalic.fntdata"/><Relationship Id="rId157" Type="http://schemas.openxmlformats.org/officeDocument/2006/relationships/font" Target="fonts/InterSemiBold-italic.fntdata"/><Relationship Id="rId156" Type="http://schemas.openxmlformats.org/officeDocument/2006/relationships/font" Target="fonts/InterSemiBold-bold.fntdata"/><Relationship Id="rId155"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lp.cs.unc.edu/data/jielei/tvqa/tvqa_public_html/download_tvqa_plus.html" TargetMode="External"/><Relationship Id="rId3" Type="http://schemas.openxmlformats.org/officeDocument/2006/relationships/hyperlink" Target="https://huggingface.co/datasets/MMMU/MMMU" TargetMode="External"/><Relationship Id="rId4" Type="http://schemas.openxmlformats.org/officeDocument/2006/relationships/hyperlink" Target="https://huggingface.co/datasets/HuggingFaceFV/finevideo" TargetMode="External"/><Relationship Id="rId5" Type="http://schemas.openxmlformats.org/officeDocument/2006/relationships/hyperlink" Target="https://huggingface.co/docs/transformers/en/model_doc/siglip" TargetMode="External"/><Relationship Id="rId6" Type="http://schemas.openxmlformats.org/officeDocument/2006/relationships/hyperlink" Target="https://huggingface.co/collections/OpenGVLab/internvideo2" TargetMode="External"/><Relationship Id="rId7" Type="http://schemas.openxmlformats.org/officeDocument/2006/relationships/hyperlink" Target="https://huggingface.co/meta-llama/Meta-Llama-3-70B-Instruct" TargetMode="External"/><Relationship Id="rId8" Type="http://schemas.openxmlformats.org/officeDocument/2006/relationships/hyperlink" Target="https://huggingface.co/Qwen/Qwen2-72B-Instruct" TargetMode="Externa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1b7cda4b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d1b7cda4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cf80cc18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dcf80cc18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31faef8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31faef8d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Thats all for up my update. </a:t>
            </a:r>
            <a:endParaRPr/>
          </a:p>
        </p:txBody>
      </p:sp>
      <p:sp>
        <p:nvSpPr>
          <p:cNvPr id="106" name="Google Shape;106;g3d31faef8d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cb43a2435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2" name="Google Shape;112;g3dcb43a2435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3" name="Google Shape;113;g3dcb43a2435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dcb43a2435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cb43a2435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6" name="Google Shape;116;g3dcb43a2435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cb72643a8_0_2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26" name="Google Shape;126;g3dcb72643a8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cb72643a8_0_5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dcb72643a8_0_5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dcb72643a8_0_5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cb72643a8_0_5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dcb72643a8_0_5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dcb72643a8_0_5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cb72643a8_0_68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dcb72643a8_0_68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dcb72643a8_0_68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cb72643a8_0_6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dcb72643a8_0_62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dcb72643a8_0_62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cb72643a8_0_27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7" name="Google Shape;247;g3dcb72643a8_0_27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8" name="Google Shape;248;g3dcb72643a8_0_27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dcb72643a8_0_27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dcb72643a8_0_27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1" name="Google Shape;251;g3dcb72643a8_0_27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cb43a2435_0_1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dcb43a2435_0_17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dcb43a2435_0_17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cb43a2435_0_2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dcb43a2435_0_22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dcb43a2435_0_22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cb72643a8_0_1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dcb72643a8_0_13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dcb72643a8_0_13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cb72643a8_0_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dcb72643a8_0_7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dcb72643a8_0_7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cb72643a8_0_1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dcb72643a8_0_17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dcb72643a8_0_17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dcb72643a8_0_2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dcb72643a8_0_2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dcb72643a8_0_2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cb72643a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dcb72643a8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Thats all for up my update. </a:t>
            </a:r>
            <a:endParaRPr/>
          </a:p>
        </p:txBody>
      </p:sp>
      <p:sp>
        <p:nvSpPr>
          <p:cNvPr id="402" name="Google Shape;402;g3dcb72643a8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20642719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d2064271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c8193d43a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3cc8193d43a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041c245af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041c245af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p:txBody>
      </p:sp>
      <p:sp>
        <p:nvSpPr>
          <p:cNvPr id="421" name="Google Shape;421;g3d041c245af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775964ee3_0_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7" name="Google Shape;427;g3d775964ee3_0_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8" name="Google Shape;428;g3d775964ee3_0_1: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d775964ee3_0_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d775964ee3_0_1: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1" name="Google Shape;431;g3d775964ee3_0_1: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775964ee3_0_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d775964ee3_0_6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d775964ee3_0_6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775964ee3_0_3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3d775964ee3_0_30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3d775964ee3_0_30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775964ee3_0_3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g3d775964ee3_0_35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3d775964ee3_0_35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775964ee3_0_5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d775964ee3_0_5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g3d775964ee3_0_5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775964ee3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775964ee3_0_4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Thats all for up my update. </a:t>
            </a:r>
            <a:endParaRPr/>
          </a:p>
        </p:txBody>
      </p:sp>
      <p:sp>
        <p:nvSpPr>
          <p:cNvPr id="570" name="Google Shape;570;g3d775964ee3_0_4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041c245a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g3d041c245a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58b3a9d5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3958b3a9d5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bebc3ce2e9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bebc3ce2e9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g3bebc3ce2e9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958b3a9d51_0_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95" name="Google Shape;595;g3958b3a9d51_0_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96" name="Google Shape;596;g3958b3a9d51_0_16: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958b3a9d51_0_1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Hi everyone, thanks for making the time. Today I want to give you an update on the Agentic Voice RAG Pipeline I've been building, walk through a technical roadblock we hit during the batched execution, and then review the ShardMemo paper </a:t>
            </a:r>
            <a:endParaRPr/>
          </a:p>
          <a:p>
            <a:pPr indent="0" lvl="0" marL="0" rtl="0" algn="l">
              <a:spcBef>
                <a:spcPts val="0"/>
              </a:spcBef>
              <a:spcAft>
                <a:spcPts val="0"/>
              </a:spcAft>
              <a:buNone/>
            </a:pPr>
            <a:r>
              <a:t/>
            </a:r>
            <a:endParaRPr/>
          </a:p>
        </p:txBody>
      </p:sp>
      <p:sp>
        <p:nvSpPr>
          <p:cNvPr id="598" name="Google Shape;598;g3958b3a9d51_0_16: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99" name="Google Shape;599;g3958b3a9d51_0_1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bebc3ce2e9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Here is the high-level design of the pipeline. It takes user audio and feeds it into the 'Thinker' using Qwen2.5-Omni. If the Thinker decides it needs external data, it triggers our Tool Executor. Right now, that’s a local FAISS Vector DB for secure customer lookups, and I am working on adding an online search API next.</a:t>
            </a:r>
            <a:endParaRPr/>
          </a:p>
          <a:p>
            <a:pPr indent="0" lvl="0" marL="0" rtl="0" algn="l">
              <a:lnSpc>
                <a:spcPct val="115000"/>
              </a:lnSpc>
              <a:spcBef>
                <a:spcPts val="1200"/>
              </a:spcBef>
              <a:spcAft>
                <a:spcPts val="0"/>
              </a:spcAft>
              <a:buClr>
                <a:schemeClr val="dk1"/>
              </a:buClr>
              <a:buSzPts val="1100"/>
              <a:buFont typeface="Arial"/>
              <a:buNone/>
            </a:pPr>
            <a:r>
              <a:rPr lang="en-US"/>
              <a:t>Once the data is retrieved, it goes back to the Thinker, passes to the 'Talker' to generate audio codec tokens, and finally to 'Token2Wav' to output a conversational audio file. I chose this architecture because it simulates enterprise-grade agents specifically, it mirrors the ReAct tool-calling architecture used by Bank of America’s Erica, which handles billions of interactions.</a:t>
            </a:r>
            <a:endParaRPr/>
          </a:p>
          <a:p>
            <a:pPr indent="0" lvl="0" marL="0" rtl="0" algn="l">
              <a:spcBef>
                <a:spcPts val="1200"/>
              </a:spcBef>
              <a:spcAft>
                <a:spcPts val="0"/>
              </a:spcAft>
              <a:buNone/>
            </a:pPr>
            <a:r>
              <a:t/>
            </a:r>
            <a:endParaRPr/>
          </a:p>
        </p:txBody>
      </p:sp>
      <p:sp>
        <p:nvSpPr>
          <p:cNvPr id="609" name="Google Shape;609;g3bebc3ce2e9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958b3a9d51_0_2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 a real-world use case for this is a traditional call center IVR systems. They are rigid, frustrating, and say things like 'Press 1 for balance.' Human support, on the other hand, is expensive and has long wait times.</a:t>
            </a:r>
            <a:endParaRPr sz="1100"/>
          </a:p>
          <a:p>
            <a:pPr indent="0" lvl="0" marL="0" rtl="0" algn="l">
              <a:lnSpc>
                <a:spcPct val="115000"/>
              </a:lnSpc>
              <a:spcBef>
                <a:spcPts val="1200"/>
              </a:spcBef>
              <a:spcAft>
                <a:spcPts val="0"/>
              </a:spcAft>
              <a:buClr>
                <a:schemeClr val="dk1"/>
              </a:buClr>
              <a:buSzPts val="1100"/>
              <a:buFont typeface="Arial"/>
              <a:buNone/>
            </a:pPr>
            <a:r>
              <a:rPr lang="en-US" sz="1100"/>
              <a:t>The solution is a fully autonomous concierge. Because it uses local RAG with FAISS, this pipeline achieves zero hold times for tier-1 support, but more importantly, it guarantees data privacy. Sensitive customer data stays entirely in-house instead of leaking to public LLMs, and the agent uses real-time database lookups to provide dynamic context rather than scripted answers</a:t>
            </a:r>
            <a:endParaRPr sz="1100"/>
          </a:p>
          <a:p>
            <a:pPr indent="0" lvl="0" marL="0" rtl="0" algn="l">
              <a:spcBef>
                <a:spcPts val="1200"/>
              </a:spcBef>
              <a:spcAft>
                <a:spcPts val="0"/>
              </a:spcAft>
              <a:buNone/>
            </a:pPr>
            <a:r>
              <a:t/>
            </a:r>
            <a:endParaRPr sz="1100"/>
          </a:p>
        </p:txBody>
      </p:sp>
      <p:sp>
        <p:nvSpPr>
          <p:cNvPr id="651" name="Google Shape;651;g3958b3a9d51_0_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958b3a9d51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In terms of current status, Stage 1 is successful—the model transcribed all 105 test files and successfully executed the FAISS database lookups.</a:t>
            </a:r>
            <a:endParaRPr sz="1100"/>
          </a:p>
          <a:p>
            <a:pPr indent="0" lvl="0" marL="0" rtl="0" algn="l">
              <a:lnSpc>
                <a:spcPct val="115000"/>
              </a:lnSpc>
              <a:spcBef>
                <a:spcPts val="1200"/>
              </a:spcBef>
              <a:spcAft>
                <a:spcPts val="0"/>
              </a:spcAft>
              <a:buClr>
                <a:schemeClr val="dk1"/>
              </a:buClr>
              <a:buSzPts val="1100"/>
              <a:buFont typeface="Arial"/>
              <a:buNone/>
            </a:pPr>
            <a:r>
              <a:rPr lang="en-US" sz="1100"/>
              <a:t>However, I hit a technical roadblock during the audio synthesis stage. Because audio tokens consume a massive amount of context, the pipeline exceeded its memory allocation. The model attempted to fetch a positional embedding beyond the set limit, which triggered a CUDA 'device-side assert' out-of-bounds error and crashed the GPU. I am currently fixing this by expanding the </a:t>
            </a:r>
            <a:r>
              <a:rPr lang="en-US" sz="1100">
                <a:solidFill>
                  <a:srgbClr val="188038"/>
                </a:solidFill>
                <a:latin typeface="Roboto Mono"/>
                <a:ea typeface="Roboto Mono"/>
                <a:cs typeface="Roboto Mono"/>
                <a:sym typeface="Roboto Mono"/>
              </a:rPr>
              <a:t>max_model_len</a:t>
            </a:r>
            <a:r>
              <a:rPr lang="en-US" sz="1100"/>
              <a:t> configuration so the GPUs have enough headroom for the full audio sequences.</a:t>
            </a:r>
            <a:endParaRPr sz="1100"/>
          </a:p>
          <a:p>
            <a:pPr indent="0" lvl="0" marL="0" rtl="0" algn="l">
              <a:spcBef>
                <a:spcPts val="1200"/>
              </a:spcBef>
              <a:spcAft>
                <a:spcPts val="0"/>
              </a:spcAft>
              <a:buNone/>
            </a:pPr>
            <a:r>
              <a:t/>
            </a:r>
            <a:endParaRPr sz="1100"/>
          </a:p>
        </p:txBody>
      </p:sp>
      <p:sp>
        <p:nvSpPr>
          <p:cNvPr id="670" name="Google Shape;670;g3958b3a9d51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ebc3ce2e9_0_5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84" name="Google Shape;684;g3bebc3ce2e9_0_5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85" name="Google Shape;685;g3bebc3ce2e9_0_5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g3bebc3ce2e9_0_5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Next is the literature review, ShardMemo: Masked Mixture-of-Experts Routing for Sharded Agentic LLM Memory</a:t>
            </a:r>
            <a:endParaRPr/>
          </a:p>
          <a:p>
            <a:pPr indent="0" lvl="0" marL="0" rtl="0" algn="l">
              <a:spcBef>
                <a:spcPts val="0"/>
              </a:spcBef>
              <a:spcAft>
                <a:spcPts val="0"/>
              </a:spcAft>
              <a:buNone/>
            </a:pPr>
            <a:r>
              <a:t/>
            </a:r>
            <a:endParaRPr/>
          </a:p>
        </p:txBody>
      </p:sp>
      <p:sp>
        <p:nvSpPr>
          <p:cNvPr id="687" name="Google Shape;687;g3bebc3ce2e9_0_5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88" name="Google Shape;688;g3bebc3ce2e9_0_5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958b3a9d51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core problem this paper addresses is the 'Memory Wall' for long-horizon agents. As an agent operates over time, its memory grows. Traditional central indexes cause massive latency spikes and lock up the system. Sharding the memory solves the storage issue, but it breaks the retrieval process because the agent doesn't know which shard to look in.</a:t>
            </a:r>
            <a:endParaRPr/>
          </a:p>
          <a:p>
            <a:pPr indent="0" lvl="0" marL="0" rtl="0" algn="l">
              <a:spcBef>
                <a:spcPts val="0"/>
              </a:spcBef>
              <a:spcAft>
                <a:spcPts val="0"/>
              </a:spcAft>
              <a:buNone/>
            </a:pPr>
            <a:r>
              <a:t/>
            </a:r>
            <a:endParaRPr/>
          </a:p>
        </p:txBody>
      </p:sp>
      <p:sp>
        <p:nvSpPr>
          <p:cNvPr id="698" name="Google Shape;698;g3958b3a9d51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958b3a9d51_0_1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t>ShardMemo solves this by introducing a 3-Tier Architecture:</a:t>
            </a:r>
            <a:endParaRPr sz="1100"/>
          </a:p>
          <a:p>
            <a:pPr indent="-298450" lvl="0" marL="457200" rtl="0" algn="l">
              <a:lnSpc>
                <a:spcPct val="115000"/>
              </a:lnSpc>
              <a:spcBef>
                <a:spcPts val="1200"/>
              </a:spcBef>
              <a:spcAft>
                <a:spcPts val="0"/>
              </a:spcAft>
              <a:buClr>
                <a:schemeClr val="dk1"/>
              </a:buClr>
              <a:buSzPts val="1100"/>
              <a:buChar char="●"/>
            </a:pPr>
            <a:r>
              <a:rPr b="1" lang="en-US" sz="1100"/>
              <a:t>Tier A</a:t>
            </a:r>
            <a:r>
              <a:rPr lang="en-US" sz="1100"/>
              <a:t> is working memory—fast, short-term context kept in RAM.</a:t>
            </a:r>
            <a:endParaRPr sz="1100"/>
          </a:p>
          <a:p>
            <a:pPr indent="-298450" lvl="0" marL="457200" rtl="0" algn="l">
              <a:lnSpc>
                <a:spcPct val="115000"/>
              </a:lnSpc>
              <a:spcBef>
                <a:spcPts val="0"/>
              </a:spcBef>
              <a:spcAft>
                <a:spcPts val="0"/>
              </a:spcAft>
              <a:buClr>
                <a:schemeClr val="dk1"/>
              </a:buClr>
              <a:buSzPts val="1100"/>
              <a:buChar char="●"/>
            </a:pPr>
            <a:r>
              <a:rPr b="1" lang="en-US" sz="1100"/>
              <a:t>Tier B</a:t>
            </a:r>
            <a:r>
              <a:rPr lang="en-US" sz="1100"/>
              <a:t> is Evidence memory, which holds sharded logs.</a:t>
            </a:r>
            <a:endParaRPr sz="1100"/>
          </a:p>
          <a:p>
            <a:pPr indent="-298450" lvl="0" marL="457200" rtl="0" algn="l">
              <a:lnSpc>
                <a:spcPct val="115000"/>
              </a:lnSpc>
              <a:spcBef>
                <a:spcPts val="0"/>
              </a:spcBef>
              <a:spcAft>
                <a:spcPts val="0"/>
              </a:spcAft>
              <a:buClr>
                <a:schemeClr val="dk1"/>
              </a:buClr>
              <a:buSzPts val="1100"/>
              <a:buChar char="●"/>
            </a:pPr>
            <a:r>
              <a:rPr b="1" lang="en-US" sz="1100"/>
              <a:t>Tier C</a:t>
            </a:r>
            <a:r>
              <a:rPr lang="en-US" sz="1100"/>
              <a:t> is the Skills memory, which acts as a versioned tool library.</a:t>
            </a:r>
            <a:endParaRPr sz="1100"/>
          </a:p>
          <a:p>
            <a:pPr indent="0" lvl="0" marL="0" rtl="0" algn="l">
              <a:spcBef>
                <a:spcPts val="1200"/>
              </a:spcBef>
              <a:spcAft>
                <a:spcPts val="0"/>
              </a:spcAft>
              <a:buNone/>
            </a:pPr>
            <a:r>
              <a:t/>
            </a:r>
            <a:endParaRPr sz="1100"/>
          </a:p>
        </p:txBody>
      </p:sp>
      <p:sp>
        <p:nvSpPr>
          <p:cNvPr id="712" name="Google Shape;712;g3958b3a9d51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958b3a9d51_0_1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To optimize Tier B, they use a few clever mechanisms. First is 'Scope Before-Routing', which strictly filters out data the user doesn't have permission to see </a:t>
            </a:r>
            <a:r>
              <a:rPr i="1" lang="en-US" sz="1100"/>
              <a:t>before</a:t>
            </a:r>
            <a:r>
              <a:rPr lang="en-US" sz="1100"/>
              <a:t> searching. Next is 'Cost-Aware Gating'—the router prioritizes cheaper, smaller shards like user profiles before it spends compute searching expensive episodic logs. Finally, they use supervised router training to make the model highly accurate at selecting the right shard</a:t>
            </a:r>
            <a:endParaRPr/>
          </a:p>
          <a:p>
            <a:pPr indent="0" lvl="0" marL="0" rtl="0" algn="l">
              <a:spcBef>
                <a:spcPts val="0"/>
              </a:spcBef>
              <a:spcAft>
                <a:spcPts val="0"/>
              </a:spcAft>
              <a:buNone/>
            </a:pPr>
            <a:r>
              <a:t/>
            </a:r>
            <a:endParaRPr sz="1100"/>
          </a:p>
        </p:txBody>
      </p:sp>
      <p:sp>
        <p:nvSpPr>
          <p:cNvPr id="726" name="Google Shape;726;g3958b3a9d51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958b3a9d51_0_1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results of this architecture are On the LoCoMo benchmark, ShardMemo achieved a 6.82 point increase in F1 score. It also reduced the total retrieval workload by 20.5%, bringing latency down from 95 milliseconds to 76 milliseconds. It proves that a budgeted, tiered memory approach is highly effective for scaling these agents.</a:t>
            </a:r>
            <a:endParaRPr/>
          </a:p>
          <a:p>
            <a:pPr indent="0" lvl="0" marL="0" rtl="0" algn="l">
              <a:spcBef>
                <a:spcPts val="0"/>
              </a:spcBef>
              <a:spcAft>
                <a:spcPts val="0"/>
              </a:spcAft>
              <a:buNone/>
            </a:pPr>
            <a:r>
              <a:t/>
            </a:r>
            <a:endParaRPr/>
          </a:p>
        </p:txBody>
      </p:sp>
      <p:sp>
        <p:nvSpPr>
          <p:cNvPr id="739" name="Google Shape;739;g3958b3a9d51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958b3a9d51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958b3a9d51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Thats all for up my update. </a:t>
            </a:r>
            <a:endParaRPr/>
          </a:p>
        </p:txBody>
      </p:sp>
      <p:sp>
        <p:nvSpPr>
          <p:cNvPr id="754" name="Google Shape;754;g3958b3a9d51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958b3a9d51_0_1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g3958b3a9d51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958b3a9d51_0_2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g3958b3a9d51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958b3a9d51_0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g3958b3a9d51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c68a7f1252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g3c68a7f1252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958b3a9d51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g3958b3a9d51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c48a6a6cc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g3c48a6a6cc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bebc3ce2e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bebc3ce2e9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g3bebc3ce2e9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c68a7f1252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Good afternoon. Today I’ll be presenting the performance evaluation of the Qwen2.5-Omni multimodal model.</a:t>
            </a:r>
            <a:endParaRPr sz="1100"/>
          </a:p>
          <a:p>
            <a:pPr indent="0" lvl="0" marL="0" rtl="0" algn="l">
              <a:spcBef>
                <a:spcPts val="0"/>
              </a:spcBef>
              <a:spcAft>
                <a:spcPts val="0"/>
              </a:spcAft>
              <a:buNone/>
            </a:pPr>
            <a:r>
              <a:rPr lang="en-US" sz="1100"/>
              <a:t>The objective of this experiment was to evaluate throughput efficiency under high-concurrency conditions. I did this by processing 100 audio inputs concurrently.</a:t>
            </a:r>
            <a:endParaRPr sz="1100"/>
          </a:p>
          <a:p>
            <a:pPr indent="0" lvl="0" marL="0" rtl="0" algn="l">
              <a:spcBef>
                <a:spcPts val="0"/>
              </a:spcBef>
              <a:spcAft>
                <a:spcPts val="0"/>
              </a:spcAft>
              <a:buNone/>
            </a:pPr>
            <a:r>
              <a:rPr lang="en-US" sz="1100"/>
              <a:t>I selected N = 100 because this scale is sufficient to expose GPU memory fragmentation issues. In conventional systems, large batches with variable-length inputs often fail due to fragmented memory, even when total free VRAM is available.</a:t>
            </a:r>
            <a:endParaRPr sz="1100"/>
          </a:p>
          <a:p>
            <a:pPr indent="0" lvl="0" marL="0" rtl="0" algn="l">
              <a:spcBef>
                <a:spcPts val="0"/>
              </a:spcBef>
              <a:spcAft>
                <a:spcPts val="0"/>
              </a:spcAft>
              <a:buNone/>
            </a:pPr>
            <a:r>
              <a:rPr lang="en-US" sz="1100"/>
              <a:t>The model used was Qwen2.5-Omni-7B, deployed with the vLLM-Omni backend. vLLM-Omni uses PagedAttention, which allocates KV-cache memory in pages rather than contiguous blocks, enabling stable execution of large, heterogeneous batches.</a:t>
            </a:r>
            <a:endParaRPr sz="1100"/>
          </a:p>
          <a:p>
            <a:pPr indent="0" lvl="0" marL="0" rtl="0" algn="l">
              <a:spcBef>
                <a:spcPts val="0"/>
              </a:spcBef>
              <a:spcAft>
                <a:spcPts val="0"/>
              </a:spcAft>
              <a:buNone/>
            </a:pPr>
            <a:r>
              <a:t/>
            </a:r>
            <a:endParaRPr sz="1100"/>
          </a:p>
        </p:txBody>
      </p:sp>
      <p:sp>
        <p:nvSpPr>
          <p:cNvPr id="828" name="Google Shape;828;g3c68a7f1252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c68a7f1252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make this work, I connected three distinct parts running on the GPU. First, I use Whisper on Port 8000 to convert audio into text. Second, I use GPT-OSS on Port 8001 to handle the logic and decide if a tool is needed. Finally, I use Google TTS to convert the text response back into audio so the system can speak. The reason I built it this way is that GPT-OSS is a text-only model, so it cannot natively "hear" audio like the new Llama-Omni models. By wrapping it in this pipeline, I effectively gave GPT-OSS hearing and speaking capabilities</a:t>
            </a:r>
            <a:endParaRPr sz="1100"/>
          </a:p>
          <a:p>
            <a:pPr indent="0" lvl="0" marL="0" rtl="0" algn="l">
              <a:spcBef>
                <a:spcPts val="0"/>
              </a:spcBef>
              <a:spcAft>
                <a:spcPts val="0"/>
              </a:spcAft>
              <a:buNone/>
            </a:pPr>
            <a:r>
              <a:t/>
            </a:r>
            <a:endParaRPr sz="1100"/>
          </a:p>
        </p:txBody>
      </p:sp>
      <p:sp>
        <p:nvSpPr>
          <p:cNvPr id="842" name="Google Shape;842;g3c68a7f1252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c68a7f1252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make this work, I connected three distinct parts running on the GPU. First, I use Whisper on Port 8000 to convert audio into text. Second, I use GPT-OSS on Port 8001 to handle the logic and decide if a tool is needed. Finally, I use Google TTS to convert the text response back into audio so the system can speak. The reason I built it this way is that GPT-OSS is a text-only model, so it cannot natively "hear" audio like the new Llama-Omni models. By wrapping it in this pipeline, I effectively gave GPT-OSS hearing and speaking capabilities</a:t>
            </a:r>
            <a:endParaRPr sz="1100"/>
          </a:p>
          <a:p>
            <a:pPr indent="0" lvl="0" marL="0" rtl="0" algn="l">
              <a:spcBef>
                <a:spcPts val="0"/>
              </a:spcBef>
              <a:spcAft>
                <a:spcPts val="0"/>
              </a:spcAft>
              <a:buNone/>
            </a:pPr>
            <a:r>
              <a:t/>
            </a:r>
            <a:endParaRPr sz="1100"/>
          </a:p>
        </p:txBody>
      </p:sp>
      <p:sp>
        <p:nvSpPr>
          <p:cNvPr id="857" name="Google Shape;857;g3c68a7f1252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c68a7f1252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conclude the first workstream: unlike text and vision workloads, no public production-scale audio inference trace dataset is currently available. Existing resources either capture input data without system behavior details, or system behavior without the necessary modality-specific details.</a:t>
            </a:r>
            <a:endParaRPr sz="1100"/>
          </a:p>
        </p:txBody>
      </p:sp>
      <p:sp>
        <p:nvSpPr>
          <p:cNvPr id="872" name="Google Shape;872;g3c68a7f1252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bd8de7fc0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g3bd8de7fc0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c68a7f1252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c68a7f1252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g3c68a7f1252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b8af7cb24a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g3b8af7cb24a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c68a7f125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g3c68a7f125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8af7cb24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b8af7cb24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g3b8af7cb24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b8d40042a9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make this work, I connected three distinct parts running on the GPU. First, I use Whisper on Port 8000 to convert audio into text. Second, I use GPT-OSS on Port 8001 to handle the logic and decide if a tool is needed. Finally, I use Google TTS to convert the text response back into audio so the system can speak. The reason I built it this way is that GPT-OSS is a text-only model, so it cannot natively "hear" audio like the new Llama-Omni models. By wrapping it in this pipeline, I effectively gave GPT-OSS hearing and speaking capabilities</a:t>
            </a:r>
            <a:endParaRPr sz="1100"/>
          </a:p>
          <a:p>
            <a:pPr indent="0" lvl="0" marL="0" rtl="0" algn="l">
              <a:spcBef>
                <a:spcPts val="0"/>
              </a:spcBef>
              <a:spcAft>
                <a:spcPts val="0"/>
              </a:spcAft>
              <a:buNone/>
            </a:pPr>
            <a:r>
              <a:t/>
            </a:r>
            <a:endParaRPr sz="1100"/>
          </a:p>
        </p:txBody>
      </p:sp>
      <p:sp>
        <p:nvSpPr>
          <p:cNvPr id="925" name="Google Shape;925;g3b8d40042a9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b8d40042a9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test this, I created a dataset of 100 audio files. I made 20% of them "Phone Number Lookups," which force the AI to use a tool, and 80% of them "General Chat," like telling jokes.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939" name="Google Shape;939;g3b8d40042a9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b8d40042a9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If you look at the graphs on the left, notice the empty space in the middle. This 'gap' tells us the model doesn't just get gradually slower as tasks get harder. Instead, it snaps into a completely different mode.</a:t>
            </a:r>
            <a:endParaRPr sz="1100"/>
          </a:p>
          <a:p>
            <a:pPr indent="-298450" lvl="0" marL="457200" rtl="0" algn="l">
              <a:lnSpc>
                <a:spcPct val="115000"/>
              </a:lnSpc>
              <a:spcBef>
                <a:spcPts val="1200"/>
              </a:spcBef>
              <a:spcAft>
                <a:spcPts val="0"/>
              </a:spcAft>
              <a:buClr>
                <a:schemeClr val="dk1"/>
              </a:buClr>
              <a:buSzPts val="1100"/>
              <a:buChar char="●"/>
            </a:pPr>
            <a:r>
              <a:rPr b="1" lang="en-US" sz="1100"/>
              <a:t>Mode A</a:t>
            </a:r>
            <a:r>
              <a:rPr lang="en-US" sz="1100"/>
              <a:t> is what I call the </a:t>
            </a:r>
            <a:r>
              <a:rPr b="1" lang="en-US" sz="1100"/>
              <a:t>'Instinctive'</a:t>
            </a:r>
            <a:r>
              <a:rPr lang="en-US" sz="1100"/>
              <a:t> mode. This covers about 76% of our traffic—things like looking up exchange rates. The model answers instantly, in under 5 seconds, with effectively zero internal reasoning.</a:t>
            </a:r>
            <a:endParaRPr sz="1100"/>
          </a:p>
          <a:p>
            <a:pPr indent="-298450" lvl="0" marL="457200" rtl="0" algn="l">
              <a:lnSpc>
                <a:spcPct val="115000"/>
              </a:lnSpc>
              <a:spcBef>
                <a:spcPts val="0"/>
              </a:spcBef>
              <a:spcAft>
                <a:spcPts val="0"/>
              </a:spcAft>
              <a:buClr>
                <a:schemeClr val="dk1"/>
              </a:buClr>
              <a:buSzPts val="1100"/>
              <a:buChar char="●"/>
            </a:pPr>
            <a:r>
              <a:rPr b="1" lang="en-US" sz="1100"/>
              <a:t>Mode B</a:t>
            </a:r>
            <a:r>
              <a:rPr lang="en-US" sz="1100"/>
              <a:t> is the </a:t>
            </a:r>
            <a:r>
              <a:rPr b="1" lang="en-US" sz="1100"/>
              <a:t>'Deliberate'</a:t>
            </a:r>
            <a:r>
              <a:rPr lang="en-US" sz="1100"/>
              <a:t> mode. For that top 24% of complex queries, the model 'switches gears.' It generates nearly 400 internal thought tokens before it writes a single word of the answer.</a:t>
            </a:r>
            <a:endParaRPr sz="1100"/>
          </a:p>
          <a:p>
            <a:pPr indent="0" lvl="0" marL="0" rtl="0" algn="l">
              <a:lnSpc>
                <a:spcPct val="115000"/>
              </a:lnSpc>
              <a:spcBef>
                <a:spcPts val="1200"/>
              </a:spcBef>
              <a:spcAft>
                <a:spcPts val="0"/>
              </a:spcAft>
              <a:buClr>
                <a:schemeClr val="dk1"/>
              </a:buClr>
              <a:buSzPts val="1100"/>
              <a:buFont typeface="Arial"/>
              <a:buNone/>
            </a:pPr>
            <a:r>
              <a:rPr b="1" lang="en-US" sz="1100"/>
              <a:t>The takeaway?</a:t>
            </a:r>
            <a:r>
              <a:rPr lang="en-US" sz="1100"/>
              <a:t> That 'thinking time' is expensive. Entering Mode B automatically triples our user wait time from 5 seconds to 18 seconds.</a:t>
            </a:r>
            <a:endParaRPr sz="1100"/>
          </a:p>
          <a:p>
            <a:pPr indent="0" lvl="0" marL="0" rtl="0" algn="l">
              <a:spcBef>
                <a:spcPts val="1200"/>
              </a:spcBef>
              <a:spcAft>
                <a:spcPts val="0"/>
              </a:spcAft>
              <a:buNone/>
            </a:pPr>
            <a:r>
              <a:t/>
            </a:r>
            <a:endParaRPr sz="1100"/>
          </a:p>
        </p:txBody>
      </p:sp>
      <p:sp>
        <p:nvSpPr>
          <p:cNvPr id="953" name="Google Shape;953;g3b8d40042a9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bb7d475605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"When the model enters 'Deliberate Mode,' it isn't just stalling; it is </a:t>
            </a:r>
            <a:r>
              <a:rPr b="1" lang="en-US" sz="1100"/>
              <a:t>branching</a:t>
            </a:r>
            <a:r>
              <a:rPr lang="en-US" sz="1100"/>
              <a:t>."</a:t>
            </a:r>
            <a:endParaRPr sz="1100"/>
          </a:p>
          <a:p>
            <a:pPr indent="0" lvl="0" marL="0" rtl="0" algn="l">
              <a:spcBef>
                <a:spcPts val="0"/>
              </a:spcBef>
              <a:spcAft>
                <a:spcPts val="0"/>
              </a:spcAft>
              <a:buClr>
                <a:schemeClr val="dk1"/>
              </a:buClr>
              <a:buSzPts val="1100"/>
              <a:buFont typeface="Arial"/>
              <a:buNone/>
            </a:pPr>
            <a:r>
              <a:rPr lang="en-US" sz="1100"/>
              <a:t>"Our data proves a direct linear relationship: every additional logical branch adds roughly 2-3 seconds to the user wait time."</a:t>
            </a:r>
            <a:endParaRPr sz="1100"/>
          </a:p>
          <a:p>
            <a:pPr indent="0" lvl="0" marL="0" rtl="0" algn="l">
              <a:spcBef>
                <a:spcPts val="0"/>
              </a:spcBef>
              <a:spcAft>
                <a:spcPts val="0"/>
              </a:spcAft>
              <a:buClr>
                <a:schemeClr val="dk1"/>
              </a:buClr>
              <a:buSzPts val="1100"/>
              <a:buFont typeface="Arial"/>
              <a:buNone/>
            </a:pPr>
            <a:r>
              <a:rPr lang="en-US" sz="1100"/>
              <a:t>"The 'Tokens vs. Time' chart confirms we are </a:t>
            </a:r>
            <a:r>
              <a:rPr b="1" lang="en-US" sz="1100"/>
              <a:t>compute-bound</a:t>
            </a:r>
            <a:r>
              <a:rPr lang="en-US" sz="1100"/>
              <a:t>. The delay is purely due to the volume of thought generation, not system overhead."</a:t>
            </a:r>
            <a:endParaRPr sz="1100"/>
          </a:p>
          <a:p>
            <a:pPr indent="0" lvl="0" marL="0" rtl="0" algn="l">
              <a:spcBef>
                <a:spcPts val="0"/>
              </a:spcBef>
              <a:spcAft>
                <a:spcPts val="0"/>
              </a:spcAft>
              <a:buClr>
                <a:schemeClr val="dk1"/>
              </a:buClr>
              <a:buSzPts val="1100"/>
              <a:buFont typeface="Arial"/>
              <a:buNone/>
            </a:pPr>
            <a:r>
              <a:rPr i="1" lang="en-US" sz="1100"/>
              <a:t>Insight:</a:t>
            </a:r>
            <a:r>
              <a:rPr lang="en-US" sz="1100"/>
              <a:t> "The model doesn't just guess on complex tasks; it constructs a 6-step reasoning tree before answering. This latency is the 'price' of accuracy."</a:t>
            </a:r>
            <a:endParaRPr sz="1100"/>
          </a:p>
          <a:p>
            <a:pPr indent="0" lvl="0" marL="0" rtl="0" algn="l">
              <a:spcBef>
                <a:spcPts val="0"/>
              </a:spcBef>
              <a:spcAft>
                <a:spcPts val="0"/>
              </a:spcAft>
              <a:buNone/>
            </a:pPr>
            <a:r>
              <a:t/>
            </a:r>
            <a:endParaRPr sz="1100"/>
          </a:p>
        </p:txBody>
      </p:sp>
      <p:sp>
        <p:nvSpPr>
          <p:cNvPr id="970" name="Google Shape;970;g3bb7d475605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bb7d475605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"This 'thinking' capability comes with a </a:t>
            </a:r>
            <a:r>
              <a:rPr b="1" lang="en-US" sz="1100"/>
              <a:t>50% throughput penalty</a:t>
            </a:r>
            <a:r>
              <a:rPr lang="en-US" sz="1100"/>
              <a:t>. While we get 120 tokens/sec on simple tasks, complex reasoning drops us to 60 tokens/sec."</a:t>
            </a:r>
            <a:endParaRPr sz="1100"/>
          </a:p>
          <a:p>
            <a:pPr indent="0" lvl="0" marL="0" rtl="0" algn="l">
              <a:spcBef>
                <a:spcPts val="0"/>
              </a:spcBef>
              <a:spcAft>
                <a:spcPts val="0"/>
              </a:spcAft>
              <a:buNone/>
            </a:pPr>
            <a:r>
              <a:rPr lang="en-US" sz="1100"/>
              <a:t>"Memory usage is </a:t>
            </a:r>
            <a:r>
              <a:rPr b="1" lang="en-US" sz="1100"/>
              <a:t>static</a:t>
            </a:r>
            <a:r>
              <a:rPr lang="en-US" sz="1100"/>
              <a:t>—the model reserves ~38GB regardless of the task—but our </a:t>
            </a:r>
            <a:r>
              <a:rPr i="1" lang="en-US" sz="1100"/>
              <a:t>time</a:t>
            </a:r>
            <a:r>
              <a:rPr lang="en-US" sz="1100"/>
              <a:t> resources are heavily skewed by just two query types: 'Payment' and 'Card Issues'."</a:t>
            </a:r>
            <a:endParaRPr sz="1100"/>
          </a:p>
        </p:txBody>
      </p:sp>
      <p:sp>
        <p:nvSpPr>
          <p:cNvPr id="986" name="Google Shape;986;g3bb7d475605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bb7d475605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conclude the first workstream: unlike text and vision workloads, no public production-scale audio inference trace dataset is currently available. Existing resources either capture input data without system behavior details, or system behavior without the necessary modality-specific details.</a:t>
            </a:r>
            <a:endParaRPr sz="1100"/>
          </a:p>
        </p:txBody>
      </p:sp>
      <p:sp>
        <p:nvSpPr>
          <p:cNvPr id="1002" name="Google Shape;1002;g3bb7d475605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bfbc9654a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bfbc9654a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g3bfbc9654a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bb7d47560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g3bb7d4756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aaef876a3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g3aaef876a3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2749457d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b2749457dd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g3b2749457dd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b71ecd82ea_0_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41" name="Google Shape;1041;g3b71ecd82ea_0_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42" name="Google Shape;1042;g3b71ecd82ea_0_54: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g3b71ecd82ea_0_5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 name="Google Shape;1044;g3b71ecd82ea_0_5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45" name="Google Shape;1045;g3b71ecd82ea_0_5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b71ecd82ea_0_7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56" name="Google Shape;1056;g3b71ecd82ea_0_7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57" name="Google Shape;1057;g3b71ecd82ea_0_7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8" name="Google Shape;1058;g3b71ecd82ea_0_7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g3b71ecd82ea_0_7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60" name="Google Shape;1060;g3b71ecd82ea_0_7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b6ccba0dd5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070" name="Google Shape;1070;g3b6ccba0dd5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6ccba0dd5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084" name="Google Shape;1084;g3b6ccba0dd5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b71ecd82ea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098" name="Google Shape;1098;g3b71ecd82ea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b6ccba0dd5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112" name="Google Shape;1112;g3b6ccba0dd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b6ccba0dd5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126" name="Google Shape;1126;g3b6ccba0dd5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b71ecd82ea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140" name="Google Shape;1140;g3b71ecd82ea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71ecd82ea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154" name="Google Shape;1154;g3b71ecd82ea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b71ecd82e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b71ecd82ea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g3b71ecd82ea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b6ccba0dd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g3b6ccba0dd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b6ccba0dd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3b6ccba0dd5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everyone. Today, I’ll be walking you through my weekly progress report.Today, I will present the performance analysis of the modular speech-to-speech pipeline. My core task was to engineer a modular pipeline that chains Whisper (for perception) and GPT-OSS (for reasoning). This architecture simulates an Omni-modal assistant, allowing us to specifically benchmark the latency trade-offs between general chat and tool-use capabilities.</a:t>
            </a:r>
            <a:endParaRPr/>
          </a:p>
        </p:txBody>
      </p:sp>
      <p:sp>
        <p:nvSpPr>
          <p:cNvPr id="1182" name="Google Shape;1182;g3b6ccba0dd5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b2749457dd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make this work, I connected three distinct parts running on the GPU. First, I use Whisper on Port 8000 to convert audio into text. Second, I use GPT-OSS on Port 8001 to handle the logic and decide if a tool is needed. Finally, I use Google TTS to convert the text response back into audio so the system can speak. The reason I built it this way is that GPT-OSS is a text-only model, so it cannot natively "hear" audio like the new Llama-Omni models. By wrapping it in this pipeline, I effectively gave GPT-OSS hearing and speaking capabilities</a:t>
            </a:r>
            <a:endParaRPr sz="1100"/>
          </a:p>
          <a:p>
            <a:pPr indent="0" lvl="0" marL="0" rtl="0" algn="l">
              <a:spcBef>
                <a:spcPts val="0"/>
              </a:spcBef>
              <a:spcAft>
                <a:spcPts val="0"/>
              </a:spcAft>
              <a:buNone/>
            </a:pPr>
            <a:r>
              <a:t/>
            </a:r>
            <a:endParaRPr sz="1100"/>
          </a:p>
        </p:txBody>
      </p:sp>
      <p:sp>
        <p:nvSpPr>
          <p:cNvPr id="1188" name="Google Shape;1188;g3b2749457dd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b2749457dd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test this, I created a dataset of 100 audio files. I made 20% of them "Phone Number Lookups," which force the AI to use a tool, and 80% of them "General Chat," like telling jokes.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1202" name="Google Shape;1202;g3b2749457dd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b2749457dd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Moving to the results, this chart breaks down the time spent on each request. You can see a massive blue spike at Trace 2, which represents the initial model initialization cost or "Cold Start." However, once the system is warm (Traces 3-20), the yellow bars dominate. This is the GPT Planning (Reasoning) phase, consuming 40-55% of the total time. The clear implication is that the bottleneck for chat requests is the LLM's token generation speed, not the audio transcription.</a:t>
            </a:r>
            <a:endParaRPr sz="1100"/>
          </a:p>
          <a:p>
            <a:pPr indent="0" lvl="0" marL="0" rtl="0" algn="l">
              <a:spcBef>
                <a:spcPts val="0"/>
              </a:spcBef>
              <a:spcAft>
                <a:spcPts val="0"/>
              </a:spcAft>
              <a:buNone/>
            </a:pPr>
            <a:r>
              <a:t/>
            </a:r>
            <a:endParaRPr sz="1100"/>
          </a:p>
        </p:txBody>
      </p:sp>
      <p:sp>
        <p:nvSpPr>
          <p:cNvPr id="1216" name="Google Shape;1216;g3b2749457d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b2749457dd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Comments:</a:t>
            </a:r>
            <a:endParaRPr sz="1100"/>
          </a:p>
          <a:p>
            <a:pPr indent="0" lvl="0" marL="0" rtl="0" algn="l">
              <a:spcBef>
                <a:spcPts val="0"/>
              </a:spcBef>
              <a:spcAft>
                <a:spcPts val="0"/>
              </a:spcAft>
              <a:buNone/>
            </a:pPr>
            <a:r>
              <a:rPr lang="en-US" sz="1100"/>
              <a:t>Use mean , median, etc</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This scatter plot reveals exactly why chat is slower. The big blue outlier represents a "Direct Chat" request where the model generated over 700 tokens—likely telling a long joke—confirming that Output Generation is the primary driver of latency. In contrast, "Tool Use" requests (in orange) are clustered at the bottom; even though they have high input prompts due to JSON definitions, their output is very concise. The takeaway is that processing complex instructions is cheap, but generating long, creative text is expensive.</a:t>
            </a:r>
            <a:endParaRPr sz="1100"/>
          </a:p>
          <a:p>
            <a:pPr indent="0" lvl="0" marL="0" rtl="0" algn="l">
              <a:spcBef>
                <a:spcPts val="0"/>
              </a:spcBef>
              <a:spcAft>
                <a:spcPts val="0"/>
              </a:spcAft>
              <a:buNone/>
            </a:pPr>
            <a:r>
              <a:t/>
            </a:r>
            <a:endParaRPr sz="1100"/>
          </a:p>
        </p:txBody>
      </p:sp>
      <p:sp>
        <p:nvSpPr>
          <p:cNvPr id="1231" name="Google Shape;1231;g3b2749457dd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b2749457dd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verify this, we measured the raw generation speed. Both "Direct Chat" and "Tool Use" generate tokens at a very similar rate of roughly 22 to 26 milliseconds per token. This proves the model doesn't "struggle" with tool use complexity. The high latency in chat is driven purely by volume—generating more tokens—not by slower processing.</a:t>
            </a:r>
            <a:endParaRPr sz="1100"/>
          </a:p>
          <a:p>
            <a:pPr indent="0" lvl="0" marL="0" rtl="0" algn="l">
              <a:spcBef>
                <a:spcPts val="0"/>
              </a:spcBef>
              <a:spcAft>
                <a:spcPts val="0"/>
              </a:spcAft>
              <a:buNone/>
            </a:pPr>
            <a:r>
              <a:t/>
            </a:r>
            <a:endParaRPr sz="1100"/>
          </a:p>
        </p:txBody>
      </p:sp>
      <p:sp>
        <p:nvSpPr>
          <p:cNvPr id="1246" name="Google Shape;1246;g3b2749457dd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b2749457dd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In summary, after the initial cold start, overall latency is mainly driven by the GPT reasoning step. Audio transcription and tool execution are fast and negligible. Therefore, improving LLM reasoning performance—or controlling response length—will have the biggest impact on reducing end-to-end latency. Thank you</a:t>
            </a:r>
            <a:endParaRPr sz="1100"/>
          </a:p>
          <a:p>
            <a:pPr indent="0" lvl="0" marL="0" rtl="0" algn="l">
              <a:spcBef>
                <a:spcPts val="0"/>
              </a:spcBef>
              <a:spcAft>
                <a:spcPts val="0"/>
              </a:spcAft>
              <a:buNone/>
            </a:pPr>
            <a:r>
              <a:t/>
            </a:r>
            <a:endParaRPr sz="1100"/>
          </a:p>
        </p:txBody>
      </p:sp>
      <p:sp>
        <p:nvSpPr>
          <p:cNvPr id="1261" name="Google Shape;1261;g3b2749457dd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b2749457dd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b2749457dd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5" name="Google Shape;1275;g3b2749457dd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b2749457d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g3b2749457d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3a726d1271e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3a726d1271e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everyone. Today, I’ll be walking you through my weekly progress report. My primary focus this week was split into two key areas: First, investigating the availability of voice traces, similar to the LMM image traces recently released by Azure. And second, looking into GPT-OSS and diagnosing the function call failures that Voiso employees have been reporting.</a:t>
            </a:r>
            <a:endParaRPr/>
          </a:p>
        </p:txBody>
      </p:sp>
      <p:sp>
        <p:nvSpPr>
          <p:cNvPr id="1288" name="Google Shape;1288;g3a726d1271e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b300e88e69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94" name="Google Shape;1294;g3b300e88e69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95" name="Google Shape;1295;g3b300e88e69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g3b300e88e69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g3b300e88e69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98" name="Google Shape;1298;g3b300e88e69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a726d1271e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My investigation started with the 'ModServe' research findings. The dataset is derived from their work, and Section 3.2 of the paper states that the analyzed workload captures both text-only and image-text data. Crucially, the dataset on GitHub has no audio- specific fields, such as Input Tokens, Output Tokens, or Image Count. The conclusion here is clear: despite the broader Large Multimodal Model capabilities, the current open-source trace does not include audio inputs or duration data</a:t>
            </a:r>
            <a:endParaRPr sz="1100"/>
          </a:p>
        </p:txBody>
      </p:sp>
      <p:sp>
        <p:nvSpPr>
          <p:cNvPr id="1308" name="Google Shape;1308;g3a726d1271e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a726d1271e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Because public production-scale audio inference traces are so scarce, prior work typically evaluates ASR serving using controlled or synthetic workloads. For example, the GPU-Accelerated Viterbi Exact Lattice Decoder evaluates batched online ASR streams on GPUs, focusing on throughput and context switching. Another example is LiteASR from EMNLP 2025, which discusses multi-user data-center ASR serving and shows that batching helps decoders more than encoders, which limits latency gains.</a:t>
            </a:r>
            <a:endParaRPr sz="1100"/>
          </a:p>
        </p:txBody>
      </p:sp>
      <p:sp>
        <p:nvSpPr>
          <p:cNvPr id="1323" name="Google Shape;1323;g3a726d1271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a726d1271e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 conclude the first workstream: unlike text and vision workloads, no public production-scale audio inference trace dataset is currently available. Existing resources either capture input data without system behavior details, or system behavior without the necessary modality-specific details.</a:t>
            </a:r>
            <a:endParaRPr sz="1100"/>
          </a:p>
        </p:txBody>
      </p:sp>
      <p:sp>
        <p:nvSpPr>
          <p:cNvPr id="1337" name="Google Shape;1337;g3a726d1271e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b300e88e69_0_9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50" name="Google Shape;1350;g3b300e88e69_0_9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51" name="Google Shape;1351;g3b300e88e69_0_94: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3b300e88e69_0_9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transition to the second investigation: diagnosing the GPT-OSS function call failures reported by Voiso employees.</a:t>
            </a:r>
            <a:endParaRPr/>
          </a:p>
        </p:txBody>
      </p:sp>
      <p:sp>
        <p:nvSpPr>
          <p:cNvPr id="1353" name="Google Shape;1353;g3b300e88e69_0_9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54" name="Google Shape;1354;g3b300e88e69_0_9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86752bb68f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First, a quick look at the model itself, GPT-OSS-20B. It uses a sparse Mixture-of-Experts, or MoE, architecture, with 21 billion total parameters, but only 3.6 billion are active per token during inference. It uses MXFP4 Quantization for MoE weights, which allows it to run on consumer-grade hardware with just 16GB of VRAM while maintaining high performance. Finally, it’s released with open weights under the Apache 2.0 license and is optimized for agentic workflows.</a:t>
            </a:r>
            <a:endParaRPr sz="1100"/>
          </a:p>
        </p:txBody>
      </p:sp>
      <p:sp>
        <p:nvSpPr>
          <p:cNvPr id="1364" name="Google Shape;1364;g386752bb68f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86752bb68f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 key features of GPT-OSS-20B for reasoning are its Configurable Reasoning Effort and Transparent Chain-of-Thought. The model trades off latency for controllable and inspectable reasoning. You can adjust the reasoning depth from Low to High via system prompts to balance speed and analysis depth. Furthermore, it exposes its complete 'Full Chain-of-Thought,' which is critical for debugging complex agentic failures, allowing us to see why a tool was called.</a:t>
            </a:r>
            <a:endParaRPr sz="1100"/>
          </a:p>
        </p:txBody>
      </p:sp>
      <p:sp>
        <p:nvSpPr>
          <p:cNvPr id="1379" name="Google Shape;1379;g386752bb68f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86752bb68f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We can visualize the problem pipeline here. The prompt goes through the tokenizer, the vLLM runtime, and the model, and should ideally result in a tool call. Our diagnosis identified four core failure modes within this process.</a:t>
            </a:r>
            <a:endParaRPr sz="1100"/>
          </a:p>
        </p:txBody>
      </p:sp>
      <p:sp>
        <p:nvSpPr>
          <p:cNvPr id="1394" name="Google Shape;1394;g386752bb68f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3b300e88e69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 first major issue is a Harmony format mismatch. The model is strictly trained on OpenAI's proprietary 'Harmony' response format, which is not compatible with standard generic chat templates. The impact is that if Voiso employees send standard chat messages without wrapping tool calls in the specific structured tokens required by Harmony, the model will fail to produce a valid function call.</a:t>
            </a:r>
            <a:endParaRPr sz="1100"/>
          </a:p>
        </p:txBody>
      </p:sp>
      <p:sp>
        <p:nvSpPr>
          <p:cNvPr id="1422" name="Google Shape;1422;g3b300e88e69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86752bb68f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 second issue is a vLLM Version or build incompatibility. Standard vLLM builds do not support the MXFP4 quantization or the custom kernels that this model requires. If the standard vLLM package is used, it results in loading failures, garbage outputs, or the inability to recognize the model's specialized layers, which breaks the generation logic.</a:t>
            </a:r>
            <a:endParaRPr sz="1100"/>
          </a:p>
        </p:txBody>
      </p:sp>
      <p:sp>
        <p:nvSpPr>
          <p:cNvPr id="1451" name="Google Shape;1451;g386752bb68f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86752bb68f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 third potential problem is the vLLM endpoint. The recommended endpoint is /v1/chat/completions, which automatically injects the correct Harmony format for function calls. If the raw /v1/completions endpoint is used without manually constructing the complex Harmony prompt, the model receives malformed input. This failure to correctly format the prompt would prevent the model from generating a valid tool call</a:t>
            </a:r>
            <a:endParaRPr sz="1100"/>
          </a:p>
        </p:txBody>
      </p:sp>
      <p:sp>
        <p:nvSpPr>
          <p:cNvPr id="1480" name="Google Shape;1480;g386752bb68f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86752bb68f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Finally, the fourth issue is a backend or tokenization problem: the failure to trigger 'Stop' sequences. Function calling requires the engine to detect a special token, like 'tool start' or 'thought end,' to pause generation for client-side execution. A mismatched tokenizer configuration, often due to the wrong vLLM build or an invalid chat template, causes vLLM to fail to register these stop tokens. As a result, the model streams the tool call as plain text and continues generating, which breaks the parser.</a:t>
            </a:r>
            <a:endParaRPr sz="1100"/>
          </a:p>
        </p:txBody>
      </p:sp>
      <p:sp>
        <p:nvSpPr>
          <p:cNvPr id="1509" name="Google Shape;1509;g386752bb68f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86752bb68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386752bb68f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Looking ahead to next steps, I plan to: first, use a larger dataset and send requests at a high Query Per Second rate for 30 seconds to test the SM utilization, memory utilization, and memory usage during the process. And second, continue the research into reasoning models related to speech-to-speech, text-to-speech, and PDF-to-Podcast workflows.</a:t>
            </a:r>
            <a:endParaRPr/>
          </a:p>
        </p:txBody>
      </p:sp>
      <p:sp>
        <p:nvSpPr>
          <p:cNvPr id="1539" name="Google Shape;1539;g386752bb68f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a726d1271e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545" name="Google Shape;1545;g3a726d1271e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b1d973bca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559" name="Google Shape;1559;g3b1d973bca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g3b1d973bca4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572" name="Google Shape;1572;g3b1d973bca4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86752bb68f_0_1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585" name="Google Shape;1585;g386752bb68f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3b300e88e69_0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599" name="Google Shape;1599;g3b300e88e69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86752bb68f_0_1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1613" name="Google Shape;1613;g386752bb68f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a3f348a65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3a3f348a655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1" name="Google Shape;1631;g3a3f348a655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3a6104770f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Today, I’ll be presenting my finding on comparing </a:t>
            </a:r>
            <a:r>
              <a:rPr b="1" lang="en-US" sz="1100"/>
              <a:t>text translation</a:t>
            </a:r>
            <a:r>
              <a:rPr lang="en-US" sz="1100"/>
              <a:t> and </a:t>
            </a:r>
            <a:r>
              <a:rPr b="1" lang="en-US" sz="1100"/>
              <a:t>audio transcription</a:t>
            </a:r>
            <a:r>
              <a:rPr lang="en-US" sz="1100"/>
              <a:t> on a </a:t>
            </a:r>
            <a:r>
              <a:rPr b="1" lang="en-US" sz="1100"/>
              <a:t>single NVIDIA A100 GPU</a:t>
            </a:r>
            <a:r>
              <a:rPr lang="en-US" sz="1100"/>
              <a:t>. The models used are </a:t>
            </a:r>
            <a:r>
              <a:rPr b="1" lang="en-US" sz="1100"/>
              <a:t>Qwen2.5-7B for text translation</a:t>
            </a:r>
            <a:r>
              <a:rPr lang="en-US" sz="1100"/>
              <a:t> and </a:t>
            </a:r>
            <a:r>
              <a:rPr b="1" lang="en-US" sz="1100"/>
              <a:t>Qwen2-Audio-7B for speech transcription</a:t>
            </a:r>
            <a:r>
              <a:rPr lang="en-US"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The key goal of this experiment is to establish </a:t>
            </a:r>
            <a:r>
              <a:rPr b="1" lang="en-US" sz="1100"/>
              <a:t>clean, isolated performance baselines</a:t>
            </a:r>
            <a:r>
              <a:rPr lang="en-US" sz="1100"/>
              <a:t>. Before attempting any form of GPU multiplexing or concurrency</a:t>
            </a:r>
            <a:endParaRPr sz="1100"/>
          </a:p>
        </p:txBody>
      </p:sp>
      <p:sp>
        <p:nvSpPr>
          <p:cNvPr id="1637" name="Google Shape;1637;g3a6104770f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b0ee8e70b9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text translation performance. </a:t>
            </a:r>
            <a:r>
              <a:rPr lang="en-US" sz="1100"/>
              <a:t>Looking at the latency-over-sequence plot, what stands out immediately is how </a:t>
            </a:r>
            <a:r>
              <a:rPr b="1" lang="en-US" sz="1100"/>
              <a:t>flat and stable</a:t>
            </a:r>
            <a:r>
              <a:rPr lang="en-US" sz="1100"/>
              <a:t> the curve is. Each translation request takes roughly </a:t>
            </a:r>
            <a:r>
              <a:rPr b="1" lang="en-US" sz="1100"/>
              <a:t>33 milliseconds</a:t>
            </a:r>
            <a:r>
              <a:rPr lang="en-US" sz="1100"/>
              <a:t>. From a user’s perspective, this is instantaneous</a:t>
            </a:r>
            <a:endParaRPr sz="1100"/>
          </a:p>
          <a:p>
            <a:pPr indent="0" lvl="0" marL="0" rtl="0" algn="l">
              <a:spcBef>
                <a:spcPts val="0"/>
              </a:spcBef>
              <a:spcAft>
                <a:spcPts val="0"/>
              </a:spcAft>
              <a:buNone/>
            </a:pPr>
            <a:r>
              <a:t/>
            </a:r>
            <a:endParaRPr sz="1100"/>
          </a:p>
          <a:p>
            <a:pPr indent="0" lvl="0" marL="0" rtl="0" algn="l">
              <a:lnSpc>
                <a:spcPct val="115000"/>
              </a:lnSpc>
              <a:spcBef>
                <a:spcPts val="1200"/>
              </a:spcBef>
              <a:spcAft>
                <a:spcPts val="0"/>
              </a:spcAft>
              <a:buClr>
                <a:schemeClr val="dk1"/>
              </a:buClr>
              <a:buSzPts val="1100"/>
              <a:buFont typeface="Arial"/>
              <a:buNone/>
            </a:pPr>
            <a:r>
              <a:rPr lang="en-US" sz="1100"/>
              <a:t>One particularly important observation is the </a:t>
            </a:r>
            <a:r>
              <a:rPr b="1" lang="en-US" sz="1100"/>
              <a:t>absence of a warm-up penalty</a:t>
            </a:r>
            <a:r>
              <a:rPr lang="en-US" sz="1100"/>
              <a:t>. The very first request at index zero is processed just as quickly as the last request. This tells us that the model and its CUDA kernels initialize almost immediately, or that initialization overhead is negligible compared to inference time.</a:t>
            </a:r>
            <a:endParaRPr sz="1100"/>
          </a:p>
          <a:p>
            <a:pPr indent="0" lvl="0" marL="0" rtl="0" algn="l">
              <a:lnSpc>
                <a:spcPct val="115000"/>
              </a:lnSpc>
              <a:spcBef>
                <a:spcPts val="1200"/>
              </a:spcBef>
              <a:spcAft>
                <a:spcPts val="0"/>
              </a:spcAft>
              <a:buClr>
                <a:schemeClr val="dk1"/>
              </a:buClr>
              <a:buSzPts val="1100"/>
              <a:buFont typeface="Arial"/>
              <a:buNone/>
            </a:pPr>
            <a:r>
              <a:rPr lang="en-US" sz="1100"/>
              <a:t>Another key takeaway is </a:t>
            </a:r>
            <a:r>
              <a:rPr b="1" lang="en-US" sz="1100"/>
              <a:t>predictability</a:t>
            </a:r>
            <a:r>
              <a:rPr lang="en-US" sz="1100"/>
              <a:t>. The line barely moves, and the small step you may notice corresponds to only about </a:t>
            </a:r>
            <a:r>
              <a:rPr b="1" lang="en-US" sz="1100"/>
              <a:t>1 millisecond of variation</a:t>
            </a:r>
            <a:r>
              <a:rPr lang="en-US" sz="1100"/>
              <a:t>, which is practically irrelevant in production systems. This level of consistency makes text translation an ideal candidate for dynamic scheduling or on-demand execution.</a:t>
            </a:r>
            <a:endParaRPr sz="1100"/>
          </a:p>
          <a:p>
            <a:pPr indent="0" lvl="0" marL="0" rtl="0" algn="l">
              <a:spcBef>
                <a:spcPts val="1200"/>
              </a:spcBef>
              <a:spcAft>
                <a:spcPts val="0"/>
              </a:spcAft>
              <a:buNone/>
            </a:pPr>
            <a:r>
              <a:t/>
            </a:r>
            <a:endParaRPr sz="1100"/>
          </a:p>
        </p:txBody>
      </p:sp>
      <p:sp>
        <p:nvSpPr>
          <p:cNvPr id="1650" name="Google Shape;1650;g3b0ee8e70b9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3b0ee8e70b9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Now let’s contrast that with audio transcription</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100"/>
              <a:t>The most striking feature in the audio latency plot is the </a:t>
            </a:r>
            <a:r>
              <a:rPr b="1" lang="en-US" sz="1100"/>
              <a:t>massive spike at the very first request</a:t>
            </a:r>
            <a:r>
              <a:rPr lang="en-US" sz="1100"/>
              <a:t>. That first transcription takes approximately </a:t>
            </a:r>
            <a:r>
              <a:rPr b="1" lang="en-US" sz="1100"/>
              <a:t>23 seconds</a:t>
            </a:r>
            <a:r>
              <a:rPr lang="en-US" sz="1100"/>
              <a:t>, which is  slower than anything we saw in text translation. This is what we refer to as the </a:t>
            </a:r>
            <a:r>
              <a:rPr b="1" lang="en-US" sz="1100"/>
              <a:t>cold start penalty</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lang="en-US" sz="1100"/>
              <a:t>This cold start is caused by heavy model initialization, CUDA kernel compilation, and audio-specific preprocessing pipelines. Importantly, this cost is paid </a:t>
            </a:r>
            <a:r>
              <a:rPr b="1" lang="en-US" sz="1100"/>
              <a:t>once per worker lifecycle</a:t>
            </a:r>
            <a:r>
              <a:rPr lang="en-US" sz="1100"/>
              <a:t>, not per request.</a:t>
            </a:r>
            <a:endParaRPr sz="1100"/>
          </a:p>
          <a:p>
            <a:pPr indent="0" lvl="0" marL="0" rtl="0" algn="l">
              <a:lnSpc>
                <a:spcPct val="115000"/>
              </a:lnSpc>
              <a:spcBef>
                <a:spcPts val="1200"/>
              </a:spcBef>
              <a:spcAft>
                <a:spcPts val="0"/>
              </a:spcAft>
              <a:buClr>
                <a:schemeClr val="dk1"/>
              </a:buClr>
              <a:buSzPts val="1100"/>
              <a:buFont typeface="Arial"/>
              <a:buNone/>
            </a:pPr>
            <a:r>
              <a:rPr lang="en-US" sz="1100"/>
              <a:t>After that first request, performance stabilizes rapidly. Subsequent audio files are processed in </a:t>
            </a:r>
            <a:r>
              <a:rPr b="1" lang="en-US" sz="1100"/>
              <a:t>under one second each</a:t>
            </a:r>
            <a:r>
              <a:rPr lang="en-US" sz="1100"/>
              <a:t>, typically between </a:t>
            </a:r>
            <a:r>
              <a:rPr b="1" lang="en-US" sz="1100"/>
              <a:t>500 milliseconds and 1.5 seconds</a:t>
            </a:r>
            <a:r>
              <a:rPr lang="en-US" sz="1100"/>
              <a:t>, depending on the audio length.</a:t>
            </a:r>
            <a:endParaRPr sz="1100"/>
          </a:p>
          <a:p>
            <a:pPr indent="0" lvl="0" marL="0" rtl="0" algn="l">
              <a:lnSpc>
                <a:spcPct val="115000"/>
              </a:lnSpc>
              <a:spcBef>
                <a:spcPts val="1200"/>
              </a:spcBef>
              <a:spcAft>
                <a:spcPts val="0"/>
              </a:spcAft>
              <a:buClr>
                <a:schemeClr val="dk1"/>
              </a:buClr>
              <a:buSzPts val="1100"/>
              <a:buFont typeface="Arial"/>
              <a:buNone/>
            </a:pPr>
            <a:r>
              <a:rPr lang="en-US" sz="1100"/>
              <a:t>The key takeaway here is that </a:t>
            </a:r>
            <a:r>
              <a:rPr b="1" lang="en-US" sz="1100"/>
              <a:t>audio services cannot be spun up on demand</a:t>
            </a:r>
            <a:r>
              <a:rPr lang="en-US" sz="1100"/>
              <a:t>. If you do, users will experience a 20-plus second delay. Audio transcription </a:t>
            </a:r>
            <a:r>
              <a:rPr b="1" lang="en-US" sz="1100"/>
              <a:t>must run on persistent workers</a:t>
            </a:r>
            <a:r>
              <a:rPr lang="en-US" sz="1100"/>
              <a:t> to hide this initialization cost.</a:t>
            </a:r>
            <a:endParaRPr sz="1100"/>
          </a:p>
          <a:p>
            <a:pPr indent="0" lvl="0" marL="0" rtl="0" algn="l">
              <a:spcBef>
                <a:spcPts val="1200"/>
              </a:spcBef>
              <a:spcAft>
                <a:spcPts val="0"/>
              </a:spcAft>
              <a:buNone/>
            </a:pPr>
            <a:r>
              <a:t/>
            </a:r>
            <a:endParaRPr/>
          </a:p>
        </p:txBody>
      </p:sp>
      <p:sp>
        <p:nvSpPr>
          <p:cNvPr id="1667" name="Google Shape;1667;g3b0ee8e70b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b0ee8e70b9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This slide puts both workloads on the same timeline</a:t>
            </a:r>
            <a:endParaRPr sz="1100"/>
          </a:p>
          <a:p>
            <a:pPr indent="0" lvl="0" marL="0" rtl="0" algn="l">
              <a:lnSpc>
                <a:spcPct val="115000"/>
              </a:lnSpc>
              <a:spcBef>
                <a:spcPts val="1200"/>
              </a:spcBef>
              <a:spcAft>
                <a:spcPts val="0"/>
              </a:spcAft>
              <a:buClr>
                <a:schemeClr val="dk1"/>
              </a:buClr>
              <a:buSzPts val="1100"/>
              <a:buFont typeface="Arial"/>
              <a:buNone/>
            </a:pPr>
            <a:r>
              <a:rPr lang="en-US" sz="1100"/>
              <a:t>The </a:t>
            </a:r>
            <a:r>
              <a:rPr b="1" lang="en-US" sz="1100"/>
              <a:t>orange squares</a:t>
            </a:r>
            <a:r>
              <a:rPr lang="en-US" sz="1100"/>
              <a:t>, representing text translation, are tightly clustered at the bottom left of the graph. All 100 requests complete within just a few seconds of wall-clock time, and their individual latencies are almost negligible.</a:t>
            </a:r>
            <a:endParaRPr sz="1100"/>
          </a:p>
          <a:p>
            <a:pPr indent="0" lvl="0" marL="0" rtl="0" algn="l">
              <a:lnSpc>
                <a:spcPct val="115000"/>
              </a:lnSpc>
              <a:spcBef>
                <a:spcPts val="1200"/>
              </a:spcBef>
              <a:spcAft>
                <a:spcPts val="0"/>
              </a:spcAft>
              <a:buClr>
                <a:schemeClr val="dk1"/>
              </a:buClr>
              <a:buSzPts val="1100"/>
              <a:buFont typeface="Arial"/>
              <a:buNone/>
            </a:pPr>
            <a:r>
              <a:rPr lang="en-US" sz="1100"/>
              <a:t>In contrast, the </a:t>
            </a:r>
            <a:r>
              <a:rPr b="1" lang="en-US" sz="1100"/>
              <a:t>blue circles</a:t>
            </a:r>
            <a:r>
              <a:rPr lang="en-US" sz="1100"/>
              <a:t>, representing audio transcription, are spread far to the right. The audio workload stretches beyond </a:t>
            </a:r>
            <a:r>
              <a:rPr b="1" lang="en-US" sz="1100"/>
              <a:t>60 seconds of total runtime</a:t>
            </a:r>
            <a:r>
              <a:rPr lang="en-US" sz="1100"/>
              <a:t>, and each request occupies significantly more GPU time.</a:t>
            </a:r>
            <a:endParaRPr sz="1100"/>
          </a:p>
          <a:p>
            <a:pPr indent="0" lvl="0" marL="0" rtl="0" algn="l">
              <a:lnSpc>
                <a:spcPct val="115000"/>
              </a:lnSpc>
              <a:spcBef>
                <a:spcPts val="1200"/>
              </a:spcBef>
              <a:spcAft>
                <a:spcPts val="0"/>
              </a:spcAft>
              <a:buNone/>
            </a:pPr>
            <a:r>
              <a:rPr lang="en-US" sz="1100"/>
              <a:t>Visually, this makes an important point: </a:t>
            </a:r>
            <a:r>
              <a:rPr b="1" lang="en-US" sz="1100"/>
              <a:t>text requests are cheap</a:t>
            </a:r>
            <a:r>
              <a:rPr lang="en-US" sz="1100"/>
              <a:t>, while </a:t>
            </a:r>
            <a:r>
              <a:rPr b="1" lang="en-US" sz="1100"/>
              <a:t>audio requests are expensive</a:t>
            </a:r>
            <a:r>
              <a:rPr lang="en-US" sz="1100"/>
              <a:t>. </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t/>
            </a:r>
            <a:endParaRPr/>
          </a:p>
        </p:txBody>
      </p:sp>
      <p:sp>
        <p:nvSpPr>
          <p:cNvPr id="1684" name="Google Shape;1684;g3b0ee8e70b9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g3b0ee8e70b9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Next, we examine </a:t>
            </a:r>
            <a:r>
              <a:rPr b="1" lang="en-US" sz="1100"/>
              <a:t>variance</a:t>
            </a:r>
            <a:endParaRPr sz="1100"/>
          </a:p>
          <a:p>
            <a:pPr indent="0" lvl="0" marL="0" rtl="0" algn="l">
              <a:lnSpc>
                <a:spcPct val="115000"/>
              </a:lnSpc>
              <a:spcBef>
                <a:spcPts val="1200"/>
              </a:spcBef>
              <a:spcAft>
                <a:spcPts val="0"/>
              </a:spcAft>
              <a:buClr>
                <a:schemeClr val="dk1"/>
              </a:buClr>
              <a:buSzPts val="1100"/>
              <a:buFont typeface="Arial"/>
              <a:buNone/>
            </a:pPr>
            <a:r>
              <a:rPr lang="en-US" sz="1100"/>
              <a:t>The box plot shows that </a:t>
            </a:r>
            <a:r>
              <a:rPr b="1" lang="en-US" sz="1100"/>
              <a:t>audio latency varies significantly</a:t>
            </a:r>
            <a:r>
              <a:rPr lang="en-US" sz="1100"/>
              <a:t>, while </a:t>
            </a:r>
            <a:r>
              <a:rPr b="1" lang="en-US" sz="1100"/>
              <a:t>text latency is almost constant</a:t>
            </a:r>
            <a:r>
              <a:rPr lang="en-US" sz="1100"/>
              <a:t>. The audio distribution is tall, with long whiskers extending upward. This indicates that some audio files take much longer than others, usually due to differences in audio duration or complexity.</a:t>
            </a:r>
            <a:endParaRPr sz="1100"/>
          </a:p>
          <a:p>
            <a:pPr indent="0" lvl="0" marL="0" rtl="0" algn="l">
              <a:lnSpc>
                <a:spcPct val="115000"/>
              </a:lnSpc>
              <a:spcBef>
                <a:spcPts val="1200"/>
              </a:spcBef>
              <a:spcAft>
                <a:spcPts val="0"/>
              </a:spcAft>
              <a:buClr>
                <a:schemeClr val="dk1"/>
              </a:buClr>
              <a:buSzPts val="1100"/>
              <a:buFont typeface="Arial"/>
              <a:buNone/>
            </a:pPr>
            <a:r>
              <a:rPr lang="en-US" sz="1100"/>
              <a:t>You’ll also notice outliers at the top of the audio distribution. These correspond to the </a:t>
            </a:r>
            <a:r>
              <a:rPr b="1" lang="en-US" sz="1100"/>
              <a:t>initialization outliers</a:t>
            </a:r>
            <a:r>
              <a:rPr lang="en-US" sz="1100"/>
              <a:t>, including the 23-second cold start, which heavily skew the average latency if not handled properly.</a:t>
            </a:r>
            <a:endParaRPr sz="1100"/>
          </a:p>
          <a:p>
            <a:pPr indent="0" lvl="0" marL="0" rtl="0" algn="l">
              <a:lnSpc>
                <a:spcPct val="115000"/>
              </a:lnSpc>
              <a:spcBef>
                <a:spcPts val="1200"/>
              </a:spcBef>
              <a:spcAft>
                <a:spcPts val="0"/>
              </a:spcAft>
              <a:buClr>
                <a:schemeClr val="dk1"/>
              </a:buClr>
              <a:buSzPts val="1100"/>
              <a:buFont typeface="Arial"/>
              <a:buNone/>
            </a:pPr>
            <a:r>
              <a:rPr lang="en-US" sz="1100"/>
              <a:t>By contrast, the translation box is essentially a flat line. This tells us that text translation latency is </a:t>
            </a:r>
            <a:r>
              <a:rPr b="1" lang="en-US" sz="1100"/>
              <a:t>insensitive to small variations in input length</a:t>
            </a:r>
            <a:r>
              <a:rPr lang="en-US" sz="1100"/>
              <a:t> and is extremely reliable.</a:t>
            </a:r>
            <a:endParaRPr sz="1100"/>
          </a:p>
          <a:p>
            <a:pPr indent="0" lvl="0" marL="0" rtl="0" algn="l">
              <a:lnSpc>
                <a:spcPct val="115000"/>
              </a:lnSpc>
              <a:spcBef>
                <a:spcPts val="1200"/>
              </a:spcBef>
              <a:spcAft>
                <a:spcPts val="0"/>
              </a:spcAft>
              <a:buClr>
                <a:schemeClr val="dk1"/>
              </a:buClr>
              <a:buSzPts val="1100"/>
              <a:buFont typeface="Arial"/>
              <a:buNone/>
            </a:pPr>
            <a:r>
              <a:rPr lang="en-US" sz="1100"/>
              <a:t>From a systems perspective, this means audio requires more careful scheduling and buffering, while text can be treated almost like a constant-time operation.</a:t>
            </a:r>
            <a:endParaRPr sz="1100"/>
          </a:p>
          <a:p>
            <a:pPr indent="0" lvl="0" marL="0" rtl="0" algn="l">
              <a:spcBef>
                <a:spcPts val="1200"/>
              </a:spcBef>
              <a:spcAft>
                <a:spcPts val="0"/>
              </a:spcAft>
              <a:buNone/>
            </a:pPr>
            <a:r>
              <a:t/>
            </a:r>
            <a:endParaRPr/>
          </a:p>
        </p:txBody>
      </p:sp>
      <p:sp>
        <p:nvSpPr>
          <p:cNvPr id="1701" name="Google Shape;1701;g3b0ee8e70b9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3b0ee8e70b9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Finally</a:t>
            </a:r>
            <a:endParaRPr sz="1100"/>
          </a:p>
          <a:p>
            <a:pPr indent="0" lvl="0" marL="0" rtl="0" algn="l">
              <a:lnSpc>
                <a:spcPct val="115000"/>
              </a:lnSpc>
              <a:spcBef>
                <a:spcPts val="1200"/>
              </a:spcBef>
              <a:spcAft>
                <a:spcPts val="0"/>
              </a:spcAft>
              <a:buClr>
                <a:schemeClr val="dk1"/>
              </a:buClr>
              <a:buSzPts val="1100"/>
              <a:buFont typeface="Arial"/>
              <a:buNone/>
            </a:pPr>
            <a:r>
              <a:rPr lang="en-US" sz="1100"/>
              <a:t>The summary table shows that </a:t>
            </a:r>
            <a:r>
              <a:rPr b="1" lang="en-US" sz="1100"/>
              <a:t>mean audio latency is approximately 738 milliseconds</a:t>
            </a:r>
            <a:r>
              <a:rPr lang="en-US" sz="1100"/>
              <a:t>, while </a:t>
            </a:r>
            <a:r>
              <a:rPr b="1" lang="en-US" sz="1100"/>
              <a:t>mean translation latency is around 49 milliseconds</a:t>
            </a:r>
            <a:r>
              <a:rPr lang="en-US" sz="1100"/>
              <a:t>, making audio roughly </a:t>
            </a:r>
            <a:r>
              <a:rPr b="1" lang="en-US" sz="1100"/>
              <a:t>15 times slower</a:t>
            </a:r>
            <a:r>
              <a:rPr lang="en-US" sz="1100"/>
              <a:t> on average.</a:t>
            </a:r>
            <a:endParaRPr sz="1100"/>
          </a:p>
          <a:p>
            <a:pPr indent="0" lvl="0" marL="0" rtl="0" algn="l">
              <a:lnSpc>
                <a:spcPct val="115000"/>
              </a:lnSpc>
              <a:spcBef>
                <a:spcPts val="1200"/>
              </a:spcBef>
              <a:spcAft>
                <a:spcPts val="0"/>
              </a:spcAft>
              <a:buClr>
                <a:schemeClr val="dk1"/>
              </a:buClr>
              <a:buSzPts val="1100"/>
              <a:buFont typeface="Arial"/>
              <a:buNone/>
            </a:pPr>
            <a:r>
              <a:rPr lang="en-US" sz="1100"/>
              <a:t>Looking at worst-case behavior, audio transcription reaches </a:t>
            </a:r>
            <a:r>
              <a:rPr b="1" lang="en-US" sz="1100"/>
              <a:t>around 9.5 seconds</a:t>
            </a:r>
            <a:r>
              <a:rPr lang="en-US" sz="1100"/>
              <a:t>, even after excluding the absolute cold-start outlier. Translation, on the other hand, </a:t>
            </a:r>
            <a:r>
              <a:rPr b="1" lang="en-US" sz="1100"/>
              <a:t>never exceeds 60 milliseconds</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lang="en-US" sz="1100"/>
              <a:t>So I think that </a:t>
            </a:r>
            <a:r>
              <a:rPr b="1" lang="en-US" sz="1100"/>
              <a:t>Audio workloads must run on persistent GPU workers</a:t>
            </a:r>
            <a:r>
              <a:rPr lang="en-US" sz="1100"/>
              <a:t> to avoid cold starts. </a:t>
            </a:r>
            <a:r>
              <a:rPr b="1" lang="en-US" sz="1100"/>
              <a:t>Text workloads are lightweight and flexible</a:t>
            </a:r>
            <a:r>
              <a:rPr lang="en-US" sz="1100"/>
              <a:t>, and can safely be deployed in serverless or on-demand fashion.</a:t>
            </a:r>
            <a:endParaRPr sz="1100"/>
          </a:p>
          <a:p>
            <a:pPr indent="0" lvl="0" marL="0" rtl="0" algn="l">
              <a:lnSpc>
                <a:spcPct val="115000"/>
              </a:lnSpc>
              <a:spcBef>
                <a:spcPts val="1200"/>
              </a:spcBef>
              <a:spcAft>
                <a:spcPts val="0"/>
              </a:spcAft>
              <a:buNone/>
            </a:pPr>
            <a:r>
              <a:rPr lang="en-US" sz="1100"/>
              <a:t>Most importantly Text requests can be interleaved into the idle or waiting periods of audio processing which would probably improve overall GPU utilization without degrading system performance.</a:t>
            </a:r>
            <a:endParaRPr sz="1100"/>
          </a:p>
          <a:p>
            <a:pPr indent="0" lvl="0" marL="0" rtl="0" algn="l">
              <a:lnSpc>
                <a:spcPct val="115000"/>
              </a:lnSpc>
              <a:spcBef>
                <a:spcPts val="1200"/>
              </a:spcBef>
              <a:spcAft>
                <a:spcPts val="0"/>
              </a:spcAft>
              <a:buClr>
                <a:schemeClr val="dk1"/>
              </a:buClr>
              <a:buSzPts val="1100"/>
              <a:buFont typeface="Arial"/>
              <a:buNone/>
            </a:pPr>
            <a:r>
              <a:rPr lang="en-US" sz="1100"/>
              <a:t>So thats It for what ive done this week thank you!</a:t>
            </a:r>
            <a:endParaRPr sz="1100"/>
          </a:p>
          <a:p>
            <a:pPr indent="0" lvl="0" marL="0" rtl="0" algn="l">
              <a:spcBef>
                <a:spcPts val="1200"/>
              </a:spcBef>
              <a:spcAft>
                <a:spcPts val="0"/>
              </a:spcAft>
              <a:buNone/>
            </a:pPr>
            <a:r>
              <a:t/>
            </a:r>
            <a:endParaRPr/>
          </a:p>
        </p:txBody>
      </p:sp>
      <p:sp>
        <p:nvSpPr>
          <p:cNvPr id="1718" name="Google Shape;1718;g3b0ee8e70b9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g3a726d1271e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g3a726d1271e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6" name="Google Shape;1736;g3a726d1271e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3a6104770f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42" name="Google Shape;1742;g3a6104770f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3" name="Google Shape;1743;g3a6104770f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g3aed78800e8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9" name="Google Shape;1749;g3aed78800e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aed78800e8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7" name="Google Shape;1767;g3aed78800e8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af26c9a56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5" name="Google Shape;1785;g3af26c9a5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g3af26c9a56b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4" name="Google Shape;1804;g3af26c9a56b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3af26c9a56b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4" name="Google Shape;1824;g3af26c9a56b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3aed78800e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3aed78800e8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5" name="Google Shape;1845;g3aed78800e8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39b98479d5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39b98479d51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2" name="Google Shape;1852;g39b98479d51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39edeb6686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So, to start, what is VIVA?</a:t>
            </a:r>
            <a:endParaRPr sz="1100"/>
          </a:p>
          <a:p>
            <a:pPr indent="0" lvl="0" marL="0" rtl="0" algn="l">
              <a:lnSpc>
                <a:spcPct val="115000"/>
              </a:lnSpc>
              <a:spcBef>
                <a:spcPts val="1200"/>
              </a:spcBef>
              <a:spcAft>
                <a:spcPts val="0"/>
              </a:spcAft>
              <a:buClr>
                <a:schemeClr val="dk1"/>
              </a:buClr>
              <a:buSzPts val="1100"/>
              <a:buFont typeface="Arial"/>
              <a:buNone/>
            </a:pPr>
            <a:r>
              <a:rPr lang="en-US" sz="1100"/>
              <a:t>VIVA is an </a:t>
            </a:r>
            <a:r>
              <a:rPr b="1" lang="en-US" sz="1100"/>
              <a:t>end-to-end system</a:t>
            </a:r>
            <a:r>
              <a:rPr lang="en-US" sz="1100"/>
              <a:t> built for </a:t>
            </a:r>
            <a:r>
              <a:rPr b="1" lang="en-US" sz="1100"/>
              <a:t>interactive video analytics</a:t>
            </a:r>
            <a:r>
              <a:rPr lang="en-US" sz="1100"/>
              <a:t>, or IVA. You can think of its architecture as being similar to other data analytic systems, but it's specifically built to handle the unique challenges of video.</a:t>
            </a:r>
            <a:endParaRPr sz="1100"/>
          </a:p>
          <a:p>
            <a:pPr indent="0" lvl="0" marL="0" rtl="0" algn="l">
              <a:lnSpc>
                <a:spcPct val="115000"/>
              </a:lnSpc>
              <a:spcBef>
                <a:spcPts val="1200"/>
              </a:spcBef>
              <a:spcAft>
                <a:spcPts val="0"/>
              </a:spcAft>
              <a:buNone/>
            </a:pPr>
            <a:r>
              <a:rPr lang="en-US" sz="1100"/>
              <a:t>To do this, it uses five main components, each designed to help specify and process domain-specific knowledge.</a:t>
            </a:r>
            <a:endParaRPr sz="1100"/>
          </a:p>
          <a:p>
            <a:pPr indent="0" lvl="0" marL="0" rtl="0" algn="l">
              <a:lnSpc>
                <a:spcPct val="115000"/>
              </a:lnSpc>
              <a:spcBef>
                <a:spcPts val="1200"/>
              </a:spcBef>
              <a:spcAft>
                <a:spcPts val="0"/>
              </a:spcAft>
              <a:buNone/>
            </a:pPr>
            <a:r>
              <a:rPr lang="en-US" sz="1100"/>
              <a:t>Let's look at those five components:</a:t>
            </a:r>
            <a:endParaRPr sz="1100"/>
          </a:p>
          <a:p>
            <a:pPr indent="-298450" lvl="0" marL="457200" rtl="0" algn="l">
              <a:lnSpc>
                <a:spcPct val="115000"/>
              </a:lnSpc>
              <a:spcBef>
                <a:spcPts val="1200"/>
              </a:spcBef>
              <a:spcAft>
                <a:spcPts val="0"/>
              </a:spcAft>
              <a:buClr>
                <a:schemeClr val="dk1"/>
              </a:buClr>
              <a:buSzPts val="1100"/>
              <a:buAutoNum type="arabicPeriod"/>
            </a:pPr>
            <a:r>
              <a:rPr lang="en-US" sz="1100"/>
              <a:t>First, there's the </a:t>
            </a:r>
            <a:r>
              <a:rPr b="1" lang="en-US" sz="1100"/>
              <a:t>Relational Hints Explorer</a:t>
            </a:r>
            <a:r>
              <a:rPr lang="en-US" sz="1100"/>
              <a:t>. This component allows users to express domain-specific knowledge through what are called 'relational hints.'</a:t>
            </a:r>
            <a:endParaRPr sz="1100"/>
          </a:p>
          <a:p>
            <a:pPr indent="-298450" lvl="0" marL="457200" rtl="0" algn="l">
              <a:lnSpc>
                <a:spcPct val="115000"/>
              </a:lnSpc>
              <a:spcBef>
                <a:spcPts val="0"/>
              </a:spcBef>
              <a:spcAft>
                <a:spcPts val="0"/>
              </a:spcAft>
              <a:buClr>
                <a:schemeClr val="dk1"/>
              </a:buClr>
              <a:buSzPts val="1100"/>
              <a:buAutoNum type="arabicPeriod"/>
            </a:pPr>
            <a:r>
              <a:rPr lang="en-US" sz="1100"/>
              <a:t>Second is the </a:t>
            </a:r>
            <a:r>
              <a:rPr b="1" lang="en-US" sz="1100"/>
              <a:t>Mixed-data Query Optimizer</a:t>
            </a:r>
            <a:r>
              <a:rPr lang="en-US" sz="1100"/>
              <a:t>. This is a key part that optimizes queries across </a:t>
            </a:r>
            <a:r>
              <a:rPr i="1" lang="en-US" sz="1100"/>
              <a:t>both</a:t>
            </a:r>
            <a:r>
              <a:rPr lang="en-US" sz="1100"/>
              <a:t> structured records, like tables from previous queries, and unstructured records, like the raw video frames.</a:t>
            </a:r>
            <a:endParaRPr sz="1100"/>
          </a:p>
          <a:p>
            <a:pPr indent="-298450" lvl="0" marL="457200" rtl="0" algn="l">
              <a:lnSpc>
                <a:spcPct val="115000"/>
              </a:lnSpc>
              <a:spcBef>
                <a:spcPts val="0"/>
              </a:spcBef>
              <a:spcAft>
                <a:spcPts val="0"/>
              </a:spcAft>
              <a:buClr>
                <a:schemeClr val="dk1"/>
              </a:buClr>
              <a:buSzPts val="1100"/>
              <a:buAutoNum type="arabicPeriod"/>
            </a:pPr>
            <a:r>
              <a:rPr lang="en-US" sz="1100"/>
              <a:t>Third, we have the </a:t>
            </a:r>
            <a:r>
              <a:rPr b="1" lang="en-US" sz="1100"/>
              <a:t>Embedding Cache</a:t>
            </a:r>
            <a:r>
              <a:rPr lang="en-US" sz="1100"/>
              <a:t>. This component is smart about video indexing. It decides which results or embeddings to store so they can be accessed quickly for future queries.</a:t>
            </a:r>
            <a:endParaRPr sz="1100"/>
          </a:p>
          <a:p>
            <a:pPr indent="-298450" lvl="0" marL="457200" rtl="0" algn="l">
              <a:lnSpc>
                <a:spcPct val="115000"/>
              </a:lnSpc>
              <a:spcBef>
                <a:spcPts val="0"/>
              </a:spcBef>
              <a:spcAft>
                <a:spcPts val="0"/>
              </a:spcAft>
              <a:buClr>
                <a:schemeClr val="dk1"/>
              </a:buClr>
              <a:buSzPts val="1100"/>
              <a:buAutoNum type="arabicPeriod"/>
            </a:pPr>
            <a:r>
              <a:rPr lang="en-US" sz="1100"/>
              <a:t>Fourth is the </a:t>
            </a:r>
            <a:r>
              <a:rPr b="1" lang="en-US" sz="1100"/>
              <a:t>Video File Manager</a:t>
            </a:r>
            <a:r>
              <a:rPr lang="en-US" sz="1100"/>
              <a:t>. This component handles the logistics: it's responsible for fetching video files from storage, deciding which frames or chunks to cache or pre-fetch, and managing video formatting.</a:t>
            </a:r>
            <a:endParaRPr sz="1100"/>
          </a:p>
          <a:p>
            <a:pPr indent="-298450" lvl="0" marL="457200" rtl="0" algn="l">
              <a:lnSpc>
                <a:spcPct val="115000"/>
              </a:lnSpc>
              <a:spcBef>
                <a:spcPts val="0"/>
              </a:spcBef>
              <a:spcAft>
                <a:spcPts val="0"/>
              </a:spcAft>
              <a:buClr>
                <a:schemeClr val="dk1"/>
              </a:buClr>
              <a:buSzPts val="1100"/>
              <a:buAutoNum type="arabicPeriod"/>
            </a:pPr>
            <a:r>
              <a:rPr lang="en-US" sz="1100"/>
              <a:t>And finally, there's the </a:t>
            </a:r>
            <a:r>
              <a:rPr b="1" lang="en-US" sz="1100"/>
              <a:t>Accelerator-based Execution Engine</a:t>
            </a:r>
            <a:r>
              <a:rPr lang="en-US" sz="1100"/>
              <a:t>. This engine co-optimizes storage and query execution by selecting and managing the different hardware backends, especially specialized DNN accelerators, to run the analytics efficiently.</a:t>
            </a:r>
            <a:endParaRPr sz="1100"/>
          </a:p>
          <a:p>
            <a:pPr indent="0" lvl="0" marL="0" rtl="0" algn="l">
              <a:lnSpc>
                <a:spcPct val="115000"/>
              </a:lnSpc>
              <a:spcBef>
                <a:spcPts val="1200"/>
              </a:spcBef>
              <a:spcAft>
                <a:spcPts val="0"/>
              </a:spcAft>
              <a:buNone/>
            </a:pPr>
            <a:r>
              <a:rPr lang="en-US" sz="1100"/>
              <a:t>Together, these five components make up the VIVA system, allowing for powerful interactive video analysis.</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t/>
            </a:r>
            <a:endParaRPr/>
          </a:p>
        </p:txBody>
      </p:sp>
      <p:sp>
        <p:nvSpPr>
          <p:cNvPr id="1858" name="Google Shape;1858;g39edeb6686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g39edeb6686d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So, let's dive into our topic, which is the MMMU paper. But first, what </a:t>
            </a:r>
            <a:r>
              <a:rPr i="1" lang="en-US" sz="1100"/>
              <a:t>is</a:t>
            </a:r>
            <a:r>
              <a:rPr lang="en-US" sz="1100"/>
              <a:t> MMMU?</a:t>
            </a:r>
            <a:endParaRPr sz="1100"/>
          </a:p>
          <a:p>
            <a:pPr indent="0" lvl="0" marL="0" rtl="0" algn="l">
              <a:lnSpc>
                <a:spcPct val="115000"/>
              </a:lnSpc>
              <a:spcBef>
                <a:spcPts val="1200"/>
              </a:spcBef>
              <a:spcAft>
                <a:spcPts val="0"/>
              </a:spcAft>
              <a:buClr>
                <a:schemeClr val="dk1"/>
              </a:buClr>
              <a:buSzPts val="1100"/>
              <a:buFont typeface="Arial"/>
              <a:buNone/>
            </a:pPr>
            <a:r>
              <a:rPr lang="en-US" sz="1100"/>
              <a:t>MMMU is a </a:t>
            </a:r>
            <a:r>
              <a:rPr b="1" lang="en-US" sz="1100"/>
              <a:t>new, challenging benchmark</a:t>
            </a:r>
            <a:r>
              <a:rPr lang="en-US" sz="1100"/>
              <a:t> designed to evaluate large multimodal models on tasks that demand two key things: </a:t>
            </a:r>
            <a:r>
              <a:rPr b="1" lang="en-US" sz="1100"/>
              <a:t>college-level subject knowledge</a:t>
            </a:r>
            <a:r>
              <a:rPr lang="en-US" sz="1100"/>
              <a:t> and </a:t>
            </a:r>
            <a:r>
              <a:rPr b="1" lang="en-US" sz="1100"/>
              <a:t>deliberate reasoning</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lang="en-US" sz="1100"/>
              <a:t>The ultimate aim here isn't just to test models, but to actively stimulate the development of foundation models that can achieve what's called </a:t>
            </a:r>
            <a:r>
              <a:rPr b="1" lang="en-US" sz="1100"/>
              <a:t>Expert Artificial General Intelligence (AGI)</a:t>
            </a:r>
            <a:r>
              <a:rPr lang="en-US" sz="1100"/>
              <a:t>.</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What makes MMMU so different?</a:t>
            </a:r>
            <a:endParaRPr b="1" sz="1100"/>
          </a:p>
          <a:p>
            <a:pPr indent="0" lvl="0" marL="0" rtl="0" algn="l">
              <a:lnSpc>
                <a:spcPct val="115000"/>
              </a:lnSpc>
              <a:spcBef>
                <a:spcPts val="1200"/>
              </a:spcBef>
              <a:spcAft>
                <a:spcPts val="0"/>
              </a:spcAft>
              <a:buClr>
                <a:schemeClr val="dk1"/>
              </a:buClr>
              <a:buSzPts val="1100"/>
              <a:buFont typeface="Arial"/>
              <a:buNone/>
            </a:pPr>
            <a:r>
              <a:rPr lang="en-US" sz="1100"/>
              <a:t>First, it uses </a:t>
            </a:r>
            <a:r>
              <a:rPr b="1" lang="en-US" sz="1100"/>
              <a:t>highly heterogeneous image types</a:t>
            </a:r>
            <a:r>
              <a:rPr lang="en-US" sz="1100"/>
              <a:t>. We're not just talking about simple photos. The benchmark includes 30 different and highly diverse image formats to test a model's perceptual capabilities across many domains. This includes:</a:t>
            </a:r>
            <a:endParaRPr sz="1100"/>
          </a:p>
          <a:p>
            <a:pPr indent="-298450" lvl="0" marL="457200" rtl="0" algn="l">
              <a:lnSpc>
                <a:spcPct val="115000"/>
              </a:lnSpc>
              <a:spcBef>
                <a:spcPts val="1200"/>
              </a:spcBef>
              <a:spcAft>
                <a:spcPts val="0"/>
              </a:spcAft>
              <a:buClr>
                <a:schemeClr val="dk1"/>
              </a:buClr>
              <a:buSzPts val="1100"/>
              <a:buChar char="●"/>
            </a:pPr>
            <a:r>
              <a:rPr lang="en-US" sz="1100"/>
              <a:t>Diagrams, tables, plots, and charts.</a:t>
            </a:r>
            <a:endParaRPr sz="1100"/>
          </a:p>
          <a:p>
            <a:pPr indent="-298450" lvl="0" marL="457200" rtl="0" algn="l">
              <a:lnSpc>
                <a:spcPct val="115000"/>
              </a:lnSpc>
              <a:spcBef>
                <a:spcPts val="0"/>
              </a:spcBef>
              <a:spcAft>
                <a:spcPts val="0"/>
              </a:spcAft>
              <a:buClr>
                <a:schemeClr val="dk1"/>
              </a:buClr>
              <a:buSzPts val="1100"/>
              <a:buChar char="●"/>
            </a:pPr>
            <a:r>
              <a:rPr lang="en-US" sz="1100"/>
              <a:t>Photographs, paintings, and even comics.</a:t>
            </a:r>
            <a:endParaRPr sz="1100"/>
          </a:p>
          <a:p>
            <a:pPr indent="-298450" lvl="0" marL="457200" rtl="0" algn="l">
              <a:lnSpc>
                <a:spcPct val="115000"/>
              </a:lnSpc>
              <a:spcBef>
                <a:spcPts val="0"/>
              </a:spcBef>
              <a:spcAft>
                <a:spcPts val="0"/>
              </a:spcAft>
              <a:buClr>
                <a:schemeClr val="dk1"/>
              </a:buClr>
              <a:buSzPts val="1100"/>
              <a:buChar char="●"/>
            </a:pPr>
            <a:r>
              <a:rPr lang="en-US" sz="1100"/>
              <a:t>And highly specialized visuals like chemical structures, geometric shapes, mathematical notations, and a wide range of medical images like MRIs, CT scans, and microscopic slides.</a:t>
            </a:r>
            <a:endParaRPr sz="1100"/>
          </a:p>
          <a:p>
            <a:pPr indent="0" lvl="0" marL="0" rtl="0" algn="l">
              <a:lnSpc>
                <a:spcPct val="115000"/>
              </a:lnSpc>
              <a:spcBef>
                <a:spcPts val="1200"/>
              </a:spcBef>
              <a:spcAft>
                <a:spcPts val="0"/>
              </a:spcAft>
              <a:buClr>
                <a:schemeClr val="dk1"/>
              </a:buClr>
              <a:buSzPts val="1100"/>
              <a:buFont typeface="Arial"/>
              <a:buNone/>
            </a:pPr>
            <a:r>
              <a:rPr lang="en-US" sz="1100"/>
              <a:t>Second, the </a:t>
            </a:r>
            <a:r>
              <a:rPr b="1" lang="en-US" sz="1100"/>
              <a:t>breadth of knowledge</a:t>
            </a:r>
            <a:r>
              <a:rPr lang="en-US" sz="1100"/>
              <a:t> is massive. It covers </a:t>
            </a:r>
            <a:r>
              <a:rPr b="1" lang="en-US" sz="1100"/>
              <a:t>30 subjects and 183 subfields</a:t>
            </a:r>
            <a:r>
              <a:rPr lang="en-US" sz="1100"/>
              <a:t> across six core disciplines.</a:t>
            </a:r>
            <a:endParaRPr sz="1100"/>
          </a:p>
          <a:p>
            <a:pPr indent="0" lvl="0" marL="0" rtl="0" algn="l">
              <a:lnSpc>
                <a:spcPct val="115000"/>
              </a:lnSpc>
              <a:spcBef>
                <a:spcPts val="1200"/>
              </a:spcBef>
              <a:spcAft>
                <a:spcPts val="0"/>
              </a:spcAft>
              <a:buClr>
                <a:schemeClr val="dk1"/>
              </a:buClr>
              <a:buSzPts val="1100"/>
              <a:buFont typeface="Arial"/>
              <a:buNone/>
            </a:pPr>
            <a:r>
              <a:rPr lang="en-US" sz="1100"/>
              <a:t>This is the key takeaway: Unlike existing benchmarks that often focus on 'commonsense' knowledge, MMMU requires models to perform tasks that are </a:t>
            </a:r>
            <a:r>
              <a:rPr b="1" lang="en-US" sz="1100"/>
              <a:t>akin to those faced by human experts</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lang="en-US" sz="1100"/>
              <a:t>The questions themselves are complex, with </a:t>
            </a:r>
            <a:r>
              <a:rPr b="1" lang="en-US" sz="1100"/>
              <a:t>interleaved text and images</a:t>
            </a:r>
            <a:r>
              <a:rPr lang="en-US" sz="1100"/>
              <a:t>. A model can't just look at the text or the image in isolation. It must jointly understand both, recall deep domain expertise, and perform complex reasoning to get to the solution.</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And this benchmark is </a:t>
            </a:r>
            <a:r>
              <a:rPr b="1" i="1" lang="en-US" sz="1100"/>
              <a:t>hard</a:t>
            </a:r>
            <a:r>
              <a:rPr b="1" lang="en-US" sz="1100"/>
              <a:t>.</a:t>
            </a:r>
            <a:endParaRPr b="1" sz="1100"/>
          </a:p>
          <a:p>
            <a:pPr indent="0" lvl="0" marL="0" rtl="0" algn="l">
              <a:lnSpc>
                <a:spcPct val="115000"/>
              </a:lnSpc>
              <a:spcBef>
                <a:spcPts val="1200"/>
              </a:spcBef>
              <a:spcAft>
                <a:spcPts val="0"/>
              </a:spcAft>
              <a:buClr>
                <a:schemeClr val="dk1"/>
              </a:buClr>
              <a:buSzPts val="1100"/>
              <a:buFont typeface="Arial"/>
              <a:buNone/>
            </a:pPr>
            <a:r>
              <a:rPr lang="en-US" sz="1100"/>
              <a:t>To give you a sense of the difficulty: on the validation set, human experts achieved a top accuracy of </a:t>
            </a:r>
            <a:r>
              <a:rPr b="1" lang="en-US" sz="1100"/>
              <a:t>88.6%</a:t>
            </a:r>
            <a:r>
              <a:rPr lang="en-US" sz="1100"/>
              <a:t>. The most advanced AI models, by comparison, only achieved around </a:t>
            </a:r>
            <a:r>
              <a:rPr b="1" lang="en-US" sz="1100"/>
              <a:t>55%</a:t>
            </a:r>
            <a:r>
              <a:rPr lang="en-US" sz="1100"/>
              <a:t>. This significant gap shows just how challenging these 'expert-level' tasks are and highlights the exact problem MMMU is designed to help solve.</a:t>
            </a:r>
            <a:endParaRPr sz="1100"/>
          </a:p>
          <a:p>
            <a:pPr indent="0" lvl="0" marL="0" rtl="0" algn="l">
              <a:spcBef>
                <a:spcPts val="1200"/>
              </a:spcBef>
              <a:spcAft>
                <a:spcPts val="0"/>
              </a:spcAft>
              <a:buNone/>
            </a:pPr>
            <a:r>
              <a:t/>
            </a:r>
            <a:endParaRPr/>
          </a:p>
        </p:txBody>
      </p:sp>
      <p:sp>
        <p:nvSpPr>
          <p:cNvPr id="1875" name="Google Shape;1875;g39edeb6686d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39edeb6686d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highlight>
                  <a:srgbClr val="E9EEF6"/>
                </a:highlight>
                <a:latin typeface="Helvetica Neue"/>
                <a:ea typeface="Helvetica Neue"/>
                <a:cs typeface="Helvetica Neue"/>
                <a:sym typeface="Helvetica Neue"/>
              </a:rPr>
              <a:t>&gt; The video is first decomposed into frames and analyzed by multimodal encoders—extracting visual, audio, and textual features stored in a Feature Bank for efficient access.</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rPr lang="en-US">
                <a:solidFill>
                  <a:srgbClr val="1B1C1D"/>
                </a:solidFill>
                <a:highlight>
                  <a:srgbClr val="E9EEF6"/>
                </a:highlight>
                <a:latin typeface="Helvetica Neue"/>
                <a:ea typeface="Helvetica Neue"/>
                <a:cs typeface="Helvetica Neue"/>
                <a:sym typeface="Helvetica Neue"/>
              </a:rPr>
              <a:t>&gt; Simultaneously, the question is parsed by an LLM Decomposer Agent, which interprets its intent and decomposes it into a Subtask List (e.g., “detect person,” “find event,” “explain cause”).</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rPr lang="en-US">
                <a:solidFill>
                  <a:srgbClr val="1B1C1D"/>
                </a:solidFill>
                <a:highlight>
                  <a:srgbClr val="E9EEF6"/>
                </a:highlight>
                <a:latin typeface="Helvetica Neue"/>
                <a:ea typeface="Helvetica Neue"/>
                <a:cs typeface="Helvetica Neue"/>
                <a:sym typeface="Helvetica Neue"/>
              </a:rPr>
              <a:t>&gt; Each subtask queries the Feature Bank for relevant evidence such as detected faces, actions, or dialogue segments. The retrieved outputs are then aligned and synthesized in the Fusion Layer, where temporal, spatial, and semantic relationships are integrated into a coherent explanation.</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rPr lang="en-US">
                <a:solidFill>
                  <a:srgbClr val="1B1C1D"/>
                </a:solidFill>
                <a:highlight>
                  <a:srgbClr val="E9EEF6"/>
                </a:highlight>
                <a:latin typeface="Helvetica Neue"/>
                <a:ea typeface="Helvetica Neue"/>
                <a:cs typeface="Helvetica Neue"/>
                <a:sym typeface="Helvetica Neue"/>
              </a:rPr>
              <a:t>&gt; The pipeline concludes with a Final Answer, generated by reasoning over these multimodal cues to produce a natural-language response supported by timestamped or visual evidence.</a:t>
            </a:r>
            <a:endParaRPr>
              <a:solidFill>
                <a:srgbClr val="1B1C1D"/>
              </a:solidFill>
              <a:highlight>
                <a:srgbClr val="E9EEF6"/>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sz="1050">
              <a:solidFill>
                <a:srgbClr val="1B1B1C"/>
              </a:solidFill>
              <a:highlight>
                <a:srgbClr val="EDEFFA"/>
              </a:highlight>
            </a:endParaRPr>
          </a:p>
        </p:txBody>
      </p:sp>
      <p:sp>
        <p:nvSpPr>
          <p:cNvPr id="1892" name="Google Shape;1892;g39edeb6686d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g39edeb6686d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5" name="Google Shape;1905;g39edeb6686d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https://nlp.cs.unc.edu/data/jielei/tvqa/tvqa_public_html/download_tvqa_plus.html</a:t>
            </a:r>
            <a:endParaRPr/>
          </a:p>
          <a:p>
            <a:pPr indent="0" lvl="0" marL="0" rtl="0" algn="l">
              <a:spcBef>
                <a:spcPts val="0"/>
              </a:spcBef>
              <a:spcAft>
                <a:spcPts val="0"/>
              </a:spcAft>
              <a:buNone/>
            </a:pPr>
            <a:r>
              <a:rPr lang="en-US" u="sng">
                <a:solidFill>
                  <a:schemeClr val="hlink"/>
                </a:solidFill>
                <a:hlinkClick r:id="rId3"/>
              </a:rPr>
              <a:t>https://huggingface.co/datasets/MMMU/MMMU</a:t>
            </a:r>
            <a:endParaRPr/>
          </a:p>
          <a:p>
            <a:pPr indent="0" lvl="0" marL="0" rtl="0" algn="l">
              <a:spcBef>
                <a:spcPts val="0"/>
              </a:spcBef>
              <a:spcAft>
                <a:spcPts val="0"/>
              </a:spcAft>
              <a:buNone/>
            </a:pPr>
            <a:r>
              <a:rPr lang="en-US" u="sng">
                <a:solidFill>
                  <a:schemeClr val="hlink"/>
                </a:solidFill>
                <a:hlinkClick r:id="rId4"/>
              </a:rPr>
              <a:t>https://huggingface.co/datasets/HuggingFaceFV/finevideo</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5"/>
              </a:rPr>
              <a:t>https://huggingface.co/docs/transformers/en/model_doc/siglip</a:t>
            </a:r>
            <a:endParaRPr/>
          </a:p>
          <a:p>
            <a:pPr indent="0" lvl="0" marL="0" rtl="0" algn="l">
              <a:spcBef>
                <a:spcPts val="0"/>
              </a:spcBef>
              <a:spcAft>
                <a:spcPts val="0"/>
              </a:spcAft>
              <a:buNone/>
            </a:pPr>
            <a:r>
              <a:rPr lang="en-US" u="sng">
                <a:solidFill>
                  <a:schemeClr val="hlink"/>
                </a:solidFill>
                <a:hlinkClick r:id="rId6"/>
              </a:rPr>
              <a:t>https://huggingface.co/collections/OpenGVLab/internvideo2</a:t>
            </a:r>
            <a:endParaRPr/>
          </a:p>
          <a:p>
            <a:pPr indent="0" lvl="0" marL="0" rtl="0" algn="l">
              <a:spcBef>
                <a:spcPts val="0"/>
              </a:spcBef>
              <a:spcAft>
                <a:spcPts val="0"/>
              </a:spcAft>
              <a:buNone/>
            </a:pPr>
            <a:r>
              <a:rPr lang="en-US" u="sng">
                <a:solidFill>
                  <a:schemeClr val="hlink"/>
                </a:solidFill>
                <a:hlinkClick r:id="rId7"/>
              </a:rPr>
              <a:t>https://huggingface.co/meta-llama/Meta-Llama-3-70B-Instruct</a:t>
            </a:r>
            <a:endParaRPr/>
          </a:p>
          <a:p>
            <a:pPr indent="0" lvl="0" marL="0" rtl="0" algn="l">
              <a:spcBef>
                <a:spcPts val="0"/>
              </a:spcBef>
              <a:spcAft>
                <a:spcPts val="0"/>
              </a:spcAft>
              <a:buNone/>
            </a:pPr>
            <a:r>
              <a:rPr lang="en-US" u="sng">
                <a:solidFill>
                  <a:schemeClr val="hlink"/>
                </a:solidFill>
                <a:hlinkClick r:id="rId8"/>
              </a:rPr>
              <a:t>https://huggingface.co/Qwen/Qwen2-72B-Instruct</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100"/>
              <a:t>To build the pipeline we've outlined, we need to address two main challenges: foundational feature extraction and complex reasoning. For the first part, populating our </a:t>
            </a:r>
            <a:r>
              <a:rPr b="1" lang="en-US" sz="1100"/>
              <a:t>Feature Bank</a:t>
            </a:r>
            <a:r>
              <a:rPr lang="en-US" sz="1100"/>
              <a:t>, we need to train robust multimodal encoders. I suggest using the </a:t>
            </a:r>
            <a:r>
              <a:rPr b="1" lang="en-US" sz="1100"/>
              <a:t>FineVideo (FV) dataset</a:t>
            </a:r>
            <a:r>
              <a:rPr lang="en-US" sz="1100"/>
              <a:t> for this. Training a model like </a:t>
            </a:r>
            <a:r>
              <a:rPr b="1" lang="en-US" sz="1100"/>
              <a:t>SigLIP</a:t>
            </a:r>
            <a:r>
              <a:rPr lang="en-US" sz="1100"/>
              <a:t> or </a:t>
            </a:r>
            <a:r>
              <a:rPr b="1" lang="en-US" sz="1100"/>
              <a:t>InternVideo2</a:t>
            </a:r>
            <a:r>
              <a:rPr lang="en-US" sz="1100"/>
              <a:t> on this data will provide the strong foundational capabilities for analyzing the 'visual, audio, and textual features' that the rest of the system will query.</a:t>
            </a:r>
            <a:endParaRPr sz="1100"/>
          </a:p>
          <a:p>
            <a:pPr indent="0" lvl="0" marL="0" rtl="0" algn="l">
              <a:lnSpc>
                <a:spcPct val="115000"/>
              </a:lnSpc>
              <a:spcBef>
                <a:spcPts val="1200"/>
              </a:spcBef>
              <a:spcAft>
                <a:spcPts val="0"/>
              </a:spcAft>
              <a:buClr>
                <a:schemeClr val="dk1"/>
              </a:buClr>
              <a:buSzPts val="1100"/>
              <a:buFont typeface="Arial"/>
              <a:buNone/>
            </a:pPr>
            <a:r>
              <a:rPr lang="en-US" sz="1100"/>
              <a:t>"Second, to power the </a:t>
            </a:r>
            <a:r>
              <a:rPr b="1" lang="en-US" sz="1100"/>
              <a:t>LLM Decomposer Agent</a:t>
            </a:r>
            <a:r>
              <a:rPr lang="en-US" sz="1100"/>
              <a:t> and, most importantly, to train the </a:t>
            </a:r>
            <a:r>
              <a:rPr b="1" lang="en-US" sz="1100"/>
              <a:t>Fusion Layer</a:t>
            </a:r>
            <a:r>
              <a:rPr lang="en-US" sz="1100"/>
              <a:t> and </a:t>
            </a:r>
            <a:r>
              <a:rPr b="1" lang="en-US" sz="1100"/>
              <a:t>Final Answer</a:t>
            </a:r>
            <a:r>
              <a:rPr lang="en-US" sz="1100"/>
              <a:t> generation, we need a dataset that emphasizes deliberate reasoning and structured explanations. For this, I suggest using the </a:t>
            </a:r>
            <a:r>
              <a:rPr b="1" lang="en-US" sz="1100"/>
              <a:t>MMMU benchmark</a:t>
            </a:r>
            <a:r>
              <a:rPr lang="en-US" sz="1100"/>
              <a:t>. Its value lies in its college-level tasks and, critically, its 'explanation' field. This field is perfect for supervising our model to not just </a:t>
            </a:r>
            <a:r>
              <a:rPr i="1" lang="en-US" sz="1100"/>
              <a:t>find</a:t>
            </a:r>
            <a:r>
              <a:rPr lang="en-US" sz="1100"/>
              <a:t> an answer, but to </a:t>
            </a:r>
            <a:r>
              <a:rPr i="1" lang="en-US" sz="1100"/>
              <a:t>synthesize</a:t>
            </a:r>
            <a:r>
              <a:rPr lang="en-US" sz="1100"/>
              <a:t> the multimodal cues from the Feature Bank and generate that coherent, evidence-backed response. We would use a powerful base model like </a:t>
            </a:r>
            <a:r>
              <a:rPr b="1" lang="en-US" sz="1100"/>
              <a:t>Llama 3 70B</a:t>
            </a:r>
            <a:r>
              <a:rPr lang="en-US" sz="1100"/>
              <a:t> or </a:t>
            </a:r>
            <a:r>
              <a:rPr b="1" lang="en-US" sz="1100"/>
              <a:t>Qwen2 72B Instruct</a:t>
            </a:r>
            <a:r>
              <a:rPr lang="en-US" sz="1100"/>
              <a:t> to handle this reasoning.</a:t>
            </a:r>
            <a:endParaRPr sz="1100"/>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
        <p:nvSpPr>
          <p:cNvPr id="1906" name="Google Shape;1906;g39edeb6686d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g39edeb6686d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2" name="Google Shape;1922;g39edeb6686d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To train our </a:t>
            </a:r>
            <a:r>
              <a:rPr b="1" lang="en-US" sz="1100"/>
              <a:t>LLM Decomposer Agent</a:t>
            </a:r>
            <a:r>
              <a:rPr lang="en-US" sz="1100"/>
              <a:t> effectively, we must teach it </a:t>
            </a:r>
            <a:r>
              <a:rPr i="1" lang="en-US" sz="1100"/>
              <a:t>how</a:t>
            </a:r>
            <a:r>
              <a:rPr lang="en-US" sz="1100"/>
              <a:t> to reason and break down problems. For this, I recommend using the </a:t>
            </a:r>
            <a:r>
              <a:rPr b="1" lang="en-US" sz="1100"/>
              <a:t>OpenO1-SFT dataset</a:t>
            </a:r>
            <a:r>
              <a:rPr lang="en-US" sz="1100"/>
              <a:t>. Its key advantage is that it's designed for Supervised Fine-Tuning (SFT) specifically for </a:t>
            </a:r>
            <a:r>
              <a:rPr b="1" lang="en-US" sz="1100"/>
              <a:t>Chain-of-Thought (CoT)</a:t>
            </a:r>
            <a:r>
              <a:rPr lang="en-US" sz="1100"/>
              <a:t> reasoning. By training on its structured responses, we can guide our agent to reliably decompose complex user questions into the logical, step-by-step subtask sequences our pipeline requires.</a:t>
            </a:r>
            <a:endParaRPr sz="1100"/>
          </a:p>
          <a:p>
            <a:pPr indent="0" lvl="0" marL="0" rtl="0" algn="l">
              <a:lnSpc>
                <a:spcPct val="115000"/>
              </a:lnSpc>
              <a:spcBef>
                <a:spcPts val="1200"/>
              </a:spcBef>
              <a:spcAft>
                <a:spcPts val="0"/>
              </a:spcAft>
              <a:buClr>
                <a:schemeClr val="dk1"/>
              </a:buClr>
              <a:buSzPts val="1100"/>
              <a:buFont typeface="Arial"/>
              <a:buNone/>
            </a:pPr>
            <a:r>
              <a:rPr lang="en-US" sz="1100"/>
              <a:t>For the underlying data infrastructure, especially for managing the large-scale video inputs that feed our Feature Bank, we need an efficient solution. I suggest adopting the </a:t>
            </a:r>
            <a:r>
              <a:rPr b="1" lang="en-US" sz="1100"/>
              <a:t>WebDataset format</a:t>
            </a:r>
            <a:r>
              <a:rPr lang="en-US" sz="1100"/>
              <a:t>. This format, which uses TAR archives to store files and their metadata, is highly </a:t>
            </a:r>
            <a:r>
              <a:rPr b="1" lang="en-US" sz="1100"/>
              <a:t>optimized for streaming</a:t>
            </a:r>
            <a:r>
              <a:rPr lang="en-US" sz="1100"/>
              <a:t>. This is a crucial technical choice, as it will allow our system to efficiently access and process the vast audio and visual features without the I/O bottlenecks of traditional data loading.</a:t>
            </a:r>
            <a:endParaRPr sz="1100"/>
          </a:p>
          <a:p>
            <a:pPr indent="0" lvl="0" marL="0" rtl="0" algn="l">
              <a:lnSpc>
                <a:spcPct val="115000"/>
              </a:lnSpc>
              <a:spcBef>
                <a:spcPts val="1200"/>
              </a:spcBef>
              <a:spcAft>
                <a:spcPts val="0"/>
              </a:spcAft>
              <a:buClr>
                <a:schemeClr val="dk1"/>
              </a:buClr>
              <a:buSzPts val="1100"/>
              <a:buFont typeface="Arial"/>
              <a:buNone/>
            </a:pPr>
            <a:r>
              <a:rPr lang="en-US" sz="1100"/>
              <a:t>Finally, for the </a:t>
            </a:r>
            <a:r>
              <a:rPr b="1" lang="en-US" sz="1100"/>
              <a:t>Fusion Layer</a:t>
            </a:r>
            <a:r>
              <a:rPr lang="en-US" sz="1100"/>
              <a:t>—the component that must intelligently synthesize all the retrieved evidence—we need a powerful, state-of-the-art vision-language model. My top suggestions are </a:t>
            </a:r>
            <a:r>
              <a:rPr b="1" lang="en-US" sz="1100"/>
              <a:t>Qwen2.5-VL</a:t>
            </a:r>
            <a:r>
              <a:rPr lang="en-US" sz="1100"/>
              <a:t> or </a:t>
            </a:r>
            <a:r>
              <a:rPr b="1" lang="en-US" sz="1100"/>
              <a:t>GLM-4.5V</a:t>
            </a:r>
            <a:r>
              <a:rPr lang="en-US" sz="1100"/>
              <a:t>. These models have demonstrated exceptional capabilities in understanding and reasoning across interleaved modalities, making them the ideal choice to align the temporal, spatial, and semantic cues from our Feature Bank and generate the final, coherent answer.</a:t>
            </a:r>
            <a:endParaRPr sz="1100"/>
          </a:p>
          <a:p>
            <a:pPr indent="0" lvl="0" marL="0" rtl="0" algn="l">
              <a:spcBef>
                <a:spcPts val="1200"/>
              </a:spcBef>
              <a:spcAft>
                <a:spcPts val="0"/>
              </a:spcAft>
              <a:buNone/>
            </a:pPr>
            <a:r>
              <a:t/>
            </a:r>
            <a:endParaRPr/>
          </a:p>
        </p:txBody>
      </p:sp>
      <p:sp>
        <p:nvSpPr>
          <p:cNvPr id="1923" name="Google Shape;1923;g39edeb6686d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39fc91e5e21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t>My workflow is a tiered, adaptive system designed to answer video questions with maximum efficiency, starting with the cheapest operations first.</a:t>
            </a:r>
            <a:endParaRPr sz="1100"/>
          </a:p>
          <a:p>
            <a:pPr indent="0" lvl="0" marL="0" rtl="0" algn="l">
              <a:lnSpc>
                <a:spcPct val="115000"/>
              </a:lnSpc>
              <a:spcBef>
                <a:spcPts val="1200"/>
              </a:spcBef>
              <a:spcAft>
                <a:spcPts val="0"/>
              </a:spcAft>
              <a:buClr>
                <a:schemeClr val="dk1"/>
              </a:buClr>
              <a:buSzPts val="1100"/>
              <a:buFont typeface="Arial"/>
              <a:buNone/>
            </a:pPr>
            <a:r>
              <a:rPr lang="en-US" sz="1100"/>
              <a:t>When I receive the </a:t>
            </a:r>
            <a:r>
              <a:rPr b="1" lang="en-US" sz="1100"/>
              <a:t>Video and Question</a:t>
            </a:r>
            <a:r>
              <a:rPr lang="en-US" sz="1100"/>
              <a:t>, </a:t>
            </a:r>
            <a:r>
              <a:rPr b="1" lang="en-US" sz="1100"/>
              <a:t>Step 1</a:t>
            </a:r>
            <a:r>
              <a:rPr lang="en-US" sz="1100"/>
              <a:t> begins with ingestion and what I call a 'Factoid Probe.' I preprocess the video using sparse sampling, like an </a:t>
            </a:r>
            <a:r>
              <a:rPr b="1" lang="en-US" sz="1100"/>
              <a:t>Atemporal Probe (ATP)</a:t>
            </a:r>
            <a:r>
              <a:rPr lang="en-US" sz="1100"/>
              <a:t>, to grab just a single, representative key frame. This Tier 1 execution is built for speed: I only extract spatial features from that single frame, deliberately losing the 'time sense' to get a fast, heuristic-based answer. A lightweight classifier then generates a prediction and a confidence score. My first </a:t>
            </a:r>
            <a:r>
              <a:rPr b="1" lang="en-US" sz="1100"/>
              <a:t>Router</a:t>
            </a:r>
            <a:r>
              <a:rPr lang="en-US" sz="1100"/>
              <a:t> checks this score: if confidence is high, above my $\tau_1$ threshold, I return this answer immediately for ultra-low latency. If not, the query is escalated.</a:t>
            </a:r>
            <a:endParaRPr sz="1100"/>
          </a:p>
          <a:p>
            <a:pPr indent="0" lvl="0" marL="0" rtl="0" algn="l">
              <a:lnSpc>
                <a:spcPct val="115000"/>
              </a:lnSpc>
              <a:spcBef>
                <a:spcPts val="1200"/>
              </a:spcBef>
              <a:spcAft>
                <a:spcPts val="0"/>
              </a:spcAft>
              <a:buClr>
                <a:schemeClr val="dk1"/>
              </a:buClr>
              <a:buSzPts val="1100"/>
              <a:buFont typeface="Arial"/>
              <a:buNone/>
            </a:pPr>
            <a:r>
              <a:rPr lang="en-US" sz="1100"/>
              <a:t>If that fast, static-frame approach fails, the query moves to </a:t>
            </a:r>
            <a:r>
              <a:rPr b="1" lang="en-US" sz="1100"/>
              <a:t>Step 2: Intermediate Analysis</a:t>
            </a:r>
            <a:r>
              <a:rPr lang="en-US" sz="1100"/>
              <a:t>. Here, I engage a </a:t>
            </a:r>
            <a:r>
              <a:rPr b="1" lang="en-US" sz="1100"/>
              <a:t>Light VLM</a:t>
            </a:r>
            <a:r>
              <a:rPr lang="en-US" sz="1100"/>
              <a:t> to incorporate the crucial temporal dimension. This model is efficient, likely an image backbone like CLIP that I've 'inflated' for video using lightweight </a:t>
            </a:r>
            <a:r>
              <a:rPr b="1" lang="en-US" sz="1100"/>
              <a:t>Adapters</a:t>
            </a:r>
            <a:r>
              <a:rPr lang="en-US" sz="1100"/>
              <a:t> (like a Tem-Adapter). These adapters are small but effective, allowing my model to capture the spatio-temporal features of a short clip—the motion and changes—without the cost of a heavy-duty model. This VLM produces a more refined prediction and a new confidence score. My second </a:t>
            </a:r>
            <a:r>
              <a:rPr b="1" lang="en-US" sz="1100"/>
              <a:t>Router</a:t>
            </a:r>
            <a:r>
              <a:rPr lang="en-US" sz="1100"/>
              <a:t> then decides: if the confidence is now in an acceptable, moderate range (above $\tau_2$), I return this refined answer. If the confidence is </a:t>
            </a:r>
            <a:r>
              <a:rPr i="1" lang="en-US" sz="1100"/>
              <a:t>still</a:t>
            </a:r>
            <a:r>
              <a:rPr lang="en-US" sz="1100"/>
              <a:t> too low, it signals the question requires deep, complex reasoning, so I escalate it a final time.</a:t>
            </a:r>
            <a:endParaRPr sz="1100"/>
          </a:p>
          <a:p>
            <a:pPr indent="0" lvl="0" marL="0" rtl="0" algn="l">
              <a:lnSpc>
                <a:spcPct val="115000"/>
              </a:lnSpc>
              <a:spcBef>
                <a:spcPts val="1200"/>
              </a:spcBef>
              <a:spcAft>
                <a:spcPts val="0"/>
              </a:spcAft>
              <a:buClr>
                <a:schemeClr val="dk1"/>
              </a:buClr>
              <a:buSzPts val="1100"/>
              <a:buFont typeface="Arial"/>
              <a:buNone/>
            </a:pPr>
            <a:r>
              <a:rPr lang="en-US" sz="1100"/>
              <a:t>This final escalation, </a:t>
            </a:r>
            <a:r>
              <a:rPr b="1" lang="en-US" sz="1100"/>
              <a:t>Step 3</a:t>
            </a:r>
            <a:r>
              <a:rPr lang="en-US" sz="1100"/>
              <a:t>, is for </a:t>
            </a:r>
            <a:r>
              <a:rPr b="1" lang="en-US" sz="1100"/>
              <a:t>Deep Reasoning</a:t>
            </a:r>
            <a:r>
              <a:rPr lang="en-US" sz="1100"/>
              <a:t>—the most complex questions about causality, long-term context, or open-ended inference. Here, I deploy my </a:t>
            </a:r>
            <a:r>
              <a:rPr b="1" lang="en-US" sz="1100"/>
              <a:t>Heavy VLM and Agentic systems</a:t>
            </a:r>
            <a:r>
              <a:rPr lang="en-US" sz="1100"/>
              <a:t>. This Tier 3 execution uses deep spatiotemporal extraction, like 3D convolutions, and long-term context models like </a:t>
            </a:r>
            <a:r>
              <a:rPr b="1" lang="en-US" sz="1100"/>
              <a:t>Slow Fusion</a:t>
            </a:r>
            <a:r>
              <a:rPr lang="en-US" sz="1100"/>
              <a:t> to understand complex events. If the question is open-ended, an </a:t>
            </a:r>
            <a:r>
              <a:rPr b="1" lang="en-US" sz="1100"/>
              <a:t>Agentic Framework</a:t>
            </a:r>
            <a:r>
              <a:rPr lang="en-US" sz="1100"/>
              <a:t> may take over, decomposing the query into subtasks to ensure the final answer is fully grounded in video evidence. This heavy-duty analysis produces the final, most accurate, and context-aware natural language response.</a:t>
            </a:r>
            <a:endParaRPr sz="1100"/>
          </a:p>
          <a:p>
            <a:pPr indent="0" lvl="0" marL="0" rtl="0" algn="l">
              <a:spcBef>
                <a:spcPts val="1200"/>
              </a:spcBef>
              <a:spcAft>
                <a:spcPts val="0"/>
              </a:spcAft>
              <a:buNone/>
            </a:pPr>
            <a:r>
              <a:t/>
            </a:r>
            <a:endParaRPr sz="1050">
              <a:solidFill>
                <a:srgbClr val="1B1B1C"/>
              </a:solidFill>
              <a:highlight>
                <a:srgbClr val="EDEFFA"/>
              </a:highlight>
            </a:endParaRPr>
          </a:p>
        </p:txBody>
      </p:sp>
      <p:sp>
        <p:nvSpPr>
          <p:cNvPr id="1943" name="Google Shape;1943;g39fc91e5e2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9fc91e5e21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Here’s a breakdown of the PEFT workflow I've structured. My entire approach is built on a </a:t>
            </a:r>
            <a:r>
              <a:rPr b="1" lang="en-US" sz="1100"/>
              <a:t>Dual-Encoder architecture</a:t>
            </a:r>
            <a:r>
              <a:rPr lang="en-US" sz="1100"/>
              <a:t>, which means I process the visual and language streams separately before aligning them for the final answer.</a:t>
            </a:r>
            <a:endParaRPr sz="1100"/>
          </a:p>
          <a:p>
            <a:pPr indent="0" lvl="0" marL="0" rtl="0" algn="l">
              <a:lnSpc>
                <a:spcPct val="115000"/>
              </a:lnSpc>
              <a:spcBef>
                <a:spcPts val="1200"/>
              </a:spcBef>
              <a:spcAft>
                <a:spcPts val="0"/>
              </a:spcAft>
              <a:buClr>
                <a:schemeClr val="dk1"/>
              </a:buClr>
              <a:buSzPts val="1100"/>
              <a:buFont typeface="Arial"/>
              <a:buNone/>
            </a:pPr>
            <a:r>
              <a:rPr lang="en-US" sz="1100"/>
              <a:t>It all begins with </a:t>
            </a:r>
            <a:r>
              <a:rPr b="1" lang="en-US" sz="1100"/>
              <a:t>Stage A: Image Model Inflation</a:t>
            </a:r>
            <a:r>
              <a:rPr lang="en-US" sz="1100"/>
              <a:t>. I decompose the video into individual frames and pass them into a </a:t>
            </a:r>
            <a:r>
              <a:rPr b="1" lang="en-US" sz="1100"/>
              <a:t>frozen Image Foundation Model</a:t>
            </a:r>
            <a:r>
              <a:rPr lang="en-US" sz="1100"/>
              <a:t>, like CLIP's Vision Transformer. Because the model is frozen, I'm leveraging its powerful pre-trained weights to extract high-quality </a:t>
            </a:r>
            <a:r>
              <a:rPr b="1" lang="en-US" sz="1100"/>
              <a:t>spatial features</a:t>
            </a:r>
            <a:r>
              <a:rPr lang="en-US" sz="1100"/>
              <a:t> from each frame. This gives me a robust visual base for all the temporal analysis that follows.</a:t>
            </a:r>
            <a:endParaRPr sz="1100"/>
          </a:p>
          <a:p>
            <a:pPr indent="0" lvl="0" marL="0" rtl="0" algn="l">
              <a:lnSpc>
                <a:spcPct val="115000"/>
              </a:lnSpc>
              <a:spcBef>
                <a:spcPts val="1200"/>
              </a:spcBef>
              <a:spcAft>
                <a:spcPts val="0"/>
              </a:spcAft>
              <a:buClr>
                <a:schemeClr val="dk1"/>
              </a:buClr>
              <a:buSzPts val="1100"/>
              <a:buFont typeface="Arial"/>
              <a:buNone/>
            </a:pPr>
            <a:r>
              <a:rPr lang="en-US" sz="1100"/>
              <a:t>Next, in </a:t>
            </a:r>
            <a:r>
              <a:rPr b="1" lang="en-US" sz="1100"/>
              <a:t>Stage B, I perform Temporal Adaptation</a:t>
            </a:r>
            <a:r>
              <a:rPr lang="en-US" sz="1100"/>
              <a:t>. Those static spatial features don't understand motion, so I insert </a:t>
            </a:r>
            <a:r>
              <a:rPr b="1" lang="en-US" sz="1100"/>
              <a:t>lightweight adapter layers</a:t>
            </a:r>
            <a:r>
              <a:rPr lang="en-US" sz="1100"/>
              <a:t> (like a Tem-Adapter) into the frozen backbone. These small, trainable adapters are the key. They are trained to capture the dynamic changes and temporal relationships </a:t>
            </a:r>
            <a:r>
              <a:rPr i="1" lang="en-US" sz="1100"/>
              <a:t>between</a:t>
            </a:r>
            <a:r>
              <a:rPr lang="en-US" sz="1100"/>
              <a:t> the frames. This step is what bridges the gap from static images to video, producing the </a:t>
            </a:r>
            <a:r>
              <a:rPr b="1" lang="en-US" sz="1100"/>
              <a:t>spatiotemporal features</a:t>
            </a:r>
            <a:r>
              <a:rPr lang="en-US" sz="1100"/>
              <a:t> I need.</a:t>
            </a:r>
            <a:endParaRPr sz="1100"/>
          </a:p>
          <a:p>
            <a:pPr indent="0" lvl="0" marL="0" rtl="0" algn="l">
              <a:lnSpc>
                <a:spcPct val="115000"/>
              </a:lnSpc>
              <a:spcBef>
                <a:spcPts val="1200"/>
              </a:spcBef>
              <a:spcAft>
                <a:spcPts val="0"/>
              </a:spcAft>
              <a:buClr>
                <a:schemeClr val="dk1"/>
              </a:buClr>
              <a:buSzPts val="1100"/>
              <a:buFont typeface="Arial"/>
              <a:buNone/>
            </a:pPr>
            <a:r>
              <a:rPr lang="en-US" sz="1100"/>
              <a:t>While the video is being processed, my workflow handles the question in </a:t>
            </a:r>
            <a:r>
              <a:rPr b="1" lang="en-US" sz="1100"/>
              <a:t>Stage C: Question Context Integration</a:t>
            </a:r>
            <a:r>
              <a:rPr lang="en-US" sz="1100"/>
              <a:t>. I take the tokenized question and feed it into its own </a:t>
            </a:r>
            <a:r>
              <a:rPr b="1" lang="en-US" sz="1100"/>
              <a:t>frozen text encoder</a:t>
            </a:r>
            <a:r>
              <a:rPr lang="en-US" sz="1100"/>
              <a:t>. Here, I apply </a:t>
            </a:r>
            <a:r>
              <a:rPr b="1" lang="en-US" sz="1100"/>
              <a:t>prompt-tuning</a:t>
            </a:r>
            <a:r>
              <a:rPr lang="en-US" sz="1100"/>
              <a:t>, introducing a small set of trainable parameters at the input. These prompts act as specific instructions, guiding the frozen text model to align its output with the VQA task and the video's context, resulting in </a:t>
            </a:r>
            <a:r>
              <a:rPr b="1" lang="en-US" sz="1100"/>
              <a:t>aligned textual embeddings</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lang="en-US" sz="1100"/>
              <a:t>A crucial part of my design is </a:t>
            </a:r>
            <a:r>
              <a:rPr b="1" lang="en-US" sz="1100"/>
              <a:t>Stage D: Efficiency Enhancement</a:t>
            </a:r>
            <a:r>
              <a:rPr lang="en-US" sz="1100"/>
              <a:t>. To handle the high computational cost of video, I don't process every single frame. My workflow integrates input reduction strategies, such as sparse sampling or the </a:t>
            </a:r>
            <a:r>
              <a:rPr b="1" lang="en-US" sz="1100"/>
              <a:t>Atemporal Probe (ATP)</a:t>
            </a:r>
            <a:r>
              <a:rPr lang="en-US" sz="1100"/>
              <a:t>. This ATP technique is very effective, as it selects just a single, highly informative key frame to represent the video, drastically reducing the computational load while preserving performance.</a:t>
            </a:r>
            <a:endParaRPr sz="1100"/>
          </a:p>
          <a:p>
            <a:pPr indent="0" lvl="0" marL="0" rtl="0" algn="l">
              <a:lnSpc>
                <a:spcPct val="115000"/>
              </a:lnSpc>
              <a:spcBef>
                <a:spcPts val="1200"/>
              </a:spcBef>
              <a:spcAft>
                <a:spcPts val="0"/>
              </a:spcAft>
              <a:buClr>
                <a:schemeClr val="dk1"/>
              </a:buClr>
              <a:buSzPts val="1100"/>
              <a:buFont typeface="Arial"/>
              <a:buNone/>
            </a:pPr>
            <a:r>
              <a:rPr lang="en-US" sz="1100"/>
              <a:t>Finally, I have the </a:t>
            </a:r>
            <a:r>
              <a:rPr b="1" lang="en-US" sz="1100"/>
              <a:t>Final Output Generation</a:t>
            </a:r>
            <a:r>
              <a:rPr lang="en-US" sz="1100"/>
              <a:t> stage. Here, the </a:t>
            </a:r>
            <a:r>
              <a:rPr b="1" lang="en-US" sz="1100"/>
              <a:t>spatiotemporal features</a:t>
            </a:r>
            <a:r>
              <a:rPr lang="en-US" sz="1100"/>
              <a:t> from the video path and the </a:t>
            </a:r>
            <a:r>
              <a:rPr b="1" lang="en-US" sz="1100"/>
              <a:t>aligned textual embeddings</a:t>
            </a:r>
            <a:r>
              <a:rPr lang="en-US" sz="1100"/>
              <a:t> from the question path are combined. I use a </a:t>
            </a:r>
            <a:r>
              <a:rPr b="1" lang="en-US" sz="1100"/>
              <a:t>late fusion</a:t>
            </a:r>
            <a:r>
              <a:rPr lang="en-US" sz="1100"/>
              <a:t> strategy, often with an aggregation model like NetVLAD, to merge these two streams into a single, compact feature set. This final, unified representation, which now understands both the video and the question, is passed to a simple classification head to generate the final </a:t>
            </a:r>
            <a:r>
              <a:rPr b="1" lang="en-US" sz="1100"/>
              <a:t>natural language answer</a:t>
            </a:r>
            <a:r>
              <a:rPr lang="en-US" sz="1100"/>
              <a:t>.</a:t>
            </a:r>
            <a:endParaRPr sz="1100"/>
          </a:p>
          <a:p>
            <a:pPr indent="0" lvl="0" marL="0" rtl="0" algn="l">
              <a:spcBef>
                <a:spcPts val="1200"/>
              </a:spcBef>
              <a:spcAft>
                <a:spcPts val="0"/>
              </a:spcAft>
              <a:buNone/>
            </a:pPr>
            <a:r>
              <a:t/>
            </a:r>
            <a:endParaRPr sz="1050">
              <a:solidFill>
                <a:srgbClr val="1B1B1C"/>
              </a:solidFill>
              <a:highlight>
                <a:srgbClr val="EDEFFA"/>
              </a:highlight>
            </a:endParaRPr>
          </a:p>
        </p:txBody>
      </p:sp>
      <p:sp>
        <p:nvSpPr>
          <p:cNvPr id="1957" name="Google Shape;1957;g39fc91e5e21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39edeb6686d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39edeb6686d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1" name="Google Shape;1971;g39edeb6686d_0_1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g39e69710cb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7" name="Google Shape;1977;g39e69710cb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8" name="Google Shape;1978;g39e69710cb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g394f5161039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4" name="Google Shape;1984;g394f5161039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5" name="Google Shape;1985;g394f5161039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39d7fe7c77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39d7fe7c77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Hi, today I'll present my findings from a benchmark I ran comparing the default FIFO (First-In, First-Out) scheduler against a custom SPF (Shortest Processing First) policy I implemented. The goal was to understand the trade-offs in LLM serving performance.</a:t>
            </a:r>
            <a:endParaRPr/>
          </a:p>
        </p:txBody>
      </p:sp>
      <p:sp>
        <p:nvSpPr>
          <p:cNvPr id="1994" name="Google Shape;1994;g39d7fe7c77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9d7fe7c77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0" name="Google Shape;2000;g39d7fe7c77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I expected, the SPF scheduler achieved a higher overall throughput, processing 4.76 requests per second compared to FIFO's 4.68. This shows that prioritizing short, easy jobs keeps the GPU busier and increases overall system efficiency.</a:t>
            </a:r>
            <a:endParaRPr/>
          </a:p>
          <a:p>
            <a:pPr indent="0" lvl="0" marL="0" rtl="0" algn="l">
              <a:spcBef>
                <a:spcPts val="0"/>
              </a:spcBef>
              <a:spcAft>
                <a:spcPts val="0"/>
              </a:spcAft>
              <a:buNone/>
            </a:pPr>
            <a:r>
              <a:t/>
            </a:r>
            <a:endParaRPr/>
          </a:p>
        </p:txBody>
      </p:sp>
      <p:sp>
        <p:nvSpPr>
          <p:cNvPr id="2001" name="Google Shape;2001;g39d7fe7c776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g38d7132e677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5" name="Google Shape;2015;g38d7132e677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However, this throughput gain came at a significant cost. For my analysis, I focused on TTFT, or Time to First Token. Which is the total delay from when a user sends a prompt to when they see the first token of the response. I'm measuring this as the entire latency because it includes both Queuing Time which is the time spent waiting for its turn, or Prefill Time which is  the actual GPU compute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my results show, the latency cost of SPF is severe. The P99 TTFT—which, represents the worst 1% of user experiences—was 9,260 milliseconds for FIFO. But when I switched to SPF, this P99 skyrocketed to 10,471 milliseconds, almost 10.5 seconds. This probably also dragged the Mean TTFT up significantly, to 2350ms for SPF, while FIFO's mean was much lower at 2122ms.</a:t>
            </a:r>
            <a:endParaRPr/>
          </a:p>
          <a:p>
            <a:pPr indent="0" lvl="0" marL="0" rtl="0" algn="l">
              <a:spcBef>
                <a:spcPts val="0"/>
              </a:spcBef>
              <a:spcAft>
                <a:spcPts val="0"/>
              </a:spcAft>
              <a:buNone/>
            </a:pPr>
            <a:r>
              <a:rPr lang="en-US"/>
              <a:t>As you can see on the scatter plot explains why this is happening. The "Outlier Location" for SPF shows that the worst latencies were clustered at short prompt lengths. I think this is because of Starvation: even short, easy-to-process requests were getting stuck in the queue, waiting indefinitely while the SPF logic continually prioritized other short tasks that arrived later. In contrast, FIFO's simple policy of processing by arrival order prevents this long-term starvation, which is why its worst-case delay was much more controlled.</a:t>
            </a:r>
            <a:endParaRPr/>
          </a:p>
          <a:p>
            <a:pPr indent="0" lvl="0" marL="0" rtl="0" algn="l">
              <a:spcBef>
                <a:spcPts val="0"/>
              </a:spcBef>
              <a:spcAft>
                <a:spcPts val="0"/>
              </a:spcAft>
              <a:buNone/>
            </a:pPr>
            <a:r>
              <a:t/>
            </a:r>
            <a:endParaRPr/>
          </a:p>
        </p:txBody>
      </p:sp>
      <p:sp>
        <p:nvSpPr>
          <p:cNvPr id="2016" name="Google Shape;2016;g38d7132e677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g394f5161039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1" name="Google Shape;2031;g394f5161039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me to the core trade-off. My implementation of SPF proved it's a throughput optimizer. By prioritizing the shortest prefill workloads, it maximizes resource utilization and clears easy jobs, which is how I saw it achieve that higher request throughput. However, as I saw in the P99 data, this policy compromises the user experience for the "unlucky" few, creating the starvation effect, leading to that 10-second tail latency.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other hand, the default FIFO policy acts as a latency stabilizer. It ensures a more predictable and fair waiting experience.It had a slightly better Median TTFT (886ms vs. SPF's 904ms), meaning the typical user experience is actually better. I think this is because FIFO just processes requests as they arrive, while SPF has a small overhead from constantly sorting the queue. By sticking to its simple arrival order, FIFO limits the maximum time any request can be delayed. However FIFO's has a con which is the Head-of-Line (HoL) Blocking—where a single long request can hold up all subsequent short ones—but the benchmark shows that this is a much more controlled and predictable than the severe, indefinite starvation I saw with SPF.</a:t>
            </a:r>
            <a:endParaRPr/>
          </a:p>
        </p:txBody>
      </p:sp>
      <p:sp>
        <p:nvSpPr>
          <p:cNvPr id="2032" name="Google Shape;2032;g394f5161039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394f5161039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0" name="Google Shape;2050;g394f5161039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conclusion, SPF is a good policy if your only goal is maximizing overall job completion rate, making it suitable for Batch or Offline Processing where individual latency is not critical. However, for any interactive application like a chatbot, FIFO is the superior choice. It provides a more stable and fair experience for all users by minimizing the chance of extreme latency outliers.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what I did is,I modified the vLLM scheduler directly in the scheduler.py file to sort the waiting queue by prompt length, implementing the SPF policy. I then benchmarked both SPF and FIFO using a client script simulating 200 concurrent users sending a total of 1024 requests.</a:t>
            </a:r>
            <a:endParaRPr/>
          </a:p>
        </p:txBody>
      </p:sp>
      <p:sp>
        <p:nvSpPr>
          <p:cNvPr id="2051" name="Google Shape;2051;g394f5161039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6" name="Shape 2066"/>
        <p:cNvGrpSpPr/>
        <p:nvPr/>
      </p:nvGrpSpPr>
      <p:grpSpPr>
        <a:xfrm>
          <a:off x="0" y="0"/>
          <a:ext cx="0" cy="0"/>
          <a:chOff x="0" y="0"/>
          <a:chExt cx="0" cy="0"/>
        </a:xfrm>
      </p:grpSpPr>
      <p:sp>
        <p:nvSpPr>
          <p:cNvPr id="2067" name="Google Shape;2067;g39b98479d51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8" name="Google Shape;2068;g39b98479d51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9" name="Google Shape;2069;g39b98479d51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g394f18239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5" name="Google Shape;2075;g394f18239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6" name="Google Shape;2076;g394f182390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90" name="Google Shape;209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7" name="Google Shape;20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3" name="Google Shape;2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8" name="Shape 2128"/>
        <p:cNvGrpSpPr/>
        <p:nvPr/>
      </p:nvGrpSpPr>
      <p:grpSpPr>
        <a:xfrm>
          <a:off x="0" y="0"/>
          <a:ext cx="0" cy="0"/>
          <a:chOff x="0" y="0"/>
          <a:chExt cx="0" cy="0"/>
        </a:xfrm>
      </p:grpSpPr>
      <p:sp>
        <p:nvSpPr>
          <p:cNvPr id="2129" name="Google Shape;2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0" name="Google Shape;2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1" name="Google Shape;2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5" name="Google Shape;2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6" name="Google Shape;21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0" name="Google Shape;2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6" name="Google Shape;21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2" name="Google Shape;2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3" name="Google Shape;2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8" name="Google Shape;2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7" name="Shape 27"/>
        <p:cNvGrpSpPr/>
        <p:nvPr/>
      </p:nvGrpSpPr>
      <p:grpSpPr>
        <a:xfrm>
          <a:off x="0" y="0"/>
          <a:ext cx="0" cy="0"/>
          <a:chOff x="0" y="0"/>
          <a:chExt cx="0" cy="0"/>
        </a:xfrm>
      </p:grpSpPr>
      <p:sp>
        <p:nvSpPr>
          <p:cNvPr id="28" name="Google Shape;2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31" name="Shape 31"/>
        <p:cNvGrpSpPr/>
        <p:nvPr/>
      </p:nvGrpSpPr>
      <p:grpSpPr>
        <a:xfrm>
          <a:off x="0" y="0"/>
          <a:ext cx="0" cy="0"/>
          <a:chOff x="0" y="0"/>
          <a:chExt cx="0" cy="0"/>
        </a:xfrm>
      </p:grpSpPr>
      <p:sp>
        <p:nvSpPr>
          <p:cNvPr id="32" name="Google Shape;32;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4" name="Google Shape;3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44" name="Shape 44"/>
        <p:cNvGrpSpPr/>
        <p:nvPr/>
      </p:nvGrpSpPr>
      <p:grpSpPr>
        <a:xfrm>
          <a:off x="0" y="0"/>
          <a:ext cx="0" cy="0"/>
          <a:chOff x="0" y="0"/>
          <a:chExt cx="0" cy="0"/>
        </a:xfrm>
      </p:grpSpPr>
      <p:sp>
        <p:nvSpPr>
          <p:cNvPr id="45" name="Google Shape;45;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53" name="Shape 53"/>
        <p:cNvGrpSpPr/>
        <p:nvPr/>
      </p:nvGrpSpPr>
      <p:grpSpPr>
        <a:xfrm>
          <a:off x="0" y="0"/>
          <a:ext cx="0" cy="0"/>
          <a:chOff x="0" y="0"/>
          <a:chExt cx="0" cy="0"/>
        </a:xfrm>
      </p:grpSpPr>
      <p:sp>
        <p:nvSpPr>
          <p:cNvPr id="54" name="Google Shape;5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4"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arxiv.org/pdf/2507.01006" TargetMode="External"/><Relationship Id="rId4" Type="http://schemas.openxmlformats.org/officeDocument/2006/relationships/hyperlink" Target="https://docs.z.ai/guides/vlm/glm-4.6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huggingface.co/collections/Qwen/qwen3-vl" TargetMode="External"/><Relationship Id="rId4" Type="http://schemas.openxmlformats.org/officeDocument/2006/relationships/hyperlink" Target="https://huggingface.co/zai-org/GLM-4.6V" TargetMode="External"/><Relationship Id="rId5" Type="http://schemas.openxmlformats.org/officeDocument/2006/relationships/hyperlink" Target="https://huggingface.co/google/gemma-3-27b-it" TargetMode="External"/><Relationship Id="rId6" Type="http://schemas.openxmlformats.org/officeDocument/2006/relationships/hyperlink" Target="https://huggingface.co/deepseek-ai/DeepSeek-OC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huggingface.co/docs/transformers/en/model_doc/pixtral" TargetMode="External"/><Relationship Id="rId4" Type="http://schemas.openxmlformats.org/officeDocument/2006/relationships/hyperlink" Target="https://huggingface.co/allenai/Molmo-7B-D-092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huggingface.co/collections/X-Omni/x-omni-models" TargetMode="External"/><Relationship Id="rId4" Type="http://schemas.openxmlformats.org/officeDocument/2006/relationships/hyperlink" Target="https://huggingface.co/lijiang/Omni-Diffus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arxiv.org/pdf/2504.14489" TargetMode="External"/><Relationship Id="rId4" Type="http://schemas.openxmlformats.org/officeDocument/2006/relationships/hyperlink" Target="https://arxiv.org/pdf/2504.19516v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usenix.org/system/files/osdi24-shubha.pdf" TargetMode="External"/><Relationship Id="rId4" Type="http://schemas.openxmlformats.org/officeDocument/2006/relationships/hyperlink" Target="https://dl.acm.org/doi/10.1145/3627703.3629578" TargetMode="External"/><Relationship Id="rId5" Type="http://schemas.openxmlformats.org/officeDocument/2006/relationships/hyperlink" Target="https://arxiv.org/abs/2404.0201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arxiv.org/pdf/2504.14489" TargetMode="External"/><Relationship Id="rId4" Type="http://schemas.openxmlformats.org/officeDocument/2006/relationships/hyperlink" Target="https://arxiv.org/pdf/2504.19516v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hyperlink" Target="https://github.com/hyscale-lab/ai-commons/wiki/vLLM%E2%80%90Omni-Guid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huggingface.co/datasets/PolyAI/banking77"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6.png"/><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hyperlink" Target="https://huggingface.co/datasets/PolyAI/banking77"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hyperlink" Target="https://arxiv.org/pdf/2502.00937" TargetMode="External"/><Relationship Id="rId4" Type="http://schemas.openxmlformats.org/officeDocument/2006/relationships/image" Target="../media/image2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hyperlink" Target="https://arxiv.org/pdf/1910.10032" TargetMode="External"/><Relationship Id="rId4" Type="http://schemas.openxmlformats.org/officeDocument/2006/relationships/hyperlink" Target="https://arxiv.org/pdf/2502.20583"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4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s://github.com/alibaba/clusterdata" TargetMode="External"/><Relationship Id="rId4" Type="http://schemas.openxmlformats.org/officeDocument/2006/relationships/hyperlink" Target="https://github.com/google/cluster-data"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hyperlink" Target="https://github.com/jim-schwoebel/voice_datasets" TargetMode="External"/><Relationship Id="rId4" Type="http://schemas.openxmlformats.org/officeDocument/2006/relationships/hyperlink" Target="https://github.com/common-voice/common-voice" TargetMode="External"/><Relationship Id="rId9" Type="http://schemas.openxmlformats.org/officeDocument/2006/relationships/hyperlink" Target="https://huggingface.co/datasets/bhigy/buckeye_asr" TargetMode="External"/><Relationship Id="rId5" Type="http://schemas.openxmlformats.org/officeDocument/2006/relationships/hyperlink" Target="https://huggingface.co/datasets/google/fleurs" TargetMode="External"/><Relationship Id="rId6" Type="http://schemas.openxmlformats.org/officeDocument/2006/relationships/hyperlink" Target="https://www.openslr.org/94/" TargetMode="External"/><Relationship Id="rId7" Type="http://schemas.openxmlformats.org/officeDocument/2006/relationships/hyperlink" Target="https://huggingface.co/datasets/talkbank/callhome" TargetMode="External"/><Relationship Id="rId8" Type="http://schemas.openxmlformats.org/officeDocument/2006/relationships/hyperlink" Target="https://huggingface.co/datasets/hhoangphuoc/switchboard"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hyperlink" Target="https://huggingface.co/datasets/abnerh/TORGO-database"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2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4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4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2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2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hyperlink" Target="https://github.com/elyhansee/nscc-guide/blob/main/nsccGuidance.md" TargetMode="External"/><Relationship Id="rId4" Type="http://schemas.openxmlformats.org/officeDocument/2006/relationships/image" Target="../media/image28.png"/><Relationship Id="rId5" Type="http://schemas.openxmlformats.org/officeDocument/2006/relationships/image" Target="../media/image2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35.png"/><Relationship Id="rId4" Type="http://schemas.openxmlformats.org/officeDocument/2006/relationships/hyperlink" Target="https://docs.vllm.ai/en/stable/features/multimodal_inputs/#audio-embeddings"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43.png"/><Relationship Id="rId4" Type="http://schemas.openxmlformats.org/officeDocument/2006/relationships/hyperlink" Target="https://github.com/QwenLM/Qwen2.5-Omni"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34.png"/><Relationship Id="rId4" Type="http://schemas.openxmlformats.org/officeDocument/2006/relationships/hyperlink" Target="https://github.com/asad-aali/splitwiser?tab=readme-ov-file" TargetMode="External"/><Relationship Id="rId5" Type="http://schemas.openxmlformats.org/officeDocument/2006/relationships/hyperlink" Target="https://www.arxiv.org/pdf/2505.03763"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hyperlink" Target="https://anakli.inf.ethz.ch/papers/orion_eurosys24.pdf" TargetMode="External"/><Relationship Id="rId4" Type="http://schemas.openxmlformats.org/officeDocument/2006/relationships/image" Target="../media/image2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3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3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hyperlink" Target="https://www.canva.com/design/DAG3YJNAP-A/EL_4Ap7KSGxZpyDlahI8Bg/edit?utm_content=DAG3YJNAP-A&amp;utm_campaign=designshare&amp;utm_medium=link2&amp;utm_source=sharebutton" TargetMode="External"/><Relationship Id="rId4" Type="http://schemas.openxmlformats.org/officeDocument/2006/relationships/image" Target="../media/image5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hyperlink" Target="https://huggingface.co/datasets/HuggingFaceFV/finevideo" TargetMode="External"/><Relationship Id="rId4" Type="http://schemas.openxmlformats.org/officeDocument/2006/relationships/hyperlink" Target="https://huggingface.co/docs/transformers/en/model_doc/siglip" TargetMode="External"/><Relationship Id="rId9" Type="http://schemas.openxmlformats.org/officeDocument/2006/relationships/hyperlink" Target="https://huggingface.co/Qwen/Qwen2-72B-Instruct" TargetMode="External"/><Relationship Id="rId5" Type="http://schemas.openxmlformats.org/officeDocument/2006/relationships/hyperlink" Target="https://huggingface.co/collections/OpenGVLab/internvideo2" TargetMode="External"/><Relationship Id="rId6" Type="http://schemas.openxmlformats.org/officeDocument/2006/relationships/hyperlink" Target="https://huggingface.co/datasets/MMMU/MMMU" TargetMode="External"/><Relationship Id="rId7" Type="http://schemas.openxmlformats.org/officeDocument/2006/relationships/hyperlink" Target="https://nlp.cs.unc.edu/data/jielei/tvqa/tvqa_public_html/download_tvqa_plus.html" TargetMode="External"/><Relationship Id="rId8" Type="http://schemas.openxmlformats.org/officeDocument/2006/relationships/hyperlink" Target="https://huggingface.co/meta-llama/Meta-Llama-3-70B-Instruct"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hyperlink" Target="https://huggingface.co/collections/Qwen/qwen25-vl" TargetMode="External"/><Relationship Id="rId4" Type="http://schemas.openxmlformats.org/officeDocument/2006/relationships/hyperlink" Target="https://huggingface.co/zai-org/GLM-4.5V"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hyperlink" Target="https://www.canva.com/design/DAG3YJNAP-A/EL_4Ap7KSGxZpyDlahI8Bg/edit?utm_content=DAG3YJNAP-A&amp;utm_campaign=designshare&amp;utm_medium=link2&amp;utm_source=sharebutton" TargetMode="External"/><Relationship Id="rId4" Type="http://schemas.openxmlformats.org/officeDocument/2006/relationships/image" Target="../media/image5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hyperlink" Target="https://www.canva.com/design/DAG3YJNAP-A/EL_4Ap7KSGxZpyDlahI8Bg/edit?utm_content=DAG3YJNAP-A&amp;utm_campaign=designshare&amp;utm_medium=link2&amp;utm_source=sharebutton" TargetMode="External"/><Relationship Id="rId4" Type="http://schemas.openxmlformats.org/officeDocument/2006/relationships/image" Target="../media/image4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3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47.png"/><Relationship Id="rId4" Type="http://schemas.openxmlformats.org/officeDocument/2006/relationships/image" Target="../media/image4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38.png"/><Relationship Id="rId4" Type="http://schemas.openxmlformats.org/officeDocument/2006/relationships/image" Target="../media/image4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hyperlink" Target="https://arxiv.org/abs/2309.06180" TargetMode="External"/><Relationship Id="rId4" Type="http://schemas.openxmlformats.org/officeDocument/2006/relationships/hyperlink" Target="https://arxiv.org/abs/2508.18298"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hyperlink" Target="https://www.youtube.com/watch?v=UdNocRPQS3Y" TargetMode="External"/><Relationship Id="rId4" Type="http://schemas.openxmlformats.org/officeDocument/2006/relationships/image" Target="../media/image39.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3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40.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37.png"/><Relationship Id="rId4" Type="http://schemas.openxmlformats.org/officeDocument/2006/relationships/image" Target="../media/image4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latin typeface="ADLaM Display"/>
                <a:ea typeface="ADLaM Display"/>
                <a:cs typeface="ADLaM Display"/>
                <a:sym typeface="ADLaM Display"/>
              </a:rPr>
              <a:t>Weekly Progress</a:t>
            </a:r>
            <a:endParaRPr>
              <a:latin typeface="ADLaM Display"/>
              <a:ea typeface="ADLaM Display"/>
              <a:cs typeface="ADLaM Display"/>
              <a:sym typeface="ADLaM Display"/>
            </a:endParaRPr>
          </a:p>
        </p:txBody>
      </p:sp>
      <p:sp>
        <p:nvSpPr>
          <p:cNvPr id="90" name="Google Shape;90;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d1b7cda4b1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Apr</a:t>
            </a:r>
            <a:r>
              <a:rPr lang="en-US">
                <a:solidFill>
                  <a:srgbClr val="FF0000"/>
                </a:solidFill>
                <a:latin typeface="ADLaM Display"/>
                <a:ea typeface="ADLaM Display"/>
                <a:cs typeface="ADLaM Display"/>
                <a:sym typeface="ADLaM Display"/>
              </a:rPr>
              <a:t> 7, 2026</a:t>
            </a:r>
            <a:endParaRPr>
              <a:solidFill>
                <a:srgbClr val="FF0000"/>
              </a:solidFill>
              <a:latin typeface="ADLaM Display"/>
              <a:ea typeface="ADLaM Display"/>
              <a:cs typeface="ADLaM Display"/>
              <a:sym typeface="ADLaM Display"/>
            </a:endParaRPr>
          </a:p>
        </p:txBody>
      </p:sp>
      <p:sp>
        <p:nvSpPr>
          <p:cNvPr id="96" name="Google Shape;96;g3d1b7cda4b1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cf80cc182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Mar 31, 2026</a:t>
            </a:r>
            <a:endParaRPr>
              <a:solidFill>
                <a:srgbClr val="FF0000"/>
              </a:solidFill>
              <a:latin typeface="ADLaM Display"/>
              <a:ea typeface="ADLaM Display"/>
              <a:cs typeface="ADLaM Display"/>
              <a:sym typeface="ADLaM Display"/>
            </a:endParaRPr>
          </a:p>
        </p:txBody>
      </p:sp>
      <p:sp>
        <p:nvSpPr>
          <p:cNvPr id="102" name="Google Shape;102;g3dcf80cc182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d31faef8da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109" name="Google Shape;109;g3d31faef8da_0_0"/>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work on research poster(due 31st March)</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shift from the voice agent to general omni model optimizing.( Work on the code Hongrui sent)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First understand how GLM work &lt;- search Qwen image</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find some models that can generate vision task and text tasks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look at omni models with diffusion components (GLM) understand resource requirements for LLM and diffusion models </a:t>
            </a:r>
            <a:endParaRPr sz="1900">
              <a:solidFill>
                <a:schemeClr val="dk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cb43a2435_0_0"/>
          <p:cNvSpPr txBox="1"/>
          <p:nvPr/>
        </p:nvSpPr>
        <p:spPr>
          <a:xfrm>
            <a:off x="685800" y="3792270"/>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General</a:t>
            </a:r>
            <a:endParaRPr sz="900"/>
          </a:p>
        </p:txBody>
      </p:sp>
      <p:sp>
        <p:nvSpPr>
          <p:cNvPr id="119" name="Google Shape;119;g3dcb43a2435_0_0"/>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120" name="Google Shape;120;g3dcb43a2435_0_0"/>
          <p:cNvGrpSpPr/>
          <p:nvPr/>
        </p:nvGrpSpPr>
        <p:grpSpPr>
          <a:xfrm rot="-5400000">
            <a:off x="3451093" y="2718650"/>
            <a:ext cx="396240" cy="5955427"/>
            <a:chOff x="0" y="-47625"/>
            <a:chExt cx="660400" cy="9925711"/>
          </a:xfrm>
        </p:grpSpPr>
        <p:sp>
          <p:nvSpPr>
            <p:cNvPr id="121" name="Google Shape;121;g3dcb43a2435_0_0"/>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22" name="Google Shape;122;g3dcb43a2435_0_0"/>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23" name="Google Shape;123;g3dcb43a2435_0_0"/>
          <p:cNvSpPr txBox="1"/>
          <p:nvPr/>
        </p:nvSpPr>
        <p:spPr>
          <a:xfrm>
            <a:off x="685800" y="4860075"/>
            <a:ext cx="10820400" cy="4617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omni model optimizing</a:t>
            </a:r>
            <a:endParaRPr b="1" sz="3000">
              <a:solidFill>
                <a:srgbClr val="24314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g3dcb72643a8_0_291"/>
          <p:cNvGrpSpPr/>
          <p:nvPr/>
        </p:nvGrpSpPr>
        <p:grpSpPr>
          <a:xfrm>
            <a:off x="685800" y="1838306"/>
            <a:ext cx="10820186" cy="5020055"/>
            <a:chOff x="0" y="-47625"/>
            <a:chExt cx="4274726" cy="2214600"/>
          </a:xfrm>
        </p:grpSpPr>
        <p:sp>
          <p:nvSpPr>
            <p:cNvPr id="129" name="Google Shape;129;g3dcb72643a8_0_29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g3dcb72643a8_0_29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1" name="Google Shape;131;g3dcb72643a8_0_29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EXPERIMENT OVERVIEW</a:t>
            </a:r>
            <a:endParaRPr b="1" sz="2800">
              <a:solidFill>
                <a:srgbClr val="24314F"/>
              </a:solidFill>
            </a:endParaRPr>
          </a:p>
        </p:txBody>
      </p:sp>
      <p:grpSp>
        <p:nvGrpSpPr>
          <p:cNvPr id="132" name="Google Shape;132;g3dcb72643a8_0_291"/>
          <p:cNvGrpSpPr/>
          <p:nvPr/>
        </p:nvGrpSpPr>
        <p:grpSpPr>
          <a:xfrm>
            <a:off x="1076700" y="2113824"/>
            <a:ext cx="10093130" cy="5020103"/>
            <a:chOff x="0" y="-47625"/>
            <a:chExt cx="1808189" cy="1790400"/>
          </a:xfrm>
        </p:grpSpPr>
        <p:sp>
          <p:nvSpPr>
            <p:cNvPr id="133" name="Google Shape;133;g3dcb72643a8_0_29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4" name="Google Shape;134;g3dcb72643a8_0_29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5" name="Google Shape;135;g3dcb72643a8_0_29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6" name="Google Shape;136;g3dcb72643a8_0_291"/>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What does the code do?</a:t>
            </a:r>
            <a:endParaRPr b="1" sz="1600">
              <a:solidFill>
                <a:srgbClr val="24314F"/>
              </a:solidFill>
              <a:latin typeface="Inter"/>
              <a:ea typeface="Inter"/>
              <a:cs typeface="Inter"/>
              <a:sym typeface="Inter"/>
            </a:endParaRPr>
          </a:p>
        </p:txBody>
      </p:sp>
      <p:sp>
        <p:nvSpPr>
          <p:cNvPr id="137" name="Google Shape;137;g3dcb72643a8_0_291"/>
          <p:cNvSpPr txBox="1"/>
          <p:nvPr/>
        </p:nvSpPr>
        <p:spPr>
          <a:xfrm>
            <a:off x="1379950" y="2483324"/>
            <a:ext cx="9531300" cy="40278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Bash Orchestrator</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Launches the vLLM model server inside a Singularity container under 4 different GPU memory settings (60-90%), one at a time, then tears it down cleanly before the next run.</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Python Stress Tester</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Fires 200 text-to-speech requests at the live server with 16 concurrent threads, timing every single response. Aggregates results into throughput and latency metrics.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Result Aggregator</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Each run appends its metrics to a shared JSON file. The plotting script reads this and renders the comparison charts summarised in this presentation.</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1200"/>
              </a:spcAft>
              <a:buNone/>
            </a:pPr>
            <a:r>
              <a:t/>
            </a:r>
            <a:endParaRPr b="1" sz="1633">
              <a:solidFill>
                <a:srgbClr val="24314F"/>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grpSp>
        <p:nvGrpSpPr>
          <p:cNvPr id="143" name="Google Shape;143;g3dcb72643a8_0_543"/>
          <p:cNvGrpSpPr/>
          <p:nvPr/>
        </p:nvGrpSpPr>
        <p:grpSpPr>
          <a:xfrm>
            <a:off x="609600" y="1394200"/>
            <a:ext cx="5413086" cy="5463861"/>
            <a:chOff x="0" y="-47625"/>
            <a:chExt cx="4274726" cy="2214600"/>
          </a:xfrm>
        </p:grpSpPr>
        <p:sp>
          <p:nvSpPr>
            <p:cNvPr id="144" name="Google Shape;144;g3dcb72643a8_0_54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145" name="Google Shape;145;g3dcb72643a8_0_54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146" name="Google Shape;146;g3dcb72643a8_0_543"/>
          <p:cNvGrpSpPr/>
          <p:nvPr/>
        </p:nvGrpSpPr>
        <p:grpSpPr>
          <a:xfrm>
            <a:off x="798800" y="1636249"/>
            <a:ext cx="4965106" cy="5342375"/>
            <a:chOff x="0" y="-47625"/>
            <a:chExt cx="1808189" cy="1790400"/>
          </a:xfrm>
        </p:grpSpPr>
        <p:sp>
          <p:nvSpPr>
            <p:cNvPr id="147" name="Google Shape;147;g3dcb72643a8_0_54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48" name="Google Shape;148;g3dcb72643a8_0_54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149" name="Google Shape;149;g3dcb72643a8_0_543"/>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What was varied vs. fixed</a:t>
            </a:r>
            <a:endParaRPr b="1" sz="2800">
              <a:solidFill>
                <a:srgbClr val="24314F"/>
              </a:solidFill>
            </a:endParaRPr>
          </a:p>
        </p:txBody>
      </p:sp>
      <p:sp>
        <p:nvSpPr>
          <p:cNvPr id="150" name="Google Shape;150;g3dcb72643a8_0_543"/>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t/>
            </a:r>
            <a:endParaRPr i="0" sz="1600" u="none" cap="none" strike="noStrike">
              <a:solidFill>
                <a:srgbClr val="24314F"/>
              </a:solidFill>
            </a:endParaRPr>
          </a:p>
        </p:txBody>
      </p:sp>
      <p:grpSp>
        <p:nvGrpSpPr>
          <p:cNvPr id="151" name="Google Shape;151;g3dcb72643a8_0_543"/>
          <p:cNvGrpSpPr/>
          <p:nvPr/>
        </p:nvGrpSpPr>
        <p:grpSpPr>
          <a:xfrm>
            <a:off x="6280661" y="1401381"/>
            <a:ext cx="5413086" cy="5463861"/>
            <a:chOff x="0" y="-47625"/>
            <a:chExt cx="4274726" cy="2214600"/>
          </a:xfrm>
        </p:grpSpPr>
        <p:sp>
          <p:nvSpPr>
            <p:cNvPr id="152" name="Google Shape;152;g3dcb72643a8_0_54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153" name="Google Shape;153;g3dcb72643a8_0_54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154" name="Google Shape;154;g3dcb72643a8_0_543"/>
          <p:cNvGrpSpPr/>
          <p:nvPr/>
        </p:nvGrpSpPr>
        <p:grpSpPr>
          <a:xfrm>
            <a:off x="6469861" y="1740231"/>
            <a:ext cx="4965106" cy="5245514"/>
            <a:chOff x="0" y="-47625"/>
            <a:chExt cx="1808189" cy="1790400"/>
          </a:xfrm>
        </p:grpSpPr>
        <p:sp>
          <p:nvSpPr>
            <p:cNvPr id="155" name="Google Shape;155;g3dcb72643a8_0_54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56" name="Google Shape;156;g3dcb72643a8_0_54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157" name="Google Shape;157;g3dcb72643a8_0_543"/>
          <p:cNvSpPr/>
          <p:nvPr/>
        </p:nvSpPr>
        <p:spPr>
          <a:xfrm>
            <a:off x="935915" y="1932679"/>
            <a:ext cx="49989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D2137"/>
              </a:buClr>
              <a:buSzPts val="1600"/>
              <a:buFont typeface="Calibri"/>
              <a:buNone/>
            </a:pPr>
            <a:r>
              <a:rPr b="1" i="0" lang="en-US" sz="1600" u="none" cap="none" strike="noStrike">
                <a:solidFill>
                  <a:srgbClr val="0D2137"/>
                </a:solidFill>
              </a:rPr>
              <a:t>🔄  WHAT WAS VARIED</a:t>
            </a:r>
            <a:endParaRPr i="0" sz="1600" u="none" cap="none" strike="noStrike">
              <a:solidFill>
                <a:schemeClr val="dk1"/>
              </a:solidFill>
            </a:endParaRPr>
          </a:p>
        </p:txBody>
      </p:sp>
      <p:sp>
        <p:nvSpPr>
          <p:cNvPr id="158" name="Google Shape;158;g3dcb72643a8_0_543"/>
          <p:cNvSpPr/>
          <p:nvPr/>
        </p:nvSpPr>
        <p:spPr>
          <a:xfrm>
            <a:off x="996875" y="2542279"/>
            <a:ext cx="4876800" cy="426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28090"/>
              </a:buClr>
              <a:buSzPts val="1500"/>
              <a:buFont typeface="Calibri"/>
              <a:buNone/>
            </a:pPr>
            <a:r>
              <a:rPr b="1" i="0" lang="en-US" sz="1600" u="none" cap="none" strike="noStrike">
                <a:solidFill>
                  <a:srgbClr val="028090"/>
                </a:solidFill>
              </a:rPr>
              <a:t>GPU Memory Utilisation</a:t>
            </a:r>
            <a:endParaRPr i="0" sz="1600" u="none" cap="none" strike="noStrike">
              <a:solidFill>
                <a:schemeClr val="dk1"/>
              </a:solidFill>
            </a:endParaRPr>
          </a:p>
        </p:txBody>
      </p:sp>
      <p:sp>
        <p:nvSpPr>
          <p:cNvPr id="159" name="Google Shape;159;g3dcb72643a8_0_543"/>
          <p:cNvSpPr/>
          <p:nvPr/>
        </p:nvSpPr>
        <p:spPr>
          <a:xfrm>
            <a:off x="935915" y="3029959"/>
            <a:ext cx="1048500" cy="68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1600" u="none" cap="none" strike="noStrike">
                <a:solidFill>
                  <a:schemeClr val="accent1"/>
                </a:solidFill>
                <a:highlight>
                  <a:srgbClr val="FFD166"/>
                </a:highlight>
              </a:rPr>
              <a:t>60%</a:t>
            </a:r>
            <a:endParaRPr i="0" sz="1600" u="none" cap="none" strike="noStrike">
              <a:solidFill>
                <a:schemeClr val="accent1"/>
              </a:solidFill>
              <a:highlight>
                <a:srgbClr val="FFD166"/>
              </a:highlight>
            </a:endParaRPr>
          </a:p>
        </p:txBody>
      </p:sp>
      <p:sp>
        <p:nvSpPr>
          <p:cNvPr id="160" name="Google Shape;160;g3dcb72643a8_0_543"/>
          <p:cNvSpPr/>
          <p:nvPr/>
        </p:nvSpPr>
        <p:spPr>
          <a:xfrm>
            <a:off x="2155115" y="3029959"/>
            <a:ext cx="1048500" cy="68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1600" u="none" cap="none" strike="noStrike">
                <a:solidFill>
                  <a:schemeClr val="accent1"/>
                </a:solidFill>
                <a:highlight>
                  <a:srgbClr val="F4CCCC"/>
                </a:highlight>
              </a:rPr>
              <a:t>70%</a:t>
            </a:r>
            <a:endParaRPr i="0" sz="1600" u="none" cap="none" strike="noStrike">
              <a:solidFill>
                <a:schemeClr val="accent1"/>
              </a:solidFill>
              <a:highlight>
                <a:srgbClr val="F4CCCC"/>
              </a:highlight>
            </a:endParaRPr>
          </a:p>
        </p:txBody>
      </p:sp>
      <p:sp>
        <p:nvSpPr>
          <p:cNvPr id="161" name="Google Shape;161;g3dcb72643a8_0_543"/>
          <p:cNvSpPr/>
          <p:nvPr/>
        </p:nvSpPr>
        <p:spPr>
          <a:xfrm>
            <a:off x="3374315" y="3029959"/>
            <a:ext cx="1048500" cy="68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1600" u="none" cap="none" strike="noStrike">
                <a:solidFill>
                  <a:schemeClr val="accent1"/>
                </a:solidFill>
                <a:highlight>
                  <a:srgbClr val="D9EAD3"/>
                </a:highlight>
              </a:rPr>
              <a:t>80%</a:t>
            </a:r>
            <a:endParaRPr i="0" sz="1600" u="none" cap="none" strike="noStrike">
              <a:solidFill>
                <a:schemeClr val="accent1"/>
              </a:solidFill>
              <a:highlight>
                <a:srgbClr val="D9EAD3"/>
              </a:highlight>
            </a:endParaRPr>
          </a:p>
        </p:txBody>
      </p:sp>
      <p:sp>
        <p:nvSpPr>
          <p:cNvPr id="162" name="Google Shape;162;g3dcb72643a8_0_543"/>
          <p:cNvSpPr/>
          <p:nvPr/>
        </p:nvSpPr>
        <p:spPr>
          <a:xfrm>
            <a:off x="4593515" y="3029959"/>
            <a:ext cx="1048500" cy="68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1600" u="none" cap="none" strike="noStrike">
                <a:solidFill>
                  <a:schemeClr val="accent1"/>
                </a:solidFill>
                <a:highlight>
                  <a:srgbClr val="C9DAF8"/>
                </a:highlight>
              </a:rPr>
              <a:t>90%</a:t>
            </a:r>
            <a:endParaRPr i="0" sz="1600" u="none" cap="none" strike="noStrike">
              <a:solidFill>
                <a:schemeClr val="accent1"/>
              </a:solidFill>
              <a:highlight>
                <a:srgbClr val="C9DAF8"/>
              </a:highlight>
            </a:endParaRPr>
          </a:p>
        </p:txBody>
      </p:sp>
      <p:sp>
        <p:nvSpPr>
          <p:cNvPr id="163" name="Google Shape;163;g3dcb72643a8_0_543"/>
          <p:cNvSpPr/>
          <p:nvPr/>
        </p:nvSpPr>
        <p:spPr>
          <a:xfrm>
            <a:off x="996875" y="3859015"/>
            <a:ext cx="4876800" cy="1219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475569"/>
              </a:buClr>
              <a:buSzPts val="1400"/>
              <a:buFont typeface="Calibri"/>
              <a:buNone/>
            </a:pPr>
            <a:r>
              <a:rPr i="0" lang="en-US" sz="1600" u="none" cap="none" strike="noStrike">
                <a:solidFill>
                  <a:srgbClr val="475569"/>
                </a:solidFill>
              </a:rPr>
              <a:t>Each setting ran independently on GPU 0 with a full server restart between runs to ensure a clean VRAM state.</a:t>
            </a:r>
            <a:endParaRPr i="0" sz="1600" u="none" cap="none" strike="noStrike">
              <a:solidFill>
                <a:schemeClr val="dk1"/>
              </a:solidFill>
            </a:endParaRPr>
          </a:p>
        </p:txBody>
      </p:sp>
      <p:sp>
        <p:nvSpPr>
          <p:cNvPr id="164" name="Google Shape;164;g3dcb72643a8_0_543"/>
          <p:cNvSpPr/>
          <p:nvPr/>
        </p:nvSpPr>
        <p:spPr>
          <a:xfrm>
            <a:off x="6666155" y="1932679"/>
            <a:ext cx="52425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D2137"/>
              </a:buClr>
              <a:buSzPts val="1600"/>
              <a:buFont typeface="Calibri"/>
              <a:buNone/>
            </a:pPr>
            <a:r>
              <a:rPr b="1" i="0" lang="en-US" sz="1600" u="none" cap="none" strike="noStrike">
                <a:solidFill>
                  <a:srgbClr val="0D2137"/>
                </a:solidFill>
              </a:rPr>
              <a:t>📌  WHAT WAS FIXED</a:t>
            </a:r>
            <a:endParaRPr i="0" sz="1600" u="none" cap="none" strike="noStrike">
              <a:solidFill>
                <a:schemeClr val="dk1"/>
              </a:solidFill>
            </a:endParaRPr>
          </a:p>
        </p:txBody>
      </p:sp>
      <p:sp>
        <p:nvSpPr>
          <p:cNvPr id="165" name="Google Shape;165;g3dcb72643a8_0_543"/>
          <p:cNvSpPr/>
          <p:nvPr/>
        </p:nvSpPr>
        <p:spPr>
          <a:xfrm>
            <a:off x="6666155" y="2566663"/>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Model</a:t>
            </a:r>
            <a:endParaRPr i="0" sz="1600" u="none" cap="none" strike="noStrike">
              <a:solidFill>
                <a:schemeClr val="dk1"/>
              </a:solidFill>
            </a:endParaRPr>
          </a:p>
        </p:txBody>
      </p:sp>
      <p:sp>
        <p:nvSpPr>
          <p:cNvPr id="166" name="Google Shape;166;g3dcb72643a8_0_543"/>
          <p:cNvSpPr/>
          <p:nvPr/>
        </p:nvSpPr>
        <p:spPr>
          <a:xfrm>
            <a:off x="8580299" y="2566663"/>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Qwen/Qwen2.5-Omni-7B</a:t>
            </a:r>
            <a:endParaRPr i="0" sz="1600" u="none" cap="none" strike="noStrike">
              <a:solidFill>
                <a:schemeClr val="dk1"/>
              </a:solidFill>
            </a:endParaRPr>
          </a:p>
        </p:txBody>
      </p:sp>
      <p:sp>
        <p:nvSpPr>
          <p:cNvPr id="167" name="Google Shape;167;g3dcb72643a8_0_543"/>
          <p:cNvSpPr/>
          <p:nvPr/>
        </p:nvSpPr>
        <p:spPr>
          <a:xfrm>
            <a:off x="6666155" y="3127495"/>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GPU</a:t>
            </a:r>
            <a:endParaRPr i="0" sz="1600" u="none" cap="none" strike="noStrike">
              <a:solidFill>
                <a:schemeClr val="dk1"/>
              </a:solidFill>
            </a:endParaRPr>
          </a:p>
        </p:txBody>
      </p:sp>
      <p:sp>
        <p:nvSpPr>
          <p:cNvPr id="168" name="Google Shape;168;g3dcb72643a8_0_543"/>
          <p:cNvSpPr/>
          <p:nvPr/>
        </p:nvSpPr>
        <p:spPr>
          <a:xfrm>
            <a:off x="8580299" y="3127495"/>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Single GPU (GPU 0)</a:t>
            </a:r>
            <a:endParaRPr i="0" sz="1600" u="none" cap="none" strike="noStrike">
              <a:solidFill>
                <a:schemeClr val="dk1"/>
              </a:solidFill>
            </a:endParaRPr>
          </a:p>
        </p:txBody>
      </p:sp>
      <p:sp>
        <p:nvSpPr>
          <p:cNvPr id="169" name="Google Shape;169;g3dcb72643a8_0_543"/>
          <p:cNvSpPr/>
          <p:nvPr/>
        </p:nvSpPr>
        <p:spPr>
          <a:xfrm>
            <a:off x="6666155" y="3688327"/>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Tensor Parallel</a:t>
            </a:r>
            <a:endParaRPr i="0" sz="1600" u="none" cap="none" strike="noStrike">
              <a:solidFill>
                <a:schemeClr val="dk1"/>
              </a:solidFill>
            </a:endParaRPr>
          </a:p>
        </p:txBody>
      </p:sp>
      <p:sp>
        <p:nvSpPr>
          <p:cNvPr id="170" name="Google Shape;170;g3dcb72643a8_0_543"/>
          <p:cNvSpPr/>
          <p:nvPr/>
        </p:nvSpPr>
        <p:spPr>
          <a:xfrm>
            <a:off x="8580299" y="3688327"/>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tp = 1</a:t>
            </a:r>
            <a:endParaRPr i="0" sz="1600" u="none" cap="none" strike="noStrike">
              <a:solidFill>
                <a:schemeClr val="dk1"/>
              </a:solidFill>
            </a:endParaRPr>
          </a:p>
        </p:txBody>
      </p:sp>
      <p:sp>
        <p:nvSpPr>
          <p:cNvPr id="171" name="Google Shape;171;g3dcb72643a8_0_543"/>
          <p:cNvSpPr/>
          <p:nvPr/>
        </p:nvSpPr>
        <p:spPr>
          <a:xfrm>
            <a:off x="6666155" y="4249159"/>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Total Requests</a:t>
            </a:r>
            <a:endParaRPr i="0" sz="1600" u="none" cap="none" strike="noStrike">
              <a:solidFill>
                <a:schemeClr val="dk1"/>
              </a:solidFill>
            </a:endParaRPr>
          </a:p>
        </p:txBody>
      </p:sp>
      <p:sp>
        <p:nvSpPr>
          <p:cNvPr id="172" name="Google Shape;172;g3dcb72643a8_0_543"/>
          <p:cNvSpPr/>
          <p:nvPr/>
        </p:nvSpPr>
        <p:spPr>
          <a:xfrm>
            <a:off x="8580299" y="4249159"/>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200 per config</a:t>
            </a:r>
            <a:endParaRPr i="0" sz="1600" u="none" cap="none" strike="noStrike">
              <a:solidFill>
                <a:schemeClr val="dk1"/>
              </a:solidFill>
            </a:endParaRPr>
          </a:p>
        </p:txBody>
      </p:sp>
      <p:sp>
        <p:nvSpPr>
          <p:cNvPr id="173" name="Google Shape;173;g3dcb72643a8_0_543"/>
          <p:cNvSpPr/>
          <p:nvPr/>
        </p:nvSpPr>
        <p:spPr>
          <a:xfrm>
            <a:off x="6666155" y="4809991"/>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Concurrency</a:t>
            </a:r>
            <a:endParaRPr i="0" sz="1600" u="none" cap="none" strike="noStrike">
              <a:solidFill>
                <a:schemeClr val="dk1"/>
              </a:solidFill>
            </a:endParaRPr>
          </a:p>
        </p:txBody>
      </p:sp>
      <p:sp>
        <p:nvSpPr>
          <p:cNvPr id="174" name="Google Shape;174;g3dcb72643a8_0_543"/>
          <p:cNvSpPr/>
          <p:nvPr/>
        </p:nvSpPr>
        <p:spPr>
          <a:xfrm>
            <a:off x="8580299" y="4809991"/>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16 parallel threads</a:t>
            </a:r>
            <a:endParaRPr i="0" sz="1600" u="none" cap="none" strike="noStrike">
              <a:solidFill>
                <a:schemeClr val="dk1"/>
              </a:solidFill>
            </a:endParaRPr>
          </a:p>
        </p:txBody>
      </p:sp>
      <p:sp>
        <p:nvSpPr>
          <p:cNvPr id="175" name="Google Shape;175;g3dcb72643a8_0_543"/>
          <p:cNvSpPr/>
          <p:nvPr/>
        </p:nvSpPr>
        <p:spPr>
          <a:xfrm>
            <a:off x="6666155" y="5370823"/>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Client Timeout</a:t>
            </a:r>
            <a:endParaRPr i="0" sz="1600" u="none" cap="none" strike="noStrike">
              <a:solidFill>
                <a:schemeClr val="dk1"/>
              </a:solidFill>
            </a:endParaRPr>
          </a:p>
        </p:txBody>
      </p:sp>
      <p:sp>
        <p:nvSpPr>
          <p:cNvPr id="176" name="Google Shape;176;g3dcb72643a8_0_543"/>
          <p:cNvSpPr/>
          <p:nvPr/>
        </p:nvSpPr>
        <p:spPr>
          <a:xfrm>
            <a:off x="8580299" y="5370823"/>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600 seconds</a:t>
            </a:r>
            <a:endParaRPr i="0" sz="1600" u="none" cap="none" strike="noStrike">
              <a:solidFill>
                <a:schemeClr val="dk1"/>
              </a:solidFill>
            </a:endParaRPr>
          </a:p>
        </p:txBody>
      </p:sp>
      <p:sp>
        <p:nvSpPr>
          <p:cNvPr id="177" name="Google Shape;177;g3dcb72643a8_0_543"/>
          <p:cNvSpPr/>
          <p:nvPr/>
        </p:nvSpPr>
        <p:spPr>
          <a:xfrm>
            <a:off x="6666155" y="5931655"/>
            <a:ext cx="18288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100"/>
              <a:buFont typeface="Calibri"/>
              <a:buNone/>
            </a:pPr>
            <a:r>
              <a:rPr b="1" i="0" lang="en-US" sz="1600" u="none" cap="none" strike="noStrike">
                <a:solidFill>
                  <a:srgbClr val="02C39A"/>
                </a:solidFill>
              </a:rPr>
              <a:t>Warmup</a:t>
            </a:r>
            <a:endParaRPr i="0" sz="1600" u="none" cap="none" strike="noStrike">
              <a:solidFill>
                <a:schemeClr val="dk1"/>
              </a:solidFill>
            </a:endParaRPr>
          </a:p>
        </p:txBody>
      </p:sp>
      <p:sp>
        <p:nvSpPr>
          <p:cNvPr id="178" name="Google Shape;178;g3dcb72643a8_0_543"/>
          <p:cNvSpPr/>
          <p:nvPr/>
        </p:nvSpPr>
        <p:spPr>
          <a:xfrm>
            <a:off x="8580299" y="5931655"/>
            <a:ext cx="3389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i="0" lang="en-US" sz="1600" u="none" cap="none" strike="noStrike">
                <a:solidFill>
                  <a:srgbClr val="1E293B"/>
                </a:solidFill>
              </a:rPr>
              <a:t>10 requests</a:t>
            </a:r>
            <a:endParaRPr i="0" sz="1600" u="none" cap="none" strike="noStrike">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g3dcb72643a8_0_588"/>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Results</a:t>
            </a:r>
            <a:endParaRPr b="1" sz="2800">
              <a:solidFill>
                <a:srgbClr val="24314F"/>
              </a:solidFill>
            </a:endParaRPr>
          </a:p>
        </p:txBody>
      </p:sp>
      <p:sp>
        <p:nvSpPr>
          <p:cNvPr id="185" name="Google Shape;185;g3dcb72643a8_0_588"/>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t/>
            </a:r>
            <a:endParaRPr i="0" sz="1600" u="none" cap="none" strike="noStrike">
              <a:solidFill>
                <a:srgbClr val="24314F"/>
              </a:solidFill>
            </a:endParaRPr>
          </a:p>
        </p:txBody>
      </p:sp>
      <p:pic>
        <p:nvPicPr>
          <p:cNvPr id="186" name="Google Shape;186;g3dcb72643a8_0_588"/>
          <p:cNvPicPr preferRelativeResize="0"/>
          <p:nvPr/>
        </p:nvPicPr>
        <p:blipFill>
          <a:blip r:embed="rId3">
            <a:alphaModFix/>
          </a:blip>
          <a:stretch>
            <a:fillRect/>
          </a:stretch>
        </p:blipFill>
        <p:spPr>
          <a:xfrm>
            <a:off x="1945525" y="853451"/>
            <a:ext cx="8300948" cy="58244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grpSp>
        <p:nvGrpSpPr>
          <p:cNvPr id="192" name="Google Shape;192;g3dcb72643a8_0_684"/>
          <p:cNvGrpSpPr/>
          <p:nvPr/>
        </p:nvGrpSpPr>
        <p:grpSpPr>
          <a:xfrm>
            <a:off x="609600" y="775850"/>
            <a:ext cx="10820186" cy="6082177"/>
            <a:chOff x="0" y="-47625"/>
            <a:chExt cx="4274726" cy="2214600"/>
          </a:xfrm>
        </p:grpSpPr>
        <p:sp>
          <p:nvSpPr>
            <p:cNvPr id="193" name="Google Shape;193;g3dcb72643a8_0_68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194" name="Google Shape;194;g3dcb72643a8_0_68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195" name="Google Shape;195;g3dcb72643a8_0_684"/>
          <p:cNvGrpSpPr/>
          <p:nvPr/>
        </p:nvGrpSpPr>
        <p:grpSpPr>
          <a:xfrm>
            <a:off x="787700" y="1094123"/>
            <a:ext cx="10463990" cy="1247014"/>
            <a:chOff x="0" y="-47625"/>
            <a:chExt cx="1808189" cy="1790400"/>
          </a:xfrm>
        </p:grpSpPr>
        <p:sp>
          <p:nvSpPr>
            <p:cNvPr id="196" name="Google Shape;196;g3dcb72643a8_0_68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7" name="Google Shape;197;g3dcb72643a8_0_68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8" name="Google Shape;198;g3dcb72643a8_0_684"/>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Issue</a:t>
            </a:r>
            <a:endParaRPr b="1" sz="2800">
              <a:solidFill>
                <a:srgbClr val="24314F"/>
              </a:solidFill>
            </a:endParaRPr>
          </a:p>
        </p:txBody>
      </p:sp>
      <p:sp>
        <p:nvSpPr>
          <p:cNvPr id="199" name="Google Shape;199;g3dcb72643a8_0_684"/>
          <p:cNvSpPr/>
          <p:nvPr/>
        </p:nvSpPr>
        <p:spPr>
          <a:xfrm>
            <a:off x="896000" y="1382375"/>
            <a:ext cx="10247400" cy="670500"/>
          </a:xfrm>
          <a:prstGeom prst="rect">
            <a:avLst/>
          </a:prstGeom>
          <a:noFill/>
          <a:ln>
            <a:noFill/>
          </a:ln>
        </p:spPr>
        <p:txBody>
          <a:bodyPr anchorCtr="0" anchor="t" bIns="0" lIns="0" spcFirstLastPara="1" rIns="0" wrap="square" tIns="0">
            <a:noAutofit/>
          </a:bodyPr>
          <a:lstStyle/>
          <a:p>
            <a:pPr indent="-330200" lvl="0" marL="457200" marR="0" rtl="0" algn="l">
              <a:spcBef>
                <a:spcPts val="0"/>
              </a:spcBef>
              <a:spcAft>
                <a:spcPts val="0"/>
              </a:spcAft>
              <a:buClr>
                <a:srgbClr val="24314F"/>
              </a:buClr>
              <a:buSzPts val="1600"/>
              <a:buChar char="●"/>
            </a:pPr>
            <a:r>
              <a:rPr lang="en-US" sz="1600">
                <a:solidFill>
                  <a:srgbClr val="24314F"/>
                </a:solidFill>
              </a:rPr>
              <a:t>100% failure rate on GPU 1</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Error type APITimeoutError</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Elapsed time: 6.5 hours</a:t>
            </a:r>
            <a:endParaRPr sz="1600">
              <a:solidFill>
                <a:srgbClr val="24314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grpSp>
        <p:nvGrpSpPr>
          <p:cNvPr id="205" name="Google Shape;205;g3dcb72643a8_0_629"/>
          <p:cNvGrpSpPr/>
          <p:nvPr/>
        </p:nvGrpSpPr>
        <p:grpSpPr>
          <a:xfrm>
            <a:off x="609600" y="1410323"/>
            <a:ext cx="10820186" cy="5447695"/>
            <a:chOff x="0" y="-47625"/>
            <a:chExt cx="4274726" cy="2214600"/>
          </a:xfrm>
        </p:grpSpPr>
        <p:sp>
          <p:nvSpPr>
            <p:cNvPr id="206" name="Google Shape;206;g3dcb72643a8_0_62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207" name="Google Shape;207;g3dcb72643a8_0_62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sp>
        <p:nvSpPr>
          <p:cNvPr id="208" name="Google Shape;208;g3dcb72643a8_0_629"/>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Findings</a:t>
            </a:r>
            <a:endParaRPr i="0" sz="2800" u="none" cap="none" strike="noStrike">
              <a:solidFill>
                <a:srgbClr val="24314F"/>
              </a:solidFill>
            </a:endParaRPr>
          </a:p>
        </p:txBody>
      </p:sp>
      <p:sp>
        <p:nvSpPr>
          <p:cNvPr id="209" name="Google Shape;209;g3dcb72643a8_0_629"/>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lang="en-US" sz="1600">
                <a:solidFill>
                  <a:srgbClr val="24314F"/>
                </a:solidFill>
              </a:rPr>
              <a:t>80% VRAM is the sweet spot</a:t>
            </a:r>
            <a:endParaRPr sz="1600">
              <a:solidFill>
                <a:srgbClr val="24314F"/>
              </a:solidFill>
            </a:endParaRPr>
          </a:p>
        </p:txBody>
      </p:sp>
      <p:sp>
        <p:nvSpPr>
          <p:cNvPr id="210" name="Google Shape;210;g3dcb72643a8_0_629"/>
          <p:cNvSpPr/>
          <p:nvPr/>
        </p:nvSpPr>
        <p:spPr>
          <a:xfrm>
            <a:off x="2267671" y="1844950"/>
            <a:ext cx="1804500" cy="609600"/>
          </a:xfrm>
          <a:prstGeom prst="rect">
            <a:avLst/>
          </a:prstGeom>
          <a:solidFill>
            <a:srgbClr val="D1E8EE"/>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g3dcb72643a8_0_629"/>
          <p:cNvSpPr/>
          <p:nvPr/>
        </p:nvSpPr>
        <p:spPr>
          <a:xfrm>
            <a:off x="2267671" y="1844950"/>
            <a:ext cx="1804500" cy="60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Calibri"/>
              <a:buNone/>
            </a:pPr>
            <a:r>
              <a:rPr b="1" i="0" lang="en-US" sz="1400" u="none" cap="none" strike="noStrike">
                <a:solidFill>
                  <a:srgbClr val="1E293B"/>
                </a:solidFill>
              </a:rPr>
              <a:t>60% VRAM</a:t>
            </a:r>
            <a:endParaRPr i="0" sz="1400" u="none" cap="none" strike="noStrike">
              <a:solidFill>
                <a:schemeClr val="dk1"/>
              </a:solidFill>
            </a:endParaRPr>
          </a:p>
        </p:txBody>
      </p:sp>
      <p:sp>
        <p:nvSpPr>
          <p:cNvPr id="212" name="Google Shape;212;g3dcb72643a8_0_629"/>
          <p:cNvSpPr/>
          <p:nvPr/>
        </p:nvSpPr>
        <p:spPr>
          <a:xfrm>
            <a:off x="2267671" y="257647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g3dcb72643a8_0_629"/>
          <p:cNvSpPr/>
          <p:nvPr/>
        </p:nvSpPr>
        <p:spPr>
          <a:xfrm>
            <a:off x="2292055" y="2649622"/>
            <a:ext cx="1767900" cy="3900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28090"/>
              </a:buClr>
              <a:buSzPts val="1100"/>
              <a:buFont typeface="Calibri"/>
              <a:buNone/>
            </a:pPr>
            <a:r>
              <a:rPr b="1" i="0" lang="en-US" sz="1100" u="none" cap="none" strike="noStrike">
                <a:solidFill>
                  <a:srgbClr val="028090"/>
                </a:solidFill>
              </a:rPr>
              <a:t>Throughput (r/s)</a:t>
            </a:r>
            <a:endParaRPr i="0" sz="1100" u="none" cap="none" strike="noStrike">
              <a:solidFill>
                <a:schemeClr val="dk1"/>
              </a:solidFill>
            </a:endParaRPr>
          </a:p>
        </p:txBody>
      </p:sp>
      <p:sp>
        <p:nvSpPr>
          <p:cNvPr id="214" name="Google Shape;214;g3dcb72643a8_0_629"/>
          <p:cNvSpPr/>
          <p:nvPr/>
        </p:nvSpPr>
        <p:spPr>
          <a:xfrm>
            <a:off x="2267671" y="301538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0.0784</a:t>
            </a:r>
            <a:endParaRPr i="0" sz="1700" u="none" cap="none" strike="noStrike">
              <a:solidFill>
                <a:schemeClr val="dk1"/>
              </a:solidFill>
            </a:endParaRPr>
          </a:p>
        </p:txBody>
      </p:sp>
      <p:sp>
        <p:nvSpPr>
          <p:cNvPr id="215" name="Google Shape;215;g3dcb72643a8_0_629"/>
          <p:cNvSpPr/>
          <p:nvPr/>
        </p:nvSpPr>
        <p:spPr>
          <a:xfrm>
            <a:off x="2267671" y="397855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6" name="Google Shape;216;g3dcb72643a8_0_629"/>
          <p:cNvSpPr/>
          <p:nvPr/>
        </p:nvSpPr>
        <p:spPr>
          <a:xfrm>
            <a:off x="2292055" y="4051702"/>
            <a:ext cx="1767900" cy="3900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28090"/>
              </a:buClr>
              <a:buSzPts val="1100"/>
              <a:buFont typeface="Calibri"/>
              <a:buNone/>
            </a:pPr>
            <a:r>
              <a:rPr b="1" i="0" lang="en-US" sz="1100" u="none" cap="none" strike="noStrike">
                <a:solidFill>
                  <a:srgbClr val="028090"/>
                </a:solidFill>
              </a:rPr>
              <a:t>Avg Latency</a:t>
            </a:r>
            <a:endParaRPr i="0" sz="1100" u="none" cap="none" strike="noStrike">
              <a:solidFill>
                <a:schemeClr val="dk1"/>
              </a:solidFill>
            </a:endParaRPr>
          </a:p>
        </p:txBody>
      </p:sp>
      <p:sp>
        <p:nvSpPr>
          <p:cNvPr id="217" name="Google Shape;217;g3dcb72643a8_0_629"/>
          <p:cNvSpPr/>
          <p:nvPr/>
        </p:nvSpPr>
        <p:spPr>
          <a:xfrm>
            <a:off x="2267671" y="441746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195.7s</a:t>
            </a:r>
            <a:endParaRPr i="0" sz="1700" u="none" cap="none" strike="noStrike">
              <a:solidFill>
                <a:schemeClr val="dk1"/>
              </a:solidFill>
            </a:endParaRPr>
          </a:p>
        </p:txBody>
      </p:sp>
      <p:sp>
        <p:nvSpPr>
          <p:cNvPr id="218" name="Google Shape;218;g3dcb72643a8_0_629"/>
          <p:cNvSpPr/>
          <p:nvPr/>
        </p:nvSpPr>
        <p:spPr>
          <a:xfrm>
            <a:off x="2267671" y="538063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9" name="Google Shape;219;g3dcb72643a8_0_629"/>
          <p:cNvSpPr/>
          <p:nvPr/>
        </p:nvSpPr>
        <p:spPr>
          <a:xfrm>
            <a:off x="2292055" y="5453782"/>
            <a:ext cx="1767900" cy="3900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028090"/>
              </a:buClr>
              <a:buSzPts val="1100"/>
              <a:buFont typeface="Calibri"/>
              <a:buNone/>
            </a:pPr>
            <a:r>
              <a:rPr b="1" i="0" lang="en-US" sz="1100" u="none" cap="none" strike="noStrike">
                <a:solidFill>
                  <a:srgbClr val="028090"/>
                </a:solidFill>
              </a:rPr>
              <a:t>P95 Latency</a:t>
            </a:r>
            <a:endParaRPr i="0" sz="1100" u="none" cap="none" strike="noStrike">
              <a:solidFill>
                <a:schemeClr val="dk1"/>
              </a:solidFill>
            </a:endParaRPr>
          </a:p>
        </p:txBody>
      </p:sp>
      <p:sp>
        <p:nvSpPr>
          <p:cNvPr id="220" name="Google Shape;220;g3dcb72643a8_0_629"/>
          <p:cNvSpPr/>
          <p:nvPr/>
        </p:nvSpPr>
        <p:spPr>
          <a:xfrm>
            <a:off x="2267671" y="581954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286.0s</a:t>
            </a:r>
            <a:endParaRPr i="0" sz="1700" u="none" cap="none" strike="noStrike">
              <a:solidFill>
                <a:schemeClr val="dk1"/>
              </a:solidFill>
            </a:endParaRPr>
          </a:p>
        </p:txBody>
      </p:sp>
      <p:sp>
        <p:nvSpPr>
          <p:cNvPr id="221" name="Google Shape;221;g3dcb72643a8_0_629"/>
          <p:cNvSpPr/>
          <p:nvPr/>
        </p:nvSpPr>
        <p:spPr>
          <a:xfrm>
            <a:off x="4218391" y="1844950"/>
            <a:ext cx="1804500" cy="609600"/>
          </a:xfrm>
          <a:prstGeom prst="rect">
            <a:avLst/>
          </a:prstGeom>
          <a:solidFill>
            <a:srgbClr val="D1E8EE"/>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g3dcb72643a8_0_629"/>
          <p:cNvSpPr/>
          <p:nvPr/>
        </p:nvSpPr>
        <p:spPr>
          <a:xfrm>
            <a:off x="4218391" y="1844950"/>
            <a:ext cx="1804500" cy="60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Calibri"/>
              <a:buNone/>
            </a:pPr>
            <a:r>
              <a:rPr b="1" i="0" lang="en-US" sz="1400" u="none" cap="none" strike="noStrike">
                <a:solidFill>
                  <a:srgbClr val="1E293B"/>
                </a:solidFill>
              </a:rPr>
              <a:t>70% VRAM</a:t>
            </a:r>
            <a:endParaRPr i="0" sz="1400" u="none" cap="none" strike="noStrike">
              <a:solidFill>
                <a:schemeClr val="dk1"/>
              </a:solidFill>
            </a:endParaRPr>
          </a:p>
        </p:txBody>
      </p:sp>
      <p:sp>
        <p:nvSpPr>
          <p:cNvPr id="223" name="Google Shape;223;g3dcb72643a8_0_629"/>
          <p:cNvSpPr/>
          <p:nvPr/>
        </p:nvSpPr>
        <p:spPr>
          <a:xfrm>
            <a:off x="4218391" y="257647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4" name="Google Shape;224;g3dcb72643a8_0_629"/>
          <p:cNvSpPr/>
          <p:nvPr/>
        </p:nvSpPr>
        <p:spPr>
          <a:xfrm>
            <a:off x="4218391" y="301538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0.0780</a:t>
            </a:r>
            <a:endParaRPr i="0" sz="1700" u="none" cap="none" strike="noStrike">
              <a:solidFill>
                <a:schemeClr val="dk1"/>
              </a:solidFill>
            </a:endParaRPr>
          </a:p>
        </p:txBody>
      </p:sp>
      <p:sp>
        <p:nvSpPr>
          <p:cNvPr id="225" name="Google Shape;225;g3dcb72643a8_0_629"/>
          <p:cNvSpPr/>
          <p:nvPr/>
        </p:nvSpPr>
        <p:spPr>
          <a:xfrm>
            <a:off x="4218391" y="397855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6" name="Google Shape;226;g3dcb72643a8_0_629"/>
          <p:cNvSpPr/>
          <p:nvPr/>
        </p:nvSpPr>
        <p:spPr>
          <a:xfrm>
            <a:off x="4218391" y="441746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196.8s</a:t>
            </a:r>
            <a:endParaRPr i="0" sz="1700" u="none" cap="none" strike="noStrike">
              <a:solidFill>
                <a:schemeClr val="dk1"/>
              </a:solidFill>
            </a:endParaRPr>
          </a:p>
        </p:txBody>
      </p:sp>
      <p:sp>
        <p:nvSpPr>
          <p:cNvPr id="227" name="Google Shape;227;g3dcb72643a8_0_629"/>
          <p:cNvSpPr/>
          <p:nvPr/>
        </p:nvSpPr>
        <p:spPr>
          <a:xfrm>
            <a:off x="4218391" y="538063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8" name="Google Shape;228;g3dcb72643a8_0_629"/>
          <p:cNvSpPr/>
          <p:nvPr/>
        </p:nvSpPr>
        <p:spPr>
          <a:xfrm>
            <a:off x="4218391" y="581954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286.4s</a:t>
            </a:r>
            <a:endParaRPr i="0" sz="1700" u="none" cap="none" strike="noStrike">
              <a:solidFill>
                <a:schemeClr val="dk1"/>
              </a:solidFill>
            </a:endParaRPr>
          </a:p>
        </p:txBody>
      </p:sp>
      <p:sp>
        <p:nvSpPr>
          <p:cNvPr id="229" name="Google Shape;229;g3dcb72643a8_0_629"/>
          <p:cNvSpPr/>
          <p:nvPr/>
        </p:nvSpPr>
        <p:spPr>
          <a:xfrm>
            <a:off x="6169111" y="1844950"/>
            <a:ext cx="1804500" cy="609600"/>
          </a:xfrm>
          <a:prstGeom prst="rect">
            <a:avLst/>
          </a:prstGeom>
          <a:solidFill>
            <a:srgbClr val="02C39A"/>
          </a:solidFill>
          <a:ln cap="flat" cmpd="sng" w="16925">
            <a:solidFill>
              <a:srgbClr val="02C39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dcb72643a8_0_629"/>
          <p:cNvSpPr/>
          <p:nvPr/>
        </p:nvSpPr>
        <p:spPr>
          <a:xfrm>
            <a:off x="6169111" y="1844950"/>
            <a:ext cx="1804500" cy="60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rPr>
              <a:t>80% VRAM</a:t>
            </a:r>
            <a:endParaRPr i="0" sz="1400" u="none" cap="none" strike="noStrike">
              <a:solidFill>
                <a:schemeClr val="dk1"/>
              </a:solidFill>
            </a:endParaRPr>
          </a:p>
        </p:txBody>
      </p:sp>
      <p:sp>
        <p:nvSpPr>
          <p:cNvPr id="231" name="Google Shape;231;g3dcb72643a8_0_629"/>
          <p:cNvSpPr/>
          <p:nvPr/>
        </p:nvSpPr>
        <p:spPr>
          <a:xfrm>
            <a:off x="6169111" y="2576470"/>
            <a:ext cx="1804500" cy="1243500"/>
          </a:xfrm>
          <a:prstGeom prst="rect">
            <a:avLst/>
          </a:prstGeom>
          <a:solidFill>
            <a:srgbClr val="E6FDF8"/>
          </a:solidFill>
          <a:ln cap="flat" cmpd="sng" w="16925">
            <a:solidFill>
              <a:srgbClr val="02C39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g3dcb72643a8_0_629"/>
          <p:cNvSpPr/>
          <p:nvPr/>
        </p:nvSpPr>
        <p:spPr>
          <a:xfrm>
            <a:off x="6169111" y="301538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28090"/>
              </a:buClr>
              <a:buSzPts val="1700"/>
              <a:buFont typeface="Calibri"/>
              <a:buNone/>
            </a:pPr>
            <a:r>
              <a:rPr b="1" i="0" lang="en-US" sz="1700" u="none" cap="none" strike="noStrike">
                <a:solidFill>
                  <a:srgbClr val="028090"/>
                </a:solidFill>
              </a:rPr>
              <a:t>0.0864</a:t>
            </a:r>
            <a:endParaRPr i="0" sz="1700" u="none" cap="none" strike="noStrike">
              <a:solidFill>
                <a:schemeClr val="dk1"/>
              </a:solidFill>
            </a:endParaRPr>
          </a:p>
        </p:txBody>
      </p:sp>
      <p:sp>
        <p:nvSpPr>
          <p:cNvPr id="233" name="Google Shape;233;g3dcb72643a8_0_629"/>
          <p:cNvSpPr/>
          <p:nvPr/>
        </p:nvSpPr>
        <p:spPr>
          <a:xfrm>
            <a:off x="6169111" y="3978550"/>
            <a:ext cx="1804500" cy="1243500"/>
          </a:xfrm>
          <a:prstGeom prst="rect">
            <a:avLst/>
          </a:prstGeom>
          <a:solidFill>
            <a:srgbClr val="E6FDF8"/>
          </a:solidFill>
          <a:ln cap="flat" cmpd="sng" w="16925">
            <a:solidFill>
              <a:srgbClr val="02C39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4" name="Google Shape;234;g3dcb72643a8_0_629"/>
          <p:cNvSpPr/>
          <p:nvPr/>
        </p:nvSpPr>
        <p:spPr>
          <a:xfrm>
            <a:off x="6169111" y="441746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28090"/>
              </a:buClr>
              <a:buSzPts val="1700"/>
              <a:buFont typeface="Calibri"/>
              <a:buNone/>
            </a:pPr>
            <a:r>
              <a:rPr b="1" i="0" lang="en-US" sz="1700" u="none" cap="none" strike="noStrike">
                <a:solidFill>
                  <a:srgbClr val="028090"/>
                </a:solidFill>
              </a:rPr>
              <a:t>178.0s</a:t>
            </a:r>
            <a:endParaRPr i="0" sz="1700" u="none" cap="none" strike="noStrike">
              <a:solidFill>
                <a:schemeClr val="dk1"/>
              </a:solidFill>
            </a:endParaRPr>
          </a:p>
        </p:txBody>
      </p:sp>
      <p:sp>
        <p:nvSpPr>
          <p:cNvPr id="235" name="Google Shape;235;g3dcb72643a8_0_629"/>
          <p:cNvSpPr/>
          <p:nvPr/>
        </p:nvSpPr>
        <p:spPr>
          <a:xfrm>
            <a:off x="6169111" y="5380630"/>
            <a:ext cx="1804500" cy="1243500"/>
          </a:xfrm>
          <a:prstGeom prst="rect">
            <a:avLst/>
          </a:prstGeom>
          <a:solidFill>
            <a:srgbClr val="E6FDF8"/>
          </a:solidFill>
          <a:ln cap="flat" cmpd="sng" w="16925">
            <a:solidFill>
              <a:srgbClr val="02C39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dcb72643a8_0_629"/>
          <p:cNvSpPr/>
          <p:nvPr/>
        </p:nvSpPr>
        <p:spPr>
          <a:xfrm>
            <a:off x="6169111" y="581954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28090"/>
              </a:buClr>
              <a:buSzPts val="1700"/>
              <a:buFont typeface="Calibri"/>
              <a:buNone/>
            </a:pPr>
            <a:r>
              <a:rPr b="1" i="0" lang="en-US" sz="1700" u="none" cap="none" strike="noStrike">
                <a:solidFill>
                  <a:srgbClr val="028090"/>
                </a:solidFill>
              </a:rPr>
              <a:t>264.8s</a:t>
            </a:r>
            <a:endParaRPr i="0" sz="1700" u="none" cap="none" strike="noStrike">
              <a:solidFill>
                <a:schemeClr val="dk1"/>
              </a:solidFill>
            </a:endParaRPr>
          </a:p>
        </p:txBody>
      </p:sp>
      <p:sp>
        <p:nvSpPr>
          <p:cNvPr id="237" name="Google Shape;237;g3dcb72643a8_0_629"/>
          <p:cNvSpPr/>
          <p:nvPr/>
        </p:nvSpPr>
        <p:spPr>
          <a:xfrm>
            <a:off x="8119831" y="1844950"/>
            <a:ext cx="1804500" cy="609600"/>
          </a:xfrm>
          <a:prstGeom prst="rect">
            <a:avLst/>
          </a:prstGeom>
          <a:solidFill>
            <a:srgbClr val="D1E8EE"/>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dcb72643a8_0_629"/>
          <p:cNvSpPr/>
          <p:nvPr/>
        </p:nvSpPr>
        <p:spPr>
          <a:xfrm>
            <a:off x="8119831" y="1844950"/>
            <a:ext cx="1804500" cy="60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Calibri"/>
              <a:buNone/>
            </a:pPr>
            <a:r>
              <a:rPr b="1" i="0" lang="en-US" sz="1400" u="none" cap="none" strike="noStrike">
                <a:solidFill>
                  <a:srgbClr val="1E293B"/>
                </a:solidFill>
              </a:rPr>
              <a:t>90% VRAM</a:t>
            </a:r>
            <a:endParaRPr i="0" sz="1400" u="none" cap="none" strike="noStrike">
              <a:solidFill>
                <a:schemeClr val="dk1"/>
              </a:solidFill>
            </a:endParaRPr>
          </a:p>
        </p:txBody>
      </p:sp>
      <p:sp>
        <p:nvSpPr>
          <p:cNvPr id="239" name="Google Shape;239;g3dcb72643a8_0_629"/>
          <p:cNvSpPr/>
          <p:nvPr/>
        </p:nvSpPr>
        <p:spPr>
          <a:xfrm>
            <a:off x="8119831" y="257647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0" name="Google Shape;240;g3dcb72643a8_0_629"/>
          <p:cNvSpPr/>
          <p:nvPr/>
        </p:nvSpPr>
        <p:spPr>
          <a:xfrm>
            <a:off x="8119831" y="301538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0.0857</a:t>
            </a:r>
            <a:endParaRPr i="0" sz="1700" u="none" cap="none" strike="noStrike">
              <a:solidFill>
                <a:schemeClr val="dk1"/>
              </a:solidFill>
            </a:endParaRPr>
          </a:p>
        </p:txBody>
      </p:sp>
      <p:sp>
        <p:nvSpPr>
          <p:cNvPr id="241" name="Google Shape;241;g3dcb72643a8_0_629"/>
          <p:cNvSpPr/>
          <p:nvPr/>
        </p:nvSpPr>
        <p:spPr>
          <a:xfrm>
            <a:off x="8119831" y="397855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g3dcb72643a8_0_629"/>
          <p:cNvSpPr/>
          <p:nvPr/>
        </p:nvSpPr>
        <p:spPr>
          <a:xfrm>
            <a:off x="8119831" y="441746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179.5s</a:t>
            </a:r>
            <a:endParaRPr i="0" sz="1700" u="none" cap="none" strike="noStrike">
              <a:solidFill>
                <a:schemeClr val="dk1"/>
              </a:solidFill>
            </a:endParaRPr>
          </a:p>
        </p:txBody>
      </p:sp>
      <p:sp>
        <p:nvSpPr>
          <p:cNvPr id="243" name="Google Shape;243;g3dcb72643a8_0_629"/>
          <p:cNvSpPr/>
          <p:nvPr/>
        </p:nvSpPr>
        <p:spPr>
          <a:xfrm>
            <a:off x="8119831" y="5380630"/>
            <a:ext cx="1804500" cy="1243500"/>
          </a:xfrm>
          <a:prstGeom prst="rect">
            <a:avLst/>
          </a:prstGeom>
          <a:solidFill>
            <a:srgbClr val="FFFFFF"/>
          </a:solidFill>
          <a:ln cap="flat" cmpd="sng" w="16925">
            <a:solidFill>
              <a:srgbClr val="D1E8E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4" name="Google Shape;244;g3dcb72643a8_0_629"/>
          <p:cNvSpPr/>
          <p:nvPr/>
        </p:nvSpPr>
        <p:spPr>
          <a:xfrm>
            <a:off x="8119831" y="5819542"/>
            <a:ext cx="1804500" cy="6096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475569"/>
              </a:buClr>
              <a:buSzPts val="1700"/>
              <a:buFont typeface="Calibri"/>
              <a:buNone/>
            </a:pPr>
            <a:r>
              <a:rPr i="0" lang="en-US" sz="1700" u="none" cap="none" strike="noStrike">
                <a:solidFill>
                  <a:srgbClr val="475569"/>
                </a:solidFill>
              </a:rPr>
              <a:t>267.1s</a:t>
            </a:r>
            <a:endParaRPr i="0" sz="1700" u="none" cap="none" strike="noStrike">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dcb72643a8_0_278"/>
          <p:cNvSpPr txBox="1"/>
          <p:nvPr/>
        </p:nvSpPr>
        <p:spPr>
          <a:xfrm>
            <a:off x="685800" y="3792270"/>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Understand</a:t>
            </a:r>
            <a:endParaRPr sz="900"/>
          </a:p>
        </p:txBody>
      </p:sp>
      <p:sp>
        <p:nvSpPr>
          <p:cNvPr id="254" name="Google Shape;254;g3dcb72643a8_0_278"/>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255" name="Google Shape;255;g3dcb72643a8_0_278"/>
          <p:cNvGrpSpPr/>
          <p:nvPr/>
        </p:nvGrpSpPr>
        <p:grpSpPr>
          <a:xfrm rot="-5400000">
            <a:off x="3451093" y="2718650"/>
            <a:ext cx="396240" cy="5955427"/>
            <a:chOff x="0" y="-47625"/>
            <a:chExt cx="660400" cy="9925711"/>
          </a:xfrm>
        </p:grpSpPr>
        <p:sp>
          <p:nvSpPr>
            <p:cNvPr id="256" name="Google Shape;256;g3dcb72643a8_0_278"/>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257" name="Google Shape;257;g3dcb72643a8_0_278"/>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58" name="Google Shape;258;g3dcb72643a8_0_278"/>
          <p:cNvSpPr txBox="1"/>
          <p:nvPr/>
        </p:nvSpPr>
        <p:spPr>
          <a:xfrm>
            <a:off x="685800" y="4860075"/>
            <a:ext cx="10820400" cy="4617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how GLMs work and search Qwen Image</a:t>
            </a:r>
            <a:endParaRPr b="1" sz="3000">
              <a:solidFill>
                <a:srgbClr val="24314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grpSp>
        <p:nvGrpSpPr>
          <p:cNvPr id="264" name="Google Shape;264;g3dcb43a2435_0_178"/>
          <p:cNvGrpSpPr/>
          <p:nvPr/>
        </p:nvGrpSpPr>
        <p:grpSpPr>
          <a:xfrm>
            <a:off x="609600" y="2979599"/>
            <a:ext cx="10820186" cy="3878429"/>
            <a:chOff x="0" y="-47625"/>
            <a:chExt cx="4274726" cy="2214600"/>
          </a:xfrm>
        </p:grpSpPr>
        <p:sp>
          <p:nvSpPr>
            <p:cNvPr id="265" name="Google Shape;265;g3dcb43a2435_0_17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266" name="Google Shape;266;g3dcb43a2435_0_17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267" name="Google Shape;267;g3dcb43a2435_0_178"/>
          <p:cNvGrpSpPr/>
          <p:nvPr/>
        </p:nvGrpSpPr>
        <p:grpSpPr>
          <a:xfrm>
            <a:off x="798800" y="3100225"/>
            <a:ext cx="10463990" cy="3878364"/>
            <a:chOff x="0" y="-47625"/>
            <a:chExt cx="1808189" cy="1790400"/>
          </a:xfrm>
        </p:grpSpPr>
        <p:sp>
          <p:nvSpPr>
            <p:cNvPr id="268" name="Google Shape;268;g3dcb43a2435_0_17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269" name="Google Shape;269;g3dcb43a2435_0_17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270" name="Google Shape;270;g3dcb43a2435_0_178"/>
          <p:cNvSpPr/>
          <p:nvPr/>
        </p:nvSpPr>
        <p:spPr>
          <a:xfrm>
            <a:off x="941900" y="3586375"/>
            <a:ext cx="10247400" cy="3271500"/>
          </a:xfrm>
          <a:prstGeom prst="rect">
            <a:avLst/>
          </a:prstGeom>
          <a:noFill/>
          <a:ln>
            <a:noFill/>
          </a:ln>
        </p:spPr>
        <p:txBody>
          <a:bodyPr anchorCtr="0" anchor="t" bIns="0" lIns="0" spcFirstLastPara="1" rIns="0" wrap="square" tIns="0">
            <a:noAutofit/>
          </a:bodyPr>
          <a:lstStyle/>
          <a:p>
            <a:pPr indent="-330200" lvl="0" marL="457200" marR="0" rtl="0" algn="l">
              <a:spcBef>
                <a:spcPts val="0"/>
              </a:spcBef>
              <a:spcAft>
                <a:spcPts val="0"/>
              </a:spcAft>
              <a:buClr>
                <a:srgbClr val="24314F"/>
              </a:buClr>
              <a:buSzPts val="1600"/>
              <a:buChar char="●"/>
            </a:pPr>
            <a:r>
              <a:rPr lang="en-US" sz="1600">
                <a:solidFill>
                  <a:srgbClr val="24314F"/>
                </a:solidFill>
              </a:rPr>
              <a:t>GLM-4.5 is a massive 355-billion parameter model utilizing a Mixture-of-Experts (MoE) design, efficiently activating only 32 billion parameters per forward pass.</a:t>
            </a:r>
            <a:endParaRPr sz="1600">
              <a:solidFill>
                <a:srgbClr val="24314F"/>
              </a:solidFill>
            </a:endParaRPr>
          </a:p>
          <a:p>
            <a:pPr indent="0" lvl="0" marL="457200" marR="0" rtl="0" algn="l">
              <a:spcBef>
                <a:spcPts val="0"/>
              </a:spcBef>
              <a:spcAft>
                <a:spcPts val="0"/>
              </a:spcAft>
              <a:buNone/>
            </a:pPr>
            <a:r>
              <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It features a dual-mode execution framework that switches between a high-latency "Thinking Mode" for complex, multi-step planning and an instantaneous "Non-Thinking Mode" for standard, interactive tasks.</a:t>
            </a:r>
            <a:endParaRPr sz="1600">
              <a:solidFill>
                <a:srgbClr val="24314F"/>
              </a:solidFill>
            </a:endParaRPr>
          </a:p>
          <a:p>
            <a:pPr indent="0" lvl="0" marL="457200" marR="0" rtl="0" algn="l">
              <a:spcBef>
                <a:spcPts val="0"/>
              </a:spcBef>
              <a:spcAft>
                <a:spcPts val="0"/>
              </a:spcAft>
              <a:buNone/>
            </a:pPr>
            <a:r>
              <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The newer GLM-4.6V advances the architecture by supporting native multimodal tool calling, allowing the model to directly ingest images, UI screenshots, and visual snippets as parameters without needing to convert them to text first.</a:t>
            </a:r>
            <a:endParaRPr sz="1600">
              <a:solidFill>
                <a:srgbClr val="24314F"/>
              </a:solidFill>
            </a:endParaRPr>
          </a:p>
          <a:p>
            <a:pPr indent="0" lvl="0" marL="0" marR="0" rtl="0" algn="l">
              <a:spcBef>
                <a:spcPts val="0"/>
              </a:spcBef>
              <a:spcAft>
                <a:spcPts val="0"/>
              </a:spcAft>
              <a:buClr>
                <a:srgbClr val="E6EDF3"/>
              </a:buClr>
              <a:buSzPts val="1300"/>
              <a:buFont typeface="Calibri"/>
              <a:buNone/>
            </a:pPr>
            <a:r>
              <a:rPr lang="en-US" sz="1600">
                <a:solidFill>
                  <a:srgbClr val="24314F"/>
                </a:solidFill>
              </a:rPr>
              <a:t>.</a:t>
            </a:r>
            <a:endParaRPr sz="1600">
              <a:solidFill>
                <a:srgbClr val="24314F"/>
              </a:solidFill>
            </a:endParaRPr>
          </a:p>
        </p:txBody>
      </p:sp>
      <p:sp>
        <p:nvSpPr>
          <p:cNvPr id="271" name="Google Shape;271;g3dcb43a2435_0_178"/>
          <p:cNvSpPr/>
          <p:nvPr/>
        </p:nvSpPr>
        <p:spPr>
          <a:xfrm>
            <a:off x="1935273" y="1473785"/>
            <a:ext cx="2560500" cy="73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4000"/>
              <a:buFont typeface="Calibri"/>
              <a:buNone/>
            </a:pPr>
            <a:r>
              <a:rPr b="1" lang="en-US" sz="5000">
                <a:solidFill>
                  <a:srgbClr val="F78166"/>
                </a:solidFill>
              </a:rPr>
              <a:t>335B</a:t>
            </a:r>
            <a:endParaRPr i="0" sz="5000" u="none" cap="none" strike="noStrike">
              <a:solidFill>
                <a:schemeClr val="dk1"/>
              </a:solidFill>
            </a:endParaRPr>
          </a:p>
        </p:txBody>
      </p:sp>
      <p:sp>
        <p:nvSpPr>
          <p:cNvPr id="272" name="Google Shape;272;g3dcb43a2435_0_178"/>
          <p:cNvSpPr/>
          <p:nvPr/>
        </p:nvSpPr>
        <p:spPr>
          <a:xfrm>
            <a:off x="1935273" y="2168729"/>
            <a:ext cx="25605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200"/>
              <a:buFont typeface="Calibri"/>
              <a:buNone/>
            </a:pPr>
            <a:r>
              <a:t/>
            </a:r>
            <a:endParaRPr i="0" sz="1600" u="none" cap="none" strike="noStrike">
              <a:solidFill>
                <a:srgbClr val="24314F"/>
              </a:solidFill>
            </a:endParaRPr>
          </a:p>
        </p:txBody>
      </p:sp>
      <p:sp>
        <p:nvSpPr>
          <p:cNvPr id="273" name="Google Shape;273;g3dcb43a2435_0_178"/>
          <p:cNvSpPr/>
          <p:nvPr/>
        </p:nvSpPr>
        <p:spPr>
          <a:xfrm>
            <a:off x="1935273" y="2487245"/>
            <a:ext cx="2560500" cy="26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E6EDF3"/>
              </a:buClr>
              <a:buSzPts val="1200"/>
              <a:buFont typeface="Calibri"/>
              <a:buNone/>
            </a:pPr>
            <a:r>
              <a:rPr lang="en-US" sz="1600">
                <a:solidFill>
                  <a:srgbClr val="24314F"/>
                </a:solidFill>
              </a:rPr>
              <a:t>Token Design</a:t>
            </a:r>
            <a:endParaRPr sz="1600">
              <a:solidFill>
                <a:srgbClr val="24314F"/>
              </a:solidFill>
            </a:endParaRPr>
          </a:p>
          <a:p>
            <a:pPr indent="0" lvl="0" marL="0" marR="0" rtl="0" algn="ctr">
              <a:spcBef>
                <a:spcPts val="0"/>
              </a:spcBef>
              <a:spcAft>
                <a:spcPts val="0"/>
              </a:spcAft>
              <a:buClr>
                <a:srgbClr val="8B949E"/>
              </a:buClr>
              <a:buSzPts val="1100"/>
              <a:buFont typeface="Calibri"/>
              <a:buNone/>
            </a:pPr>
            <a:r>
              <a:t/>
            </a:r>
            <a:endParaRPr i="1" sz="1600">
              <a:solidFill>
                <a:srgbClr val="24314F"/>
              </a:solidFill>
            </a:endParaRPr>
          </a:p>
        </p:txBody>
      </p:sp>
      <p:sp>
        <p:nvSpPr>
          <p:cNvPr id="274" name="Google Shape;274;g3dcb43a2435_0_178"/>
          <p:cNvSpPr/>
          <p:nvPr/>
        </p:nvSpPr>
        <p:spPr>
          <a:xfrm>
            <a:off x="4739433" y="1473785"/>
            <a:ext cx="2560500" cy="73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4000"/>
              <a:buFont typeface="Calibri"/>
              <a:buNone/>
            </a:pPr>
            <a:r>
              <a:rPr b="1" lang="en-US" sz="5000">
                <a:solidFill>
                  <a:srgbClr val="F78166"/>
                </a:solidFill>
              </a:rPr>
              <a:t>32B</a:t>
            </a:r>
            <a:endParaRPr i="0" sz="5000" u="none" cap="none" strike="noStrike">
              <a:solidFill>
                <a:schemeClr val="dk1"/>
              </a:solidFill>
            </a:endParaRPr>
          </a:p>
        </p:txBody>
      </p:sp>
      <p:sp>
        <p:nvSpPr>
          <p:cNvPr id="275" name="Google Shape;275;g3dcb43a2435_0_178"/>
          <p:cNvSpPr/>
          <p:nvPr/>
        </p:nvSpPr>
        <p:spPr>
          <a:xfrm>
            <a:off x="4739438" y="2487233"/>
            <a:ext cx="2560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100"/>
              <a:buFont typeface="Calibri"/>
              <a:buNone/>
            </a:pPr>
            <a:r>
              <a:rPr lang="en-US" sz="1600">
                <a:solidFill>
                  <a:srgbClr val="24314F"/>
                </a:solidFill>
              </a:rPr>
              <a:t>Per Forward Pass</a:t>
            </a:r>
            <a:endParaRPr sz="1600">
              <a:solidFill>
                <a:srgbClr val="24314F"/>
              </a:solidFill>
            </a:endParaRPr>
          </a:p>
          <a:p>
            <a:pPr indent="0" lvl="0" marL="0" marR="0" rtl="0" algn="ctr">
              <a:spcBef>
                <a:spcPts val="0"/>
              </a:spcBef>
              <a:spcAft>
                <a:spcPts val="0"/>
              </a:spcAft>
              <a:buClr>
                <a:srgbClr val="8B949E"/>
              </a:buClr>
              <a:buSzPts val="1100"/>
              <a:buFont typeface="Calibri"/>
              <a:buNone/>
            </a:pPr>
            <a:r>
              <a:t/>
            </a:r>
            <a:endParaRPr sz="1600">
              <a:solidFill>
                <a:srgbClr val="24314F"/>
              </a:solidFill>
            </a:endParaRPr>
          </a:p>
        </p:txBody>
      </p:sp>
      <p:sp>
        <p:nvSpPr>
          <p:cNvPr id="276" name="Google Shape;276;g3dcb43a2435_0_178"/>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GLM Architecture</a:t>
            </a:r>
            <a:endParaRPr i="0" sz="2800" u="none" cap="none" strike="noStrike">
              <a:solidFill>
                <a:srgbClr val="24314F"/>
              </a:solidFill>
            </a:endParaRPr>
          </a:p>
        </p:txBody>
      </p:sp>
      <p:sp>
        <p:nvSpPr>
          <p:cNvPr id="277" name="Google Shape;277;g3dcb43a2435_0_178"/>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lang="en-US" sz="1600">
                <a:solidFill>
                  <a:srgbClr val="24314F"/>
                </a:solidFill>
              </a:rPr>
              <a:t>Zhipu AI &amp; Tsinghua University - </a:t>
            </a:r>
            <a:r>
              <a:rPr lang="en-US" sz="1600" u="sng">
                <a:solidFill>
                  <a:schemeClr val="hlink"/>
                </a:solidFill>
                <a:hlinkClick r:id="rId3"/>
              </a:rPr>
              <a:t>https://arxiv.org/pdf/2507.01006</a:t>
            </a:r>
            <a:r>
              <a:rPr lang="en-US" sz="1600">
                <a:solidFill>
                  <a:srgbClr val="24314F"/>
                </a:solidFill>
              </a:rPr>
              <a:t> - </a:t>
            </a:r>
            <a:r>
              <a:rPr lang="en-US" sz="1600" u="sng">
                <a:solidFill>
                  <a:schemeClr val="hlink"/>
                </a:solidFill>
                <a:hlinkClick r:id="rId4"/>
              </a:rPr>
              <a:t>https://docs.z.ai/guides/vlm/glm-4.6v</a:t>
            </a:r>
            <a:r>
              <a:rPr lang="en-US" sz="1600">
                <a:solidFill>
                  <a:srgbClr val="24314F"/>
                </a:solidFill>
              </a:rPr>
              <a:t> </a:t>
            </a:r>
            <a:r>
              <a:rPr lang="en-US" sz="1600">
                <a:solidFill>
                  <a:srgbClr val="24314F"/>
                </a:solidFill>
              </a:rPr>
              <a:t> </a:t>
            </a:r>
            <a:endParaRPr i="0" sz="1600" u="none" cap="none" strike="noStrike">
              <a:solidFill>
                <a:srgbClr val="24314F"/>
              </a:solidFill>
            </a:endParaRPr>
          </a:p>
        </p:txBody>
      </p:sp>
      <p:sp>
        <p:nvSpPr>
          <p:cNvPr id="278" name="Google Shape;278;g3dcb43a2435_0_178"/>
          <p:cNvSpPr/>
          <p:nvPr/>
        </p:nvSpPr>
        <p:spPr>
          <a:xfrm>
            <a:off x="7543608" y="1466447"/>
            <a:ext cx="2560500" cy="73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4000"/>
              <a:buFont typeface="Calibri"/>
              <a:buNone/>
            </a:pPr>
            <a:r>
              <a:rPr b="1" lang="en-US" sz="5000">
                <a:solidFill>
                  <a:srgbClr val="F78166"/>
                </a:solidFill>
              </a:rPr>
              <a:t>128K</a:t>
            </a:r>
            <a:endParaRPr i="0" sz="5000" u="none" cap="none" strike="noStrike">
              <a:solidFill>
                <a:schemeClr val="dk1"/>
              </a:solidFill>
            </a:endParaRPr>
          </a:p>
        </p:txBody>
      </p:sp>
      <p:sp>
        <p:nvSpPr>
          <p:cNvPr id="279" name="Google Shape;279;g3dcb43a2435_0_178"/>
          <p:cNvSpPr/>
          <p:nvPr/>
        </p:nvSpPr>
        <p:spPr>
          <a:xfrm>
            <a:off x="7543613" y="2479896"/>
            <a:ext cx="2560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100"/>
              <a:buFont typeface="Calibri"/>
              <a:buNone/>
            </a:pPr>
            <a:r>
              <a:rPr lang="en-US" sz="1600">
                <a:solidFill>
                  <a:srgbClr val="24314F"/>
                </a:solidFill>
              </a:rPr>
              <a:t>Token Support</a:t>
            </a:r>
            <a:endParaRPr sz="1600">
              <a:solidFill>
                <a:srgbClr val="24314F"/>
              </a:solidFill>
            </a:endParaRPr>
          </a:p>
          <a:p>
            <a:pPr indent="0" lvl="0" marL="0" marR="0" rtl="0" algn="ctr">
              <a:spcBef>
                <a:spcPts val="0"/>
              </a:spcBef>
              <a:spcAft>
                <a:spcPts val="0"/>
              </a:spcAft>
              <a:buClr>
                <a:srgbClr val="8B949E"/>
              </a:buClr>
              <a:buSzPts val="1100"/>
              <a:buFont typeface="Calibri"/>
              <a:buNone/>
            </a:pPr>
            <a:r>
              <a:t/>
            </a:r>
            <a:endParaRPr sz="1600">
              <a:solidFill>
                <a:srgbClr val="24314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grpSp>
        <p:nvGrpSpPr>
          <p:cNvPr id="285" name="Google Shape;285;g3dcb43a2435_0_224"/>
          <p:cNvGrpSpPr/>
          <p:nvPr/>
        </p:nvGrpSpPr>
        <p:grpSpPr>
          <a:xfrm>
            <a:off x="609600" y="2979599"/>
            <a:ext cx="10820186" cy="3878429"/>
            <a:chOff x="0" y="-47625"/>
            <a:chExt cx="4274726" cy="2214600"/>
          </a:xfrm>
        </p:grpSpPr>
        <p:sp>
          <p:nvSpPr>
            <p:cNvPr id="286" name="Google Shape;286;g3dcb43a2435_0_22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287" name="Google Shape;287;g3dcb43a2435_0_22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288" name="Google Shape;288;g3dcb43a2435_0_224"/>
          <p:cNvGrpSpPr/>
          <p:nvPr/>
        </p:nvGrpSpPr>
        <p:grpSpPr>
          <a:xfrm>
            <a:off x="798800" y="3100225"/>
            <a:ext cx="10463990" cy="3878364"/>
            <a:chOff x="0" y="-47625"/>
            <a:chExt cx="1808189" cy="1790400"/>
          </a:xfrm>
        </p:grpSpPr>
        <p:sp>
          <p:nvSpPr>
            <p:cNvPr id="289" name="Google Shape;289;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0" name="Google Shape;290;g3dcb43a2435_0_22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91" name="Google Shape;291;g3dcb43a2435_0_224"/>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Qwen-VL Architecture</a:t>
            </a:r>
            <a:endParaRPr b="1" sz="2800">
              <a:solidFill>
                <a:srgbClr val="24314F"/>
              </a:solidFill>
            </a:endParaRPr>
          </a:p>
        </p:txBody>
      </p:sp>
      <p:grpSp>
        <p:nvGrpSpPr>
          <p:cNvPr id="292" name="Google Shape;292;g3dcb43a2435_0_224"/>
          <p:cNvGrpSpPr/>
          <p:nvPr/>
        </p:nvGrpSpPr>
        <p:grpSpPr>
          <a:xfrm>
            <a:off x="850300" y="1545346"/>
            <a:ext cx="1652866" cy="1199747"/>
            <a:chOff x="0" y="-47625"/>
            <a:chExt cx="1808189" cy="1790400"/>
          </a:xfrm>
        </p:grpSpPr>
        <p:sp>
          <p:nvSpPr>
            <p:cNvPr id="293" name="Google Shape;293;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294" name="Google Shape;294;g3dcb43a2435_0_224"/>
            <p:cNvSpPr txBox="1"/>
            <p:nvPr/>
          </p:nvSpPr>
          <p:spPr>
            <a:xfrm>
              <a:off x="0" y="-47625"/>
              <a:ext cx="1808100" cy="1790400"/>
            </a:xfrm>
            <a:prstGeom prst="rect">
              <a:avLst/>
            </a:prstGeom>
            <a:solidFill>
              <a:srgbClr val="D9EAD3"/>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Input</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Image</a:t>
              </a:r>
              <a:endParaRPr sz="1082">
                <a:solidFill>
                  <a:schemeClr val="dk1"/>
                </a:solidFill>
              </a:endParaRPr>
            </a:p>
          </p:txBody>
        </p:sp>
      </p:grpSp>
      <p:grpSp>
        <p:nvGrpSpPr>
          <p:cNvPr id="295" name="Google Shape;295;g3dcb43a2435_0_224"/>
          <p:cNvGrpSpPr/>
          <p:nvPr/>
        </p:nvGrpSpPr>
        <p:grpSpPr>
          <a:xfrm>
            <a:off x="2775226" y="1545333"/>
            <a:ext cx="1937435" cy="1199747"/>
            <a:chOff x="-311291" y="-23857"/>
            <a:chExt cx="2119500" cy="1790400"/>
          </a:xfrm>
        </p:grpSpPr>
        <p:sp>
          <p:nvSpPr>
            <p:cNvPr id="296" name="Google Shape;296;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D2E9"/>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297" name="Google Shape;297;g3dcb43a2435_0_224"/>
            <p:cNvSpPr txBox="1"/>
            <p:nvPr/>
          </p:nvSpPr>
          <p:spPr>
            <a:xfrm>
              <a:off x="-311291" y="-23857"/>
              <a:ext cx="2119500" cy="1790400"/>
            </a:xfrm>
            <a:prstGeom prst="rect">
              <a:avLst/>
            </a:prstGeom>
            <a:solidFill>
              <a:srgbClr val="D9D2E9"/>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ViT-bigG</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Encoder</a:t>
              </a:r>
              <a:endParaRPr sz="1082">
                <a:solidFill>
                  <a:schemeClr val="dk1"/>
                </a:solidFill>
              </a:endParaRPr>
            </a:p>
          </p:txBody>
        </p:sp>
      </p:grpSp>
      <p:cxnSp>
        <p:nvCxnSpPr>
          <p:cNvPr id="298" name="Google Shape;298;g3dcb43a2435_0_224"/>
          <p:cNvCxnSpPr>
            <a:stCxn id="294" idx="3"/>
            <a:endCxn id="297" idx="1"/>
          </p:cNvCxnSpPr>
          <p:nvPr/>
        </p:nvCxnSpPr>
        <p:spPr>
          <a:xfrm>
            <a:off x="2503084" y="2145220"/>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299" name="Google Shape;299;g3dcb43a2435_0_224"/>
          <p:cNvGrpSpPr/>
          <p:nvPr/>
        </p:nvGrpSpPr>
        <p:grpSpPr>
          <a:xfrm>
            <a:off x="4984855" y="1545333"/>
            <a:ext cx="1937435" cy="1199747"/>
            <a:chOff x="-311291" y="-23857"/>
            <a:chExt cx="2119500" cy="1790400"/>
          </a:xfrm>
        </p:grpSpPr>
        <p:sp>
          <p:nvSpPr>
            <p:cNvPr id="300" name="Google Shape;300;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EAD1DC"/>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301" name="Google Shape;301;g3dcb43a2435_0_224"/>
            <p:cNvSpPr txBox="1"/>
            <p:nvPr/>
          </p:nvSpPr>
          <p:spPr>
            <a:xfrm>
              <a:off x="-311291" y="-23857"/>
              <a:ext cx="2119500" cy="1790400"/>
            </a:xfrm>
            <a:prstGeom prst="rect">
              <a:avLst/>
            </a:prstGeom>
            <a:solidFill>
              <a:srgbClr val="EAD1DC"/>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Cross-Attn</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Adapter</a:t>
              </a:r>
              <a:endParaRPr sz="1082">
                <a:solidFill>
                  <a:schemeClr val="dk1"/>
                </a:solidFill>
              </a:endParaRPr>
            </a:p>
          </p:txBody>
        </p:sp>
      </p:grpSp>
      <p:cxnSp>
        <p:nvCxnSpPr>
          <p:cNvPr id="302" name="Google Shape;302;g3dcb43a2435_0_224"/>
          <p:cNvCxnSpPr>
            <a:endCxn id="301" idx="1"/>
          </p:cNvCxnSpPr>
          <p:nvPr/>
        </p:nvCxnSpPr>
        <p:spPr>
          <a:xfrm>
            <a:off x="4712755" y="2145207"/>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303" name="Google Shape;303;g3dcb43a2435_0_224"/>
          <p:cNvGrpSpPr/>
          <p:nvPr/>
        </p:nvGrpSpPr>
        <p:grpSpPr>
          <a:xfrm>
            <a:off x="7194451" y="1545333"/>
            <a:ext cx="1937435" cy="1199747"/>
            <a:chOff x="-311291" y="-23857"/>
            <a:chExt cx="2119500" cy="1790400"/>
          </a:xfrm>
        </p:grpSpPr>
        <p:sp>
          <p:nvSpPr>
            <p:cNvPr id="304" name="Google Shape;304;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305" name="Google Shape;305;g3dcb43a2435_0_224"/>
            <p:cNvSpPr txBox="1"/>
            <p:nvPr/>
          </p:nvSpPr>
          <p:spPr>
            <a:xfrm>
              <a:off x="-311291" y="-23857"/>
              <a:ext cx="2119500" cy="1790400"/>
            </a:xfrm>
            <a:prstGeom prst="rect">
              <a:avLst/>
            </a:prstGeom>
            <a:solidFill>
              <a:srgbClr val="FCE5CD"/>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256-Token</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Compression</a:t>
              </a:r>
              <a:endParaRPr sz="1082">
                <a:solidFill>
                  <a:schemeClr val="dk1"/>
                </a:solidFill>
              </a:endParaRPr>
            </a:p>
          </p:txBody>
        </p:sp>
      </p:grpSp>
      <p:cxnSp>
        <p:nvCxnSpPr>
          <p:cNvPr id="306" name="Google Shape;306;g3dcb43a2435_0_224"/>
          <p:cNvCxnSpPr>
            <a:endCxn id="305" idx="1"/>
          </p:cNvCxnSpPr>
          <p:nvPr/>
        </p:nvCxnSpPr>
        <p:spPr>
          <a:xfrm>
            <a:off x="6922351" y="2145207"/>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307" name="Google Shape;307;g3dcb43a2435_0_224"/>
          <p:cNvGrpSpPr/>
          <p:nvPr/>
        </p:nvGrpSpPr>
        <p:grpSpPr>
          <a:xfrm>
            <a:off x="9404046" y="1545333"/>
            <a:ext cx="1937435" cy="1199747"/>
            <a:chOff x="-311291" y="-23857"/>
            <a:chExt cx="2119500" cy="1790400"/>
          </a:xfrm>
        </p:grpSpPr>
        <p:sp>
          <p:nvSpPr>
            <p:cNvPr id="308" name="Google Shape;308;g3dcb43a2435_0_2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C9DAF8"/>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309" name="Google Shape;309;g3dcb43a2435_0_224"/>
            <p:cNvSpPr txBox="1"/>
            <p:nvPr/>
          </p:nvSpPr>
          <p:spPr>
            <a:xfrm>
              <a:off x="-311291" y="-23857"/>
              <a:ext cx="2119500" cy="1790400"/>
            </a:xfrm>
            <a:prstGeom prst="rect">
              <a:avLst/>
            </a:prstGeom>
            <a:solidFill>
              <a:srgbClr val="C9DAF8"/>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Qwen LLM</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Backbone</a:t>
              </a:r>
              <a:endParaRPr sz="1082">
                <a:solidFill>
                  <a:schemeClr val="dk1"/>
                </a:solidFill>
              </a:endParaRPr>
            </a:p>
          </p:txBody>
        </p:sp>
      </p:grpSp>
      <p:cxnSp>
        <p:nvCxnSpPr>
          <p:cNvPr id="310" name="Google Shape;310;g3dcb43a2435_0_224"/>
          <p:cNvCxnSpPr>
            <a:endCxn id="309" idx="1"/>
          </p:cNvCxnSpPr>
          <p:nvPr/>
        </p:nvCxnSpPr>
        <p:spPr>
          <a:xfrm>
            <a:off x="9131946" y="2145207"/>
            <a:ext cx="272100" cy="0"/>
          </a:xfrm>
          <a:prstGeom prst="straightConnector1">
            <a:avLst/>
          </a:prstGeom>
          <a:noFill/>
          <a:ln cap="flat" cmpd="sng" w="9675">
            <a:solidFill>
              <a:schemeClr val="dk2"/>
            </a:solidFill>
            <a:prstDash val="solid"/>
            <a:round/>
            <a:headEnd len="med" w="med" type="none"/>
            <a:tailEnd len="med" w="med" type="triangle"/>
          </a:ln>
        </p:spPr>
      </p:cxnSp>
      <p:sp>
        <p:nvSpPr>
          <p:cNvPr id="311" name="Google Shape;311;g3dcb43a2435_0_224"/>
          <p:cNvSpPr/>
          <p:nvPr/>
        </p:nvSpPr>
        <p:spPr>
          <a:xfrm>
            <a:off x="941900" y="3586375"/>
            <a:ext cx="10247400" cy="3271500"/>
          </a:xfrm>
          <a:prstGeom prst="rect">
            <a:avLst/>
          </a:prstGeom>
          <a:noFill/>
          <a:ln>
            <a:noFill/>
          </a:ln>
        </p:spPr>
        <p:txBody>
          <a:bodyPr anchorCtr="0" anchor="t" bIns="0" lIns="0" spcFirstLastPara="1" rIns="0" wrap="square" tIns="0">
            <a:noAutofit/>
          </a:bodyPr>
          <a:lstStyle/>
          <a:p>
            <a:pPr indent="-330200" lvl="0" marL="457200" marR="0" rtl="0" algn="l">
              <a:spcBef>
                <a:spcPts val="0"/>
              </a:spcBef>
              <a:spcAft>
                <a:spcPts val="0"/>
              </a:spcAft>
              <a:buClr>
                <a:srgbClr val="24314F"/>
              </a:buClr>
              <a:buSzPts val="1600"/>
              <a:buChar char="●"/>
            </a:pPr>
            <a:r>
              <a:rPr lang="en-US" sz="1600">
                <a:solidFill>
                  <a:srgbClr val="24314F"/>
                </a:solidFill>
              </a:rPr>
              <a:t>Qwen-VL takes a different structural approach by adding a dedicated "visual receptor" to the Qwen language model.</a:t>
            </a:r>
            <a:endParaRPr sz="1600">
              <a:solidFill>
                <a:srgbClr val="24314F"/>
              </a:solidFill>
            </a:endParaRPr>
          </a:p>
          <a:p>
            <a:pPr indent="0" lvl="0" marL="457200" marR="0" rtl="0" algn="l">
              <a:spcBef>
                <a:spcPts val="0"/>
              </a:spcBef>
              <a:spcAft>
                <a:spcPts val="0"/>
              </a:spcAft>
              <a:buNone/>
            </a:pPr>
            <a:r>
              <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I</a:t>
            </a:r>
            <a:r>
              <a:rPr lang="en-US" sz="1600">
                <a:solidFill>
                  <a:srgbClr val="24314F"/>
                </a:solidFill>
              </a:rPr>
              <a:t>t uses a Vision Transformer (ViT-bigG) to encode the image, followed by a position-aware cross-attention adapter that compresses the vast sequence of image features into a fixed, manageable length of 256 tokens while retaining 2D positional data.</a:t>
            </a:r>
            <a:endParaRPr sz="1600">
              <a:solidFill>
                <a:srgbClr val="24314F"/>
              </a:solidFill>
            </a:endParaRPr>
          </a:p>
          <a:p>
            <a:pPr indent="0" lvl="0" marL="457200" marR="0" rtl="0" algn="l">
              <a:spcBef>
                <a:spcPts val="0"/>
              </a:spcBef>
              <a:spcAft>
                <a:spcPts val="0"/>
              </a:spcAft>
              <a:buNone/>
            </a:pPr>
            <a:r>
              <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The latest iteration, Qwen3-VL, can natively process up to 1 million tokens, allowing it to parse hour-long videos frame-by-frame and operate UI interfaces as a visual agent</a:t>
            </a:r>
            <a:endParaRPr sz="1600">
              <a:solidFill>
                <a:srgbClr val="24314F"/>
              </a:solidFill>
            </a:endParaRPr>
          </a:p>
          <a:p>
            <a:pPr indent="0" lvl="0" marL="0" marR="0" rtl="0" algn="l">
              <a:spcBef>
                <a:spcPts val="0"/>
              </a:spcBef>
              <a:spcAft>
                <a:spcPts val="0"/>
              </a:spcAft>
              <a:buClr>
                <a:srgbClr val="E6EDF3"/>
              </a:buClr>
              <a:buSzPts val="1300"/>
              <a:buFont typeface="Calibri"/>
              <a:buNone/>
            </a:pPr>
            <a:r>
              <a:rPr lang="en-US" sz="1600">
                <a:solidFill>
                  <a:srgbClr val="24314F"/>
                </a:solidFill>
              </a:rPr>
              <a:t>.</a:t>
            </a:r>
            <a:endParaRPr sz="1600">
              <a:solidFill>
                <a:srgbClr val="24314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grpSp>
        <p:nvGrpSpPr>
          <p:cNvPr id="317" name="Google Shape;317;g3dcb72643a8_0_138"/>
          <p:cNvGrpSpPr/>
          <p:nvPr/>
        </p:nvGrpSpPr>
        <p:grpSpPr>
          <a:xfrm>
            <a:off x="609600" y="775850"/>
            <a:ext cx="10820186" cy="6082177"/>
            <a:chOff x="0" y="-47625"/>
            <a:chExt cx="4274726" cy="2214600"/>
          </a:xfrm>
        </p:grpSpPr>
        <p:sp>
          <p:nvSpPr>
            <p:cNvPr id="318" name="Google Shape;318;g3dcb72643a8_0_13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319" name="Google Shape;319;g3dcb72643a8_0_13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320" name="Google Shape;320;g3dcb72643a8_0_138"/>
          <p:cNvGrpSpPr/>
          <p:nvPr/>
        </p:nvGrpSpPr>
        <p:grpSpPr>
          <a:xfrm>
            <a:off x="787700" y="1094123"/>
            <a:ext cx="10463990" cy="1247014"/>
            <a:chOff x="0" y="-47625"/>
            <a:chExt cx="1808189" cy="1790400"/>
          </a:xfrm>
        </p:grpSpPr>
        <p:sp>
          <p:nvSpPr>
            <p:cNvPr id="321" name="Google Shape;321;g3dcb72643a8_0_1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2" name="Google Shape;322;g3dcb72643a8_0_1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23" name="Google Shape;323;g3dcb72643a8_0_138"/>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Some models that can generate vision task and text tasks</a:t>
            </a:r>
            <a:endParaRPr b="1" sz="2800">
              <a:solidFill>
                <a:srgbClr val="24314F"/>
              </a:solidFill>
            </a:endParaRPr>
          </a:p>
        </p:txBody>
      </p:sp>
      <p:sp>
        <p:nvSpPr>
          <p:cNvPr id="324" name="Google Shape;324;g3dcb72643a8_0_138"/>
          <p:cNvSpPr/>
          <p:nvPr/>
        </p:nvSpPr>
        <p:spPr>
          <a:xfrm>
            <a:off x="896000" y="1382375"/>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3"/>
              </a:rPr>
              <a:t>Qwen3-VL</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Exceptional at video understanding, UI navigation, and multilingual optical character recognition (OCR)</a:t>
            </a:r>
            <a:endParaRPr sz="1600">
              <a:solidFill>
                <a:srgbClr val="24314F"/>
              </a:solidFill>
            </a:endParaRPr>
          </a:p>
        </p:txBody>
      </p:sp>
      <p:grpSp>
        <p:nvGrpSpPr>
          <p:cNvPr id="325" name="Google Shape;325;g3dcb72643a8_0_138"/>
          <p:cNvGrpSpPr/>
          <p:nvPr/>
        </p:nvGrpSpPr>
        <p:grpSpPr>
          <a:xfrm>
            <a:off x="787688" y="2430298"/>
            <a:ext cx="10463990" cy="1247014"/>
            <a:chOff x="0" y="-47625"/>
            <a:chExt cx="1808189" cy="1790400"/>
          </a:xfrm>
        </p:grpSpPr>
        <p:sp>
          <p:nvSpPr>
            <p:cNvPr id="326" name="Google Shape;326;g3dcb72643a8_0_1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7" name="Google Shape;327;g3dcb72643a8_0_1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28" name="Google Shape;328;g3dcb72643a8_0_138"/>
          <p:cNvSpPr/>
          <p:nvPr/>
        </p:nvSpPr>
        <p:spPr>
          <a:xfrm>
            <a:off x="895988" y="2718550"/>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4"/>
              </a:rPr>
              <a:t>GLM-4.6V</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Exceptional at video understanding, UI navigation, and multilingual optical character recognition (OCR)</a:t>
            </a:r>
            <a:endParaRPr sz="1600">
              <a:solidFill>
                <a:srgbClr val="24314F"/>
              </a:solidFill>
            </a:endParaRPr>
          </a:p>
        </p:txBody>
      </p:sp>
      <p:grpSp>
        <p:nvGrpSpPr>
          <p:cNvPr id="329" name="Google Shape;329;g3dcb72643a8_0_138"/>
          <p:cNvGrpSpPr/>
          <p:nvPr/>
        </p:nvGrpSpPr>
        <p:grpSpPr>
          <a:xfrm>
            <a:off x="787688" y="3766473"/>
            <a:ext cx="10463990" cy="1247014"/>
            <a:chOff x="0" y="-47625"/>
            <a:chExt cx="1808189" cy="1790400"/>
          </a:xfrm>
        </p:grpSpPr>
        <p:sp>
          <p:nvSpPr>
            <p:cNvPr id="330" name="Google Shape;330;g3dcb72643a8_0_1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1" name="Google Shape;331;g3dcb72643a8_0_1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32" name="Google Shape;332;g3dcb72643a8_0_138"/>
          <p:cNvSpPr/>
          <p:nvPr/>
        </p:nvSpPr>
        <p:spPr>
          <a:xfrm>
            <a:off x="895988" y="4054725"/>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5"/>
              </a:rPr>
              <a:t>Gemma 3</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Google's lightweight VLM family (1B to 27B parameters) offering strong reasoning across 35+ languages and highly portable designs suitable for edge devices</a:t>
            </a:r>
            <a:endParaRPr sz="1600">
              <a:solidFill>
                <a:srgbClr val="24314F"/>
              </a:solidFill>
            </a:endParaRPr>
          </a:p>
        </p:txBody>
      </p:sp>
      <p:grpSp>
        <p:nvGrpSpPr>
          <p:cNvPr id="333" name="Google Shape;333;g3dcb72643a8_0_138"/>
          <p:cNvGrpSpPr/>
          <p:nvPr/>
        </p:nvGrpSpPr>
        <p:grpSpPr>
          <a:xfrm>
            <a:off x="787700" y="5102649"/>
            <a:ext cx="10463990" cy="1423010"/>
            <a:chOff x="0" y="-47625"/>
            <a:chExt cx="1808189" cy="1790400"/>
          </a:xfrm>
        </p:grpSpPr>
        <p:sp>
          <p:nvSpPr>
            <p:cNvPr id="334" name="Google Shape;334;g3dcb72643a8_0_1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5" name="Google Shape;335;g3dcb72643a8_0_1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36" name="Google Shape;336;g3dcb72643a8_0_138"/>
          <p:cNvSpPr/>
          <p:nvPr/>
        </p:nvSpPr>
        <p:spPr>
          <a:xfrm>
            <a:off x="896000" y="5390900"/>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6"/>
              </a:rPr>
              <a:t>DeepSeek-OCR</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Redefines text processing via "Contexts Optical Compression," encoding dense document images into highly compressed vision tokens instead of lengthy raw text tokens, enabling complex document and chemical formula parsing at high speeds</a:t>
            </a:r>
            <a:endParaRPr sz="1600">
              <a:solidFill>
                <a:srgbClr val="24314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grpSp>
        <p:nvGrpSpPr>
          <p:cNvPr id="342" name="Google Shape;342;g3dcb72643a8_0_70"/>
          <p:cNvGrpSpPr/>
          <p:nvPr/>
        </p:nvGrpSpPr>
        <p:grpSpPr>
          <a:xfrm>
            <a:off x="609600" y="775850"/>
            <a:ext cx="10820186" cy="6082177"/>
            <a:chOff x="0" y="-47625"/>
            <a:chExt cx="4274726" cy="2214600"/>
          </a:xfrm>
        </p:grpSpPr>
        <p:sp>
          <p:nvSpPr>
            <p:cNvPr id="343" name="Google Shape;343;g3dcb72643a8_0_7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344" name="Google Shape;344;g3dcb72643a8_0_7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345" name="Google Shape;345;g3dcb72643a8_0_70"/>
          <p:cNvGrpSpPr/>
          <p:nvPr/>
        </p:nvGrpSpPr>
        <p:grpSpPr>
          <a:xfrm>
            <a:off x="787700" y="1094123"/>
            <a:ext cx="10463990" cy="1247014"/>
            <a:chOff x="0" y="-47625"/>
            <a:chExt cx="1808189" cy="1790400"/>
          </a:xfrm>
        </p:grpSpPr>
        <p:sp>
          <p:nvSpPr>
            <p:cNvPr id="346" name="Google Shape;346;g3dcb72643a8_0_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7" name="Google Shape;347;g3dcb72643a8_0_7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48" name="Google Shape;348;g3dcb72643a8_0_70"/>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Some models that can generate vision task and text tasks</a:t>
            </a:r>
            <a:endParaRPr b="1" sz="2800">
              <a:solidFill>
                <a:srgbClr val="24314F"/>
              </a:solidFill>
            </a:endParaRPr>
          </a:p>
        </p:txBody>
      </p:sp>
      <p:sp>
        <p:nvSpPr>
          <p:cNvPr id="349" name="Google Shape;349;g3dcb72643a8_0_70"/>
          <p:cNvSpPr/>
          <p:nvPr/>
        </p:nvSpPr>
        <p:spPr>
          <a:xfrm>
            <a:off x="896000" y="1382375"/>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3"/>
              </a:rPr>
              <a:t>Pixtral</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Mistral's 12B instruction-tuned model, pre-trained on interleaved image and text documents, specifically excelling at multi-image conversations natively.</a:t>
            </a:r>
            <a:endParaRPr sz="1600">
              <a:solidFill>
                <a:srgbClr val="24314F"/>
              </a:solidFill>
            </a:endParaRPr>
          </a:p>
        </p:txBody>
      </p:sp>
      <p:grpSp>
        <p:nvGrpSpPr>
          <p:cNvPr id="350" name="Google Shape;350;g3dcb72643a8_0_70"/>
          <p:cNvGrpSpPr/>
          <p:nvPr/>
        </p:nvGrpSpPr>
        <p:grpSpPr>
          <a:xfrm>
            <a:off x="787688" y="2430298"/>
            <a:ext cx="10463990" cy="1247014"/>
            <a:chOff x="0" y="-47625"/>
            <a:chExt cx="1808189" cy="1790400"/>
          </a:xfrm>
        </p:grpSpPr>
        <p:sp>
          <p:nvSpPr>
            <p:cNvPr id="351" name="Google Shape;351;g3dcb72643a8_0_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52" name="Google Shape;352;g3dcb72643a8_0_7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53" name="Google Shape;353;g3dcb72643a8_0_70"/>
          <p:cNvSpPr/>
          <p:nvPr/>
        </p:nvSpPr>
        <p:spPr>
          <a:xfrm>
            <a:off x="895988" y="2718550"/>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4"/>
              </a:rPr>
              <a:t>Molmo</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A highly efficient family of models by the Allen Institute for AI, trained on detailed audio-transcribed image captions, which gives it unique "pointing" capabilities to identify spatial coordinates of objects</a:t>
            </a:r>
            <a:endParaRPr sz="1600">
              <a:solidFill>
                <a:srgbClr val="24314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 name="Shape 358"/>
        <p:cNvGrpSpPr/>
        <p:nvPr/>
      </p:nvGrpSpPr>
      <p:grpSpPr>
        <a:xfrm>
          <a:off x="0" y="0"/>
          <a:ext cx="0" cy="0"/>
          <a:chOff x="0" y="0"/>
          <a:chExt cx="0" cy="0"/>
        </a:xfrm>
      </p:grpSpPr>
      <p:grpSp>
        <p:nvGrpSpPr>
          <p:cNvPr id="359" name="Google Shape;359;g3dcb72643a8_0_178"/>
          <p:cNvGrpSpPr/>
          <p:nvPr/>
        </p:nvGrpSpPr>
        <p:grpSpPr>
          <a:xfrm>
            <a:off x="609600" y="775850"/>
            <a:ext cx="10820186" cy="6082177"/>
            <a:chOff x="0" y="-47625"/>
            <a:chExt cx="4274726" cy="2214600"/>
          </a:xfrm>
        </p:grpSpPr>
        <p:sp>
          <p:nvSpPr>
            <p:cNvPr id="360" name="Google Shape;360;g3dcb72643a8_0_17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361" name="Google Shape;361;g3dcb72643a8_0_17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362" name="Google Shape;362;g3dcb72643a8_0_178"/>
          <p:cNvGrpSpPr/>
          <p:nvPr/>
        </p:nvGrpSpPr>
        <p:grpSpPr>
          <a:xfrm>
            <a:off x="787700" y="1094123"/>
            <a:ext cx="10463990" cy="1247014"/>
            <a:chOff x="0" y="-47625"/>
            <a:chExt cx="1808189" cy="1790400"/>
          </a:xfrm>
        </p:grpSpPr>
        <p:sp>
          <p:nvSpPr>
            <p:cNvPr id="363" name="Google Shape;363;g3dcb72643a8_0_17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4" name="Google Shape;364;g3dcb72643a8_0_17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65" name="Google Shape;365;g3dcb72643a8_0_178"/>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Omni models with diffusion</a:t>
            </a:r>
            <a:endParaRPr b="1" sz="2800">
              <a:solidFill>
                <a:srgbClr val="24314F"/>
              </a:solidFill>
            </a:endParaRPr>
          </a:p>
        </p:txBody>
      </p:sp>
      <p:sp>
        <p:nvSpPr>
          <p:cNvPr id="366" name="Google Shape;366;g3dcb72643a8_0_178"/>
          <p:cNvSpPr/>
          <p:nvPr/>
        </p:nvSpPr>
        <p:spPr>
          <a:xfrm>
            <a:off x="896000" y="1382375"/>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3"/>
              </a:rPr>
              <a:t>X-Omni (Tencent)</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Uses unified reinforcement learning to perfectly align an AR model (Qwen2.5-7B) with a diffusion decoder (FLUX.1-dev), enabling best-in-class text-in-image rendering</a:t>
            </a:r>
            <a:endParaRPr sz="1600">
              <a:solidFill>
                <a:srgbClr val="24314F"/>
              </a:solidFill>
            </a:endParaRPr>
          </a:p>
        </p:txBody>
      </p:sp>
      <p:grpSp>
        <p:nvGrpSpPr>
          <p:cNvPr id="367" name="Google Shape;367;g3dcb72643a8_0_178"/>
          <p:cNvGrpSpPr/>
          <p:nvPr/>
        </p:nvGrpSpPr>
        <p:grpSpPr>
          <a:xfrm>
            <a:off x="787688" y="2430298"/>
            <a:ext cx="10463990" cy="1247014"/>
            <a:chOff x="0" y="-47625"/>
            <a:chExt cx="1808189" cy="1790400"/>
          </a:xfrm>
        </p:grpSpPr>
        <p:sp>
          <p:nvSpPr>
            <p:cNvPr id="368" name="Google Shape;368;g3dcb72643a8_0_17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9" name="Google Shape;369;g3dcb72643a8_0_17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70" name="Google Shape;370;g3dcb72643a8_0_178"/>
          <p:cNvSpPr/>
          <p:nvPr/>
        </p:nvSpPr>
        <p:spPr>
          <a:xfrm>
            <a:off x="895988" y="2718550"/>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u="sng">
                <a:solidFill>
                  <a:schemeClr val="hlink"/>
                </a:solidFill>
                <a:hlinkClick r:id="rId4"/>
              </a:rPr>
              <a:t>Omni-Diffusion</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Abandons the AR backbone entirely, using mask-based discrete diffusion to capture joint distributions across text, speech, and images in a unified way</a:t>
            </a:r>
            <a:endParaRPr sz="1600">
              <a:solidFill>
                <a:srgbClr val="24314F"/>
              </a:solidFill>
            </a:endParaRPr>
          </a:p>
        </p:txBody>
      </p:sp>
      <p:grpSp>
        <p:nvGrpSpPr>
          <p:cNvPr id="371" name="Google Shape;371;g3dcb72643a8_0_178"/>
          <p:cNvGrpSpPr/>
          <p:nvPr/>
        </p:nvGrpSpPr>
        <p:grpSpPr>
          <a:xfrm>
            <a:off x="787688" y="3766473"/>
            <a:ext cx="10463990" cy="1247014"/>
            <a:chOff x="0" y="-47625"/>
            <a:chExt cx="1808189" cy="1790400"/>
          </a:xfrm>
        </p:grpSpPr>
        <p:sp>
          <p:nvSpPr>
            <p:cNvPr id="372" name="Google Shape;372;g3dcb72643a8_0_17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3" name="Google Shape;373;g3dcb72643a8_0_17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374" name="Google Shape;374;g3dcb72643a8_0_178"/>
          <p:cNvSpPr/>
          <p:nvPr/>
        </p:nvSpPr>
        <p:spPr>
          <a:xfrm>
            <a:off x="895988" y="4054725"/>
            <a:ext cx="10247400" cy="67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a:solidFill>
                  <a:srgbClr val="24314F"/>
                </a:solidFill>
              </a:rPr>
              <a:t>Dream 7B</a:t>
            </a:r>
            <a:endParaRPr sz="1600">
              <a:solidFill>
                <a:srgbClr val="24314F"/>
              </a:solidFill>
            </a:endParaRPr>
          </a:p>
          <a:p>
            <a:pPr indent="-330200" lvl="0" marL="457200" marR="0" rtl="0" algn="l">
              <a:spcBef>
                <a:spcPts val="0"/>
              </a:spcBef>
              <a:spcAft>
                <a:spcPts val="0"/>
              </a:spcAft>
              <a:buClr>
                <a:srgbClr val="24314F"/>
              </a:buClr>
              <a:buSzPts val="1600"/>
              <a:buChar char="●"/>
            </a:pPr>
            <a:r>
              <a:rPr lang="en-US" sz="1600">
                <a:solidFill>
                  <a:srgbClr val="24314F"/>
                </a:solidFill>
              </a:rPr>
              <a:t>A</a:t>
            </a:r>
            <a:r>
              <a:rPr lang="en-US" sz="1600">
                <a:solidFill>
                  <a:srgbClr val="24314F"/>
                </a:solidFill>
              </a:rPr>
              <a:t>bandons left-to-right generation, instead iteratively denoising fully corrupted sequences to allow for arbitrary-order generation and superior constraint-based planning</a:t>
            </a:r>
            <a:endParaRPr sz="1600">
              <a:solidFill>
                <a:srgbClr val="24314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grpSp>
        <p:nvGrpSpPr>
          <p:cNvPr id="380" name="Google Shape;380;g3dcb72643a8_0_243"/>
          <p:cNvGrpSpPr/>
          <p:nvPr/>
        </p:nvGrpSpPr>
        <p:grpSpPr>
          <a:xfrm>
            <a:off x="609600" y="1394200"/>
            <a:ext cx="5413086" cy="5463861"/>
            <a:chOff x="0" y="-47625"/>
            <a:chExt cx="4274726" cy="2214600"/>
          </a:xfrm>
        </p:grpSpPr>
        <p:sp>
          <p:nvSpPr>
            <p:cNvPr id="381" name="Google Shape;381;g3dcb72643a8_0_24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382" name="Google Shape;382;g3dcb72643a8_0_24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383" name="Google Shape;383;g3dcb72643a8_0_243"/>
          <p:cNvGrpSpPr/>
          <p:nvPr/>
        </p:nvGrpSpPr>
        <p:grpSpPr>
          <a:xfrm>
            <a:off x="798800" y="1636249"/>
            <a:ext cx="4965106" cy="5342375"/>
            <a:chOff x="0" y="-47625"/>
            <a:chExt cx="1808189" cy="1790400"/>
          </a:xfrm>
        </p:grpSpPr>
        <p:sp>
          <p:nvSpPr>
            <p:cNvPr id="384" name="Google Shape;384;g3dcb72643a8_0_24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385" name="Google Shape;385;g3dcb72643a8_0_24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386" name="Google Shape;386;g3dcb72643a8_0_243"/>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Resource Requirements</a:t>
            </a:r>
            <a:endParaRPr b="1" sz="2800">
              <a:solidFill>
                <a:srgbClr val="24314F"/>
              </a:solidFill>
            </a:endParaRPr>
          </a:p>
        </p:txBody>
      </p:sp>
      <p:sp>
        <p:nvSpPr>
          <p:cNvPr id="387" name="Google Shape;387;g3dcb72643a8_0_243"/>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lang="en-US" sz="1600">
                <a:solidFill>
                  <a:srgbClr val="24314F"/>
                </a:solidFill>
              </a:rPr>
              <a:t>LLMs vs Diffusion Models</a:t>
            </a:r>
            <a:endParaRPr i="0" sz="1600" u="none" cap="none" strike="noStrike">
              <a:solidFill>
                <a:srgbClr val="24314F"/>
              </a:solidFill>
            </a:endParaRPr>
          </a:p>
        </p:txBody>
      </p:sp>
      <p:graphicFrame>
        <p:nvGraphicFramePr>
          <p:cNvPr id="388" name="Google Shape;388;g3dcb72643a8_0_243"/>
          <p:cNvGraphicFramePr/>
          <p:nvPr/>
        </p:nvGraphicFramePr>
        <p:xfrm>
          <a:off x="941896" y="2139665"/>
          <a:ext cx="3000000" cy="3000000"/>
        </p:xfrm>
        <a:graphic>
          <a:graphicData uri="http://schemas.openxmlformats.org/drawingml/2006/table">
            <a:tbl>
              <a:tblPr>
                <a:noFill/>
                <a:tableStyleId>{AE5F6827-E82E-4228-9309-3C803ABCFE8B}</a:tableStyleId>
              </a:tblPr>
              <a:tblGrid>
                <a:gridCol w="2084875"/>
                <a:gridCol w="1271775"/>
                <a:gridCol w="1271775"/>
              </a:tblGrid>
              <a:tr h="463300">
                <a:tc>
                  <a:txBody>
                    <a:bodyPr/>
                    <a:lstStyle/>
                    <a:p>
                      <a:pPr indent="0" lvl="0" marL="0" marR="0" rtl="0" algn="l">
                        <a:spcBef>
                          <a:spcPts val="0"/>
                        </a:spcBef>
                        <a:spcAft>
                          <a:spcPts val="0"/>
                        </a:spcAft>
                        <a:buClr>
                          <a:srgbClr val="FFFFFF"/>
                        </a:buClr>
                        <a:buSzPts val="1100"/>
                        <a:buFont typeface="Calibri"/>
                        <a:buNone/>
                      </a:pPr>
                      <a:r>
                        <a:rPr b="1" lang="en-US" sz="1600" u="none" cap="none" strike="noStrike">
                          <a:solidFill>
                            <a:schemeClr val="dk1"/>
                          </a:solidFill>
                        </a:rPr>
                        <a:t>Model Size</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4F8EF7"/>
                        </a:buClr>
                        <a:buSzPts val="1100"/>
                        <a:buFont typeface="Calibri"/>
                        <a:buNone/>
                      </a:pPr>
                      <a:r>
                        <a:rPr b="1" lang="en-US" sz="1600" u="none" cap="none" strike="noStrike">
                          <a:solidFill>
                            <a:schemeClr val="dk1"/>
                          </a:solidFill>
                        </a:rPr>
                        <a:t>FP16 VRAM</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00C9B1"/>
                        </a:buClr>
                        <a:buSzPts val="1100"/>
                        <a:buFont typeface="Calibri"/>
                        <a:buNone/>
                      </a:pPr>
                      <a:r>
                        <a:rPr b="1" lang="en-US" sz="1600" u="none" cap="none" strike="noStrike">
                          <a:solidFill>
                            <a:schemeClr val="dk1"/>
                          </a:solidFill>
                        </a:rPr>
                        <a:t>INT4 VRAM</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r>
              <a:tr h="463300">
                <a:tc>
                  <a:txBody>
                    <a:bodyPr/>
                    <a:lstStyle/>
                    <a:p>
                      <a:pPr indent="0" lvl="0" marL="0" marR="0" rtl="0" algn="l">
                        <a:spcBef>
                          <a:spcPts val="0"/>
                        </a:spcBef>
                        <a:spcAft>
                          <a:spcPts val="0"/>
                        </a:spcAft>
                        <a:buClr>
                          <a:srgbClr val="CDD5F0"/>
                        </a:buClr>
                        <a:buSzPts val="1100"/>
                        <a:buFont typeface="Calibri"/>
                        <a:buNone/>
                      </a:pPr>
                      <a:r>
                        <a:rPr lang="en-US" sz="1600" u="none" cap="none" strike="noStrike">
                          <a:solidFill>
                            <a:schemeClr val="dk1"/>
                          </a:solidFill>
                        </a:rPr>
                        <a:t>7B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4F8EF7"/>
                        </a:buClr>
                        <a:buSzPts val="1100"/>
                        <a:buFont typeface="Calibri"/>
                        <a:buNone/>
                      </a:pPr>
                      <a:r>
                        <a:rPr lang="en-US" sz="1600" u="none" cap="none" strike="noStrike">
                          <a:solidFill>
                            <a:schemeClr val="dk1"/>
                          </a:solidFill>
                        </a:rPr>
                        <a:t>16–20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00C9B1"/>
                        </a:buClr>
                        <a:buSzPts val="1100"/>
                        <a:buFont typeface="Calibri"/>
                        <a:buNone/>
                      </a:pPr>
                      <a:r>
                        <a:rPr lang="en-US" sz="1600" u="none" cap="none" strike="noStrike">
                          <a:solidFill>
                            <a:schemeClr val="dk1"/>
                          </a:solidFill>
                        </a:rPr>
                        <a:t>6–8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r>
              <a:tr h="463300">
                <a:tc>
                  <a:txBody>
                    <a:bodyPr/>
                    <a:lstStyle/>
                    <a:p>
                      <a:pPr indent="0" lvl="0" marL="0" marR="0" rtl="0" algn="l">
                        <a:spcBef>
                          <a:spcPts val="0"/>
                        </a:spcBef>
                        <a:spcAft>
                          <a:spcPts val="0"/>
                        </a:spcAft>
                        <a:buClr>
                          <a:srgbClr val="CDD5F0"/>
                        </a:buClr>
                        <a:buSzPts val="1100"/>
                        <a:buFont typeface="Calibri"/>
                        <a:buNone/>
                      </a:pPr>
                      <a:r>
                        <a:rPr lang="en-US" sz="1600" u="none" cap="none" strike="noStrike">
                          <a:solidFill>
                            <a:schemeClr val="dk1"/>
                          </a:solidFill>
                        </a:rPr>
                        <a:t>33B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4F8EF7"/>
                        </a:buClr>
                        <a:buSzPts val="1100"/>
                        <a:buFont typeface="Calibri"/>
                        <a:buNone/>
                      </a:pPr>
                      <a:r>
                        <a:rPr lang="en-US" sz="1600" u="none" cap="none" strike="noStrike">
                          <a:solidFill>
                            <a:schemeClr val="dk1"/>
                          </a:solidFill>
                        </a:rPr>
                        <a:t>70–80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00C9B1"/>
                        </a:buClr>
                        <a:buSzPts val="1100"/>
                        <a:buFont typeface="Calibri"/>
                        <a:buNone/>
                      </a:pPr>
                      <a:r>
                        <a:rPr lang="en-US" sz="1600" u="none" cap="none" strike="noStrike">
                          <a:solidFill>
                            <a:schemeClr val="dk1"/>
                          </a:solidFill>
                        </a:rPr>
                        <a:t>20–28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r>
              <a:tr h="463300">
                <a:tc>
                  <a:txBody>
                    <a:bodyPr/>
                    <a:lstStyle/>
                    <a:p>
                      <a:pPr indent="0" lvl="0" marL="0" marR="0" rtl="0" algn="l">
                        <a:spcBef>
                          <a:spcPts val="0"/>
                        </a:spcBef>
                        <a:spcAft>
                          <a:spcPts val="0"/>
                        </a:spcAft>
                        <a:buClr>
                          <a:srgbClr val="CDD5F0"/>
                        </a:buClr>
                        <a:buSzPts val="1100"/>
                        <a:buFont typeface="Calibri"/>
                        <a:buNone/>
                      </a:pPr>
                      <a:r>
                        <a:rPr lang="en-US" sz="1600" u="none" cap="none" strike="noStrike">
                          <a:solidFill>
                            <a:schemeClr val="dk1"/>
                          </a:solidFill>
                        </a:rPr>
                        <a:t>70B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4F8EF7"/>
                        </a:buClr>
                        <a:buSzPts val="1100"/>
                        <a:buFont typeface="Calibri"/>
                        <a:buNone/>
                      </a:pPr>
                      <a:r>
                        <a:rPr lang="en-US" sz="1600" u="none" cap="none" strike="noStrike">
                          <a:solidFill>
                            <a:schemeClr val="dk1"/>
                          </a:solidFill>
                        </a:rPr>
                        <a:t>140–160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00C9B1"/>
                        </a:buClr>
                        <a:buSzPts val="1100"/>
                        <a:buFont typeface="Calibri"/>
                        <a:buNone/>
                      </a:pPr>
                      <a:r>
                        <a:rPr lang="en-US" sz="1600" u="none" cap="none" strike="noStrike">
                          <a:solidFill>
                            <a:schemeClr val="dk1"/>
                          </a:solidFill>
                        </a:rPr>
                        <a:t>40–48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r>
              <a:tr h="463300">
                <a:tc>
                  <a:txBody>
                    <a:bodyPr/>
                    <a:lstStyle/>
                    <a:p>
                      <a:pPr indent="0" lvl="0" marL="0" marR="0" rtl="0" algn="l">
                        <a:spcBef>
                          <a:spcPts val="0"/>
                        </a:spcBef>
                        <a:spcAft>
                          <a:spcPts val="0"/>
                        </a:spcAft>
                        <a:buClr>
                          <a:srgbClr val="FFD166"/>
                        </a:buClr>
                        <a:buSzPts val="1100"/>
                        <a:buFont typeface="Calibri"/>
                        <a:buNone/>
                      </a:pPr>
                      <a:r>
                        <a:rPr lang="en-US" sz="1600" u="none" cap="none" strike="noStrike">
                          <a:solidFill>
                            <a:schemeClr val="dk1"/>
                          </a:solidFill>
                        </a:rPr>
                        <a:t>GLM-4.5 (355B)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FF6B6B"/>
                        </a:buClr>
                        <a:buSzPts val="1100"/>
                        <a:buFont typeface="Calibri"/>
                        <a:buNone/>
                      </a:pPr>
                      <a:r>
                        <a:rPr lang="en-US" sz="1600" u="none" cap="none" strike="noStrike">
                          <a:solidFill>
                            <a:schemeClr val="dk1"/>
                          </a:solidFill>
                        </a:rPr>
                        <a:t>823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FFD166"/>
                        </a:buClr>
                        <a:buSzPts val="1100"/>
                        <a:buFont typeface="Calibri"/>
                        <a:buNone/>
                      </a:pPr>
                      <a:r>
                        <a:rPr lang="en-US" sz="1600" u="none" cap="none" strike="noStrike">
                          <a:solidFill>
                            <a:schemeClr val="dk1"/>
                          </a:solidFill>
                        </a:rPr>
                        <a:t>210 GB</a:t>
                      </a:r>
                      <a:endParaRPr sz="1600" u="none" cap="none" strike="noStrike">
                        <a:solidFill>
                          <a:schemeClr val="dk1"/>
                        </a:solidFill>
                      </a:endParaRPr>
                    </a:p>
                  </a:txBody>
                  <a:tcPr marT="60975" marB="60975" marR="121925" marL="121925">
                    <a:lnL cap="flat" cmpd="sng" w="12700">
                      <a:solidFill>
                        <a:srgbClr val="2E3A5A"/>
                      </a:solidFill>
                      <a:prstDash val="solid"/>
                      <a:round/>
                      <a:headEnd len="sm" w="sm" type="none"/>
                      <a:tailEnd len="sm" w="sm" type="none"/>
                    </a:lnL>
                    <a:lnR cap="flat" cmpd="sng" w="12700">
                      <a:solidFill>
                        <a:srgbClr val="2E3A5A"/>
                      </a:solidFill>
                      <a:prstDash val="solid"/>
                      <a:round/>
                      <a:headEnd len="sm" w="sm" type="none"/>
                      <a:tailEnd len="sm" w="sm" type="none"/>
                    </a:lnR>
                    <a:lnT cap="flat" cmpd="sng" w="12700">
                      <a:solidFill>
                        <a:srgbClr val="2E3A5A"/>
                      </a:solidFill>
                      <a:prstDash val="solid"/>
                      <a:round/>
                      <a:headEnd len="sm" w="sm" type="none"/>
                      <a:tailEnd len="sm" w="sm" type="none"/>
                    </a:lnT>
                    <a:lnB cap="flat" cmpd="sng" w="12700">
                      <a:solidFill>
                        <a:srgbClr val="2E3A5A"/>
                      </a:solidFill>
                      <a:prstDash val="solid"/>
                      <a:round/>
                      <a:headEnd len="sm" w="sm" type="none"/>
                      <a:tailEnd len="sm" w="sm" type="none"/>
                    </a:lnB>
                    <a:solidFill>
                      <a:schemeClr val="lt1"/>
                    </a:solidFill>
                  </a:tcPr>
                </a:tc>
              </a:tr>
            </a:tbl>
          </a:graphicData>
        </a:graphic>
      </p:graphicFrame>
      <p:sp>
        <p:nvSpPr>
          <p:cNvPr id="389" name="Google Shape;389;g3dcb72643a8_0_243"/>
          <p:cNvSpPr txBox="1"/>
          <p:nvPr/>
        </p:nvSpPr>
        <p:spPr>
          <a:xfrm>
            <a:off x="941900" y="4889350"/>
            <a:ext cx="4547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KV-Cache Context Pressure: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GB per 8K tokens on a 7B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+20 GB per 8K tokens on a 70B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INT4 quantization cuts VRAM by ~4×</a:t>
            </a:r>
            <a:endParaRPr/>
          </a:p>
        </p:txBody>
      </p:sp>
      <p:grpSp>
        <p:nvGrpSpPr>
          <p:cNvPr id="390" name="Google Shape;390;g3dcb72643a8_0_243"/>
          <p:cNvGrpSpPr/>
          <p:nvPr/>
        </p:nvGrpSpPr>
        <p:grpSpPr>
          <a:xfrm>
            <a:off x="6280661" y="1401381"/>
            <a:ext cx="5413086" cy="5463861"/>
            <a:chOff x="0" y="-47625"/>
            <a:chExt cx="4274726" cy="2214600"/>
          </a:xfrm>
        </p:grpSpPr>
        <p:sp>
          <p:nvSpPr>
            <p:cNvPr id="391" name="Google Shape;391;g3dcb72643a8_0_24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392" name="Google Shape;392;g3dcb72643a8_0_24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393" name="Google Shape;393;g3dcb72643a8_0_243"/>
          <p:cNvGrpSpPr/>
          <p:nvPr/>
        </p:nvGrpSpPr>
        <p:grpSpPr>
          <a:xfrm>
            <a:off x="6469861" y="1740231"/>
            <a:ext cx="4965106" cy="5245514"/>
            <a:chOff x="0" y="-47625"/>
            <a:chExt cx="1808189" cy="1790400"/>
          </a:xfrm>
        </p:grpSpPr>
        <p:sp>
          <p:nvSpPr>
            <p:cNvPr id="394" name="Google Shape;394;g3dcb72643a8_0_24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395" name="Google Shape;395;g3dcb72643a8_0_24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396" name="Google Shape;396;g3dcb72643a8_0_243"/>
          <p:cNvSpPr txBox="1"/>
          <p:nvPr/>
        </p:nvSpPr>
        <p:spPr>
          <a:xfrm>
            <a:off x="6612925" y="2356650"/>
            <a:ext cx="4547700" cy="4125000"/>
          </a:xfrm>
          <a:prstGeom prst="rect">
            <a:avLst/>
          </a:prstGeom>
          <a:noFill/>
          <a:ln>
            <a:noFill/>
          </a:ln>
        </p:spPr>
        <p:txBody>
          <a:bodyPr anchorCtr="0" anchor="t" bIns="91425" lIns="91425" spcFirstLastPara="1" rIns="91425" wrap="square" tIns="91425">
            <a:spAutoFit/>
          </a:bodyPr>
          <a:lstStyle/>
          <a:p>
            <a:pPr indent="-330200" lvl="0" marL="457200" rtl="0" algn="l">
              <a:spcBef>
                <a:spcPts val="1200"/>
              </a:spcBef>
              <a:spcAft>
                <a:spcPts val="0"/>
              </a:spcAft>
              <a:buSzPts val="1600"/>
              <a:buChar char="●"/>
            </a:pPr>
            <a:r>
              <a:rPr lang="en-US" sz="1600"/>
              <a:t>Unlike LLMs, diffusion policies are primarily constrained by raw compute.</a:t>
            </a:r>
            <a:endParaRPr sz="1600"/>
          </a:p>
          <a:p>
            <a:pPr indent="-330200" lvl="0" marL="457200" rtl="0" algn="l">
              <a:spcBef>
                <a:spcPts val="0"/>
              </a:spcBef>
              <a:spcAft>
                <a:spcPts val="0"/>
              </a:spcAft>
              <a:buSzPts val="1600"/>
              <a:buChar char="●"/>
            </a:pPr>
            <a:r>
              <a:rPr lang="en-US" sz="1600"/>
              <a:t>Generating an output requires iterative denoising (10 to 100 steps), which continuously saturates accelerator cores with dense matrix multiplications.</a:t>
            </a:r>
            <a:endParaRPr sz="1600"/>
          </a:p>
          <a:p>
            <a:pPr indent="-330200" lvl="0" marL="457200" rtl="0" algn="l">
              <a:spcBef>
                <a:spcPts val="0"/>
              </a:spcBef>
              <a:spcAft>
                <a:spcPts val="0"/>
              </a:spcAft>
              <a:buSzPts val="1600"/>
              <a:buChar char="●"/>
            </a:pPr>
            <a:r>
              <a:rPr lang="en-US" sz="1600"/>
              <a:t>On edge or mobile hardware, this sustained compute pressure rapidly hits thermal ceilings, triggering hardware throttling and severe latency spikes that often drop control frequencies to just 1-2 Hz.</a:t>
            </a:r>
            <a:endParaRPr sz="1600"/>
          </a:p>
          <a:p>
            <a:pPr indent="-330200" lvl="0" marL="457200" rtl="0" algn="l">
              <a:spcBef>
                <a:spcPts val="0"/>
              </a:spcBef>
              <a:spcAft>
                <a:spcPts val="0"/>
              </a:spcAft>
              <a:buSzPts val="1600"/>
              <a:buChar char="●"/>
            </a:pPr>
            <a:r>
              <a:rPr lang="en-US" sz="1600"/>
              <a:t>Diffusion models offer a unique advantage: you can explicitly dial down the number of diffusion timesteps to speed up inference, trading speed for fidelity.</a:t>
            </a:r>
            <a:endParaRPr sz="1600"/>
          </a:p>
        </p:txBody>
      </p:sp>
      <p:sp>
        <p:nvSpPr>
          <p:cNvPr id="397" name="Google Shape;397;g3dcb72643a8_0_243"/>
          <p:cNvSpPr/>
          <p:nvPr/>
        </p:nvSpPr>
        <p:spPr>
          <a:xfrm>
            <a:off x="941901" y="1773975"/>
            <a:ext cx="4741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lang="en-US" sz="1600">
                <a:solidFill>
                  <a:srgbClr val="24314F"/>
                </a:solidFill>
              </a:rPr>
              <a:t>LLMs</a:t>
            </a:r>
            <a:endParaRPr i="0" sz="1600" u="none" cap="none" strike="noStrike">
              <a:solidFill>
                <a:srgbClr val="24314F"/>
              </a:solidFill>
            </a:endParaRPr>
          </a:p>
        </p:txBody>
      </p:sp>
      <p:sp>
        <p:nvSpPr>
          <p:cNvPr id="398" name="Google Shape;398;g3dcb72643a8_0_243"/>
          <p:cNvSpPr/>
          <p:nvPr/>
        </p:nvSpPr>
        <p:spPr>
          <a:xfrm>
            <a:off x="6616451" y="1990950"/>
            <a:ext cx="4741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lang="en-US" sz="1600">
                <a:solidFill>
                  <a:srgbClr val="24314F"/>
                </a:solidFill>
              </a:rPr>
              <a:t>Diffusion</a:t>
            </a:r>
            <a:endParaRPr i="0" sz="1600" u="none" cap="none" strike="noStrike">
              <a:solidFill>
                <a:srgbClr val="24314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dcb72643a8_0_1"/>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405" name="Google Shape;405;g3dcb72643a8_0_1"/>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work on research poster(due 31st March)</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shift from the voice agent to general omni model optimizing.( Work on the code Hongrui sent)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do survey about multiplexing</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MuxWise </a:t>
            </a:r>
            <a:r>
              <a:rPr lang="en-US" sz="1900" u="sng">
                <a:solidFill>
                  <a:schemeClr val="hlink"/>
                </a:solidFill>
                <a:latin typeface="Roboto Mono"/>
                <a:ea typeface="Roboto Mono"/>
                <a:cs typeface="Roboto Mono"/>
                <a:sym typeface="Roboto Mono"/>
                <a:hlinkClick r:id="rId3"/>
              </a:rPr>
              <a:t>https://arxiv.org/pdf/2504.14489</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Bullet </a:t>
            </a:r>
            <a:r>
              <a:rPr lang="en-US" sz="1900" u="sng">
                <a:solidFill>
                  <a:schemeClr val="hlink"/>
                </a:solidFill>
                <a:latin typeface="Roboto Mono"/>
                <a:ea typeface="Roboto Mono"/>
                <a:cs typeface="Roboto Mono"/>
                <a:sym typeface="Roboto Mono"/>
                <a:hlinkClick r:id="rId4"/>
              </a:rPr>
              <a:t>https://arxiv.org/pdf/2504.19516v2</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understand the resource requirement </a:t>
            </a:r>
            <a:endParaRPr sz="1900">
              <a:solidFill>
                <a:schemeClr val="dk1"/>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d20642719b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Mar 24, 2026</a:t>
            </a:r>
            <a:endParaRPr>
              <a:solidFill>
                <a:srgbClr val="FF0000"/>
              </a:solidFill>
              <a:latin typeface="ADLaM Display"/>
              <a:ea typeface="ADLaM Display"/>
              <a:cs typeface="ADLaM Display"/>
              <a:sym typeface="ADLaM Display"/>
            </a:endParaRPr>
          </a:p>
        </p:txBody>
      </p:sp>
      <p:sp>
        <p:nvSpPr>
          <p:cNvPr id="411" name="Google Shape;411;g3d20642719b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studying for midterm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cc8193d43a_3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Mar 16, 2026</a:t>
            </a:r>
            <a:endParaRPr>
              <a:solidFill>
                <a:srgbClr val="FF0000"/>
              </a:solidFill>
              <a:latin typeface="ADLaM Display"/>
              <a:ea typeface="ADLaM Display"/>
              <a:cs typeface="ADLaM Display"/>
              <a:sym typeface="ADLaM Display"/>
            </a:endParaRPr>
          </a:p>
        </p:txBody>
      </p:sp>
      <p:sp>
        <p:nvSpPr>
          <p:cNvPr id="417" name="Google Shape;417;g3cc8193d43a_3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d041c245af_0_5"/>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424" name="Google Shape;424;g3d041c245af_0_5"/>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shift from the voice agent to general omni model optimizing.( Work on the code Hongrui sent) (NSCC down)</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do survey about multiplexing</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USher </a:t>
            </a:r>
            <a:r>
              <a:rPr lang="en-US" sz="1900" u="sng">
                <a:solidFill>
                  <a:schemeClr val="hlink"/>
                </a:solidFill>
                <a:latin typeface="Roboto Mono"/>
                <a:ea typeface="Roboto Mono"/>
                <a:cs typeface="Roboto Mono"/>
                <a:sym typeface="Roboto Mono"/>
                <a:hlinkClick r:id="rId3"/>
              </a:rPr>
              <a:t>https://www.usenix.org/system/files/osdi24-shubha.pdf</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Orion </a:t>
            </a:r>
            <a:r>
              <a:rPr lang="en-US" sz="1900" u="sng">
                <a:solidFill>
                  <a:schemeClr val="hlink"/>
                </a:solidFill>
                <a:latin typeface="Roboto Mono"/>
                <a:ea typeface="Roboto Mono"/>
                <a:cs typeface="Roboto Mono"/>
                <a:sym typeface="Roboto Mono"/>
                <a:hlinkClick r:id="rId4"/>
              </a:rPr>
              <a:t>https://dl.acm.org/doi/10.1145/3627703.3629578</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MuxServe </a:t>
            </a:r>
            <a:r>
              <a:rPr lang="en-US" sz="1900" u="sng">
                <a:solidFill>
                  <a:schemeClr val="hlink"/>
                </a:solidFill>
                <a:latin typeface="Roboto Mono"/>
                <a:ea typeface="Roboto Mono"/>
                <a:cs typeface="Roboto Mono"/>
                <a:sym typeface="Roboto Mono"/>
                <a:hlinkClick r:id="rId5"/>
              </a:rPr>
              <a:t>https://arxiv.org/abs/2404.02015</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d775964ee3_0_1"/>
          <p:cNvSpPr txBox="1"/>
          <p:nvPr/>
        </p:nvSpPr>
        <p:spPr>
          <a:xfrm>
            <a:off x="685800" y="3792270"/>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Survey</a:t>
            </a:r>
            <a:endParaRPr sz="900"/>
          </a:p>
        </p:txBody>
      </p:sp>
      <p:sp>
        <p:nvSpPr>
          <p:cNvPr id="434" name="Google Shape;434;g3d775964ee3_0_1"/>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435" name="Google Shape;435;g3d775964ee3_0_1"/>
          <p:cNvGrpSpPr/>
          <p:nvPr/>
        </p:nvGrpSpPr>
        <p:grpSpPr>
          <a:xfrm rot="-5400000">
            <a:off x="3451093" y="2718650"/>
            <a:ext cx="396240" cy="5955427"/>
            <a:chOff x="0" y="-47625"/>
            <a:chExt cx="660400" cy="9925711"/>
          </a:xfrm>
        </p:grpSpPr>
        <p:sp>
          <p:nvSpPr>
            <p:cNvPr id="436" name="Google Shape;436;g3d775964ee3_0_1"/>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437" name="Google Shape;437;g3d775964ee3_0_1"/>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438" name="Google Shape;438;g3d775964ee3_0_1"/>
          <p:cNvSpPr txBox="1"/>
          <p:nvPr/>
        </p:nvSpPr>
        <p:spPr>
          <a:xfrm>
            <a:off x="685800" y="4860075"/>
            <a:ext cx="10820400" cy="10344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Focus: Omni-Models &amp; Prefill–Decode Dynamics</a:t>
            </a:r>
            <a:endParaRPr b="1" sz="3000">
              <a:solidFill>
                <a:srgbClr val="24314F"/>
              </a:solidFill>
            </a:endParaRPr>
          </a:p>
          <a:p>
            <a:pPr indent="0" lvl="0" marL="0" marR="0" rtl="0" algn="l">
              <a:lnSpc>
                <a:spcPct val="124000"/>
              </a:lnSpc>
              <a:spcBef>
                <a:spcPts val="0"/>
              </a:spcBef>
              <a:spcAft>
                <a:spcPts val="0"/>
              </a:spcAft>
              <a:buNone/>
            </a:pPr>
            <a:r>
              <a:t/>
            </a:r>
            <a:endParaRPr b="1" sz="3000">
              <a:solidFill>
                <a:srgbClr val="24314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3" name="Shape 443"/>
        <p:cNvGrpSpPr/>
        <p:nvPr/>
      </p:nvGrpSpPr>
      <p:grpSpPr>
        <a:xfrm>
          <a:off x="0" y="0"/>
          <a:ext cx="0" cy="0"/>
          <a:chOff x="0" y="0"/>
          <a:chExt cx="0" cy="0"/>
        </a:xfrm>
      </p:grpSpPr>
      <p:grpSp>
        <p:nvGrpSpPr>
          <p:cNvPr id="444" name="Google Shape;444;g3d775964ee3_0_60"/>
          <p:cNvGrpSpPr/>
          <p:nvPr/>
        </p:nvGrpSpPr>
        <p:grpSpPr>
          <a:xfrm>
            <a:off x="609600" y="2979599"/>
            <a:ext cx="10820186" cy="3878429"/>
            <a:chOff x="0" y="-47625"/>
            <a:chExt cx="4274726" cy="2214600"/>
          </a:xfrm>
        </p:grpSpPr>
        <p:sp>
          <p:nvSpPr>
            <p:cNvPr id="445" name="Google Shape;445;g3d775964ee3_0_6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446" name="Google Shape;446;g3d775964ee3_0_6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447" name="Google Shape;447;g3d775964ee3_0_60"/>
          <p:cNvGrpSpPr/>
          <p:nvPr/>
        </p:nvGrpSpPr>
        <p:grpSpPr>
          <a:xfrm>
            <a:off x="798800" y="3100225"/>
            <a:ext cx="10463990" cy="3878364"/>
            <a:chOff x="0" y="-47625"/>
            <a:chExt cx="1808189" cy="1790400"/>
          </a:xfrm>
        </p:grpSpPr>
        <p:sp>
          <p:nvSpPr>
            <p:cNvPr id="448" name="Google Shape;448;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49" name="Google Shape;449;g3d775964ee3_0_6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450" name="Google Shape;450;g3d775964ee3_0_60"/>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i="0" lang="en-US" sz="2800" u="none" cap="none" strike="noStrike">
                <a:solidFill>
                  <a:srgbClr val="24314F"/>
                </a:solidFill>
              </a:rPr>
              <a:t>USher: Holistic Interference Avoidance</a:t>
            </a:r>
            <a:endParaRPr i="0" sz="2800" u="none" cap="none" strike="noStrike">
              <a:solidFill>
                <a:srgbClr val="24314F"/>
              </a:solidFill>
            </a:endParaRPr>
          </a:p>
        </p:txBody>
      </p:sp>
      <p:sp>
        <p:nvSpPr>
          <p:cNvPr id="451" name="Google Shape;451;g3d775964ee3_0_60"/>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i="0" lang="en-US" sz="1600" u="none" cap="none" strike="noStrike">
                <a:solidFill>
                  <a:srgbClr val="24314F"/>
                </a:solidFill>
              </a:rPr>
              <a:t>Shubha, Shen, Iyer · University of Virginia &amp; Georgia Tech · OSDI 2024</a:t>
            </a:r>
            <a:endParaRPr i="0" sz="1600" u="none" cap="none" strike="noStrike">
              <a:solidFill>
                <a:srgbClr val="24314F"/>
              </a:solidFill>
            </a:endParaRPr>
          </a:p>
        </p:txBody>
      </p:sp>
      <p:grpSp>
        <p:nvGrpSpPr>
          <p:cNvPr id="452" name="Google Shape;452;g3d775964ee3_0_60"/>
          <p:cNvGrpSpPr/>
          <p:nvPr/>
        </p:nvGrpSpPr>
        <p:grpSpPr>
          <a:xfrm>
            <a:off x="850300" y="1545346"/>
            <a:ext cx="1652866" cy="1199747"/>
            <a:chOff x="0" y="-47625"/>
            <a:chExt cx="1808189" cy="1790400"/>
          </a:xfrm>
        </p:grpSpPr>
        <p:sp>
          <p:nvSpPr>
            <p:cNvPr id="453" name="Google Shape;453;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54" name="Google Shape;454;g3d775964ee3_0_60"/>
            <p:cNvSpPr txBox="1"/>
            <p:nvPr/>
          </p:nvSpPr>
          <p:spPr>
            <a:xfrm>
              <a:off x="0" y="-47625"/>
              <a:ext cx="1808100" cy="1790400"/>
            </a:xfrm>
            <a:prstGeom prst="rect">
              <a:avLst/>
            </a:prstGeom>
            <a:solidFill>
              <a:srgbClr val="D9EAD3"/>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Inference Requests</a:t>
              </a:r>
              <a:endParaRPr sz="1082">
                <a:solidFill>
                  <a:schemeClr val="dk1"/>
                </a:solidFill>
              </a:endParaRPr>
            </a:p>
          </p:txBody>
        </p:sp>
      </p:grpSp>
      <p:grpSp>
        <p:nvGrpSpPr>
          <p:cNvPr id="455" name="Google Shape;455;g3d775964ee3_0_60"/>
          <p:cNvGrpSpPr/>
          <p:nvPr/>
        </p:nvGrpSpPr>
        <p:grpSpPr>
          <a:xfrm>
            <a:off x="2775226" y="1545333"/>
            <a:ext cx="1937435" cy="1199747"/>
            <a:chOff x="-311291" y="-23857"/>
            <a:chExt cx="2119500" cy="1790400"/>
          </a:xfrm>
        </p:grpSpPr>
        <p:sp>
          <p:nvSpPr>
            <p:cNvPr id="456" name="Google Shape;456;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D2E9"/>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57" name="Google Shape;457;g3d775964ee3_0_60"/>
            <p:cNvSpPr txBox="1"/>
            <p:nvPr/>
          </p:nvSpPr>
          <p:spPr>
            <a:xfrm>
              <a:off x="-311291" y="-23857"/>
              <a:ext cx="2119500" cy="1790400"/>
            </a:xfrm>
            <a:prstGeom prst="rect">
              <a:avLst/>
            </a:prstGeom>
            <a:solidFill>
              <a:srgbClr val="D9D2E9"/>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Resource Requirement Estimator</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(Kernel-level profiling)</a:t>
              </a:r>
              <a:endParaRPr sz="1082">
                <a:solidFill>
                  <a:schemeClr val="dk1"/>
                </a:solidFill>
              </a:endParaRPr>
            </a:p>
          </p:txBody>
        </p:sp>
      </p:grpSp>
      <p:cxnSp>
        <p:nvCxnSpPr>
          <p:cNvPr id="458" name="Google Shape;458;g3d775964ee3_0_60"/>
          <p:cNvCxnSpPr>
            <a:stCxn id="454" idx="3"/>
            <a:endCxn id="457" idx="1"/>
          </p:cNvCxnSpPr>
          <p:nvPr/>
        </p:nvCxnSpPr>
        <p:spPr>
          <a:xfrm>
            <a:off x="2503084" y="2145220"/>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459" name="Google Shape;459;g3d775964ee3_0_60"/>
          <p:cNvGrpSpPr/>
          <p:nvPr/>
        </p:nvGrpSpPr>
        <p:grpSpPr>
          <a:xfrm>
            <a:off x="4984855" y="1545333"/>
            <a:ext cx="1937435" cy="1199747"/>
            <a:chOff x="-311291" y="-23857"/>
            <a:chExt cx="2119500" cy="1790400"/>
          </a:xfrm>
        </p:grpSpPr>
        <p:sp>
          <p:nvSpPr>
            <p:cNvPr id="460" name="Google Shape;460;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EAD1DC"/>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61" name="Google Shape;461;g3d775964ee3_0_60"/>
            <p:cNvSpPr txBox="1"/>
            <p:nvPr/>
          </p:nvSpPr>
          <p:spPr>
            <a:xfrm>
              <a:off x="-311291" y="-23857"/>
              <a:ext cx="2119500" cy="1790400"/>
            </a:xfrm>
            <a:prstGeom prst="rect">
              <a:avLst/>
            </a:prstGeom>
            <a:solidFill>
              <a:srgbClr val="EAD1DC"/>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Interference-Aware Scheduler</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(Batch size · Replication · Placement)</a:t>
              </a:r>
              <a:endParaRPr sz="1082">
                <a:solidFill>
                  <a:schemeClr val="dk1"/>
                </a:solidFill>
              </a:endParaRPr>
            </a:p>
          </p:txBody>
        </p:sp>
      </p:grpSp>
      <p:cxnSp>
        <p:nvCxnSpPr>
          <p:cNvPr id="462" name="Google Shape;462;g3d775964ee3_0_60"/>
          <p:cNvCxnSpPr>
            <a:endCxn id="461" idx="1"/>
          </p:cNvCxnSpPr>
          <p:nvPr/>
        </p:nvCxnSpPr>
        <p:spPr>
          <a:xfrm>
            <a:off x="4712755" y="2145207"/>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463" name="Google Shape;463;g3d775964ee3_0_60"/>
          <p:cNvGrpSpPr/>
          <p:nvPr/>
        </p:nvGrpSpPr>
        <p:grpSpPr>
          <a:xfrm>
            <a:off x="7194451" y="1545333"/>
            <a:ext cx="1937435" cy="1199747"/>
            <a:chOff x="-311291" y="-23857"/>
            <a:chExt cx="2119500" cy="1790400"/>
          </a:xfrm>
        </p:grpSpPr>
        <p:sp>
          <p:nvSpPr>
            <p:cNvPr id="464" name="Google Shape;464;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65" name="Google Shape;465;g3d775964ee3_0_60"/>
            <p:cNvSpPr txBox="1"/>
            <p:nvPr/>
          </p:nvSpPr>
          <p:spPr>
            <a:xfrm>
              <a:off x="-311291" y="-23857"/>
              <a:ext cx="2119500" cy="1790400"/>
            </a:xfrm>
            <a:prstGeom prst="rect">
              <a:avLst/>
            </a:prstGeom>
            <a:solidFill>
              <a:srgbClr val="FCE5CD"/>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Operator Graph Merger</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(Cache-aware co-execution)</a:t>
              </a:r>
              <a:endParaRPr sz="1082">
                <a:solidFill>
                  <a:schemeClr val="dk1"/>
                </a:solidFill>
              </a:endParaRPr>
            </a:p>
          </p:txBody>
        </p:sp>
      </p:grpSp>
      <p:cxnSp>
        <p:nvCxnSpPr>
          <p:cNvPr id="466" name="Google Shape;466;g3d775964ee3_0_60"/>
          <p:cNvCxnSpPr>
            <a:endCxn id="465" idx="1"/>
          </p:cNvCxnSpPr>
          <p:nvPr/>
        </p:nvCxnSpPr>
        <p:spPr>
          <a:xfrm>
            <a:off x="6922351" y="2145207"/>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467" name="Google Shape;467;g3d775964ee3_0_60"/>
          <p:cNvGrpSpPr/>
          <p:nvPr/>
        </p:nvGrpSpPr>
        <p:grpSpPr>
          <a:xfrm>
            <a:off x="9404046" y="1545333"/>
            <a:ext cx="1937435" cy="1199747"/>
            <a:chOff x="-311291" y="-23857"/>
            <a:chExt cx="2119500" cy="1790400"/>
          </a:xfrm>
        </p:grpSpPr>
        <p:sp>
          <p:nvSpPr>
            <p:cNvPr id="468" name="Google Shape;468;g3d775964ee3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C9DAF8"/>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69" name="Google Shape;469;g3d775964ee3_0_60"/>
            <p:cNvSpPr txBox="1"/>
            <p:nvPr/>
          </p:nvSpPr>
          <p:spPr>
            <a:xfrm>
              <a:off x="-311291" y="-23857"/>
              <a:ext cx="2119500" cy="1790400"/>
            </a:xfrm>
            <a:prstGeom prst="rect">
              <a:avLst/>
            </a:prstGeom>
            <a:solidFill>
              <a:srgbClr val="C9DAF8"/>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GPU Resources (SMs + Memory)</a:t>
              </a:r>
              <a:endParaRPr sz="1082">
                <a:solidFill>
                  <a:schemeClr val="dk1"/>
                </a:solidFill>
              </a:endParaRPr>
            </a:p>
          </p:txBody>
        </p:sp>
      </p:grpSp>
      <p:cxnSp>
        <p:nvCxnSpPr>
          <p:cNvPr id="470" name="Google Shape;470;g3d775964ee3_0_60"/>
          <p:cNvCxnSpPr>
            <a:endCxn id="469" idx="1"/>
          </p:cNvCxnSpPr>
          <p:nvPr/>
        </p:nvCxnSpPr>
        <p:spPr>
          <a:xfrm>
            <a:off x="9131946" y="2145207"/>
            <a:ext cx="272100" cy="0"/>
          </a:xfrm>
          <a:prstGeom prst="straightConnector1">
            <a:avLst/>
          </a:prstGeom>
          <a:noFill/>
          <a:ln cap="flat" cmpd="sng" w="9675">
            <a:solidFill>
              <a:schemeClr val="dk2"/>
            </a:solidFill>
            <a:prstDash val="solid"/>
            <a:round/>
            <a:headEnd len="med" w="med" type="none"/>
            <a:tailEnd len="med" w="med" type="triangle"/>
          </a:ln>
        </p:spPr>
      </p:cxnSp>
      <p:sp>
        <p:nvSpPr>
          <p:cNvPr id="471" name="Google Shape;471;g3d775964ee3_0_60"/>
          <p:cNvSpPr/>
          <p:nvPr/>
        </p:nvSpPr>
        <p:spPr>
          <a:xfrm>
            <a:off x="941901" y="3240056"/>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i="0" lang="en-US" sz="1600" u="none" cap="none" strike="noStrike">
                <a:solidFill>
                  <a:srgbClr val="24314F"/>
                </a:solidFill>
              </a:rPr>
              <a:t>Core Problem</a:t>
            </a:r>
            <a:endParaRPr i="0" sz="1600" u="none" cap="none" strike="noStrike">
              <a:solidFill>
                <a:srgbClr val="24314F"/>
              </a:solidFill>
            </a:endParaRPr>
          </a:p>
        </p:txBody>
      </p:sp>
      <p:sp>
        <p:nvSpPr>
          <p:cNvPr id="472" name="Google Shape;472;g3d775964ee3_0_60"/>
          <p:cNvSpPr/>
          <p:nvPr/>
        </p:nvSpPr>
        <p:spPr>
          <a:xfrm>
            <a:off x="941901" y="3586377"/>
            <a:ext cx="10247400" cy="79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i="0" lang="en-US" sz="1600" u="none" cap="none" strike="noStrike">
                <a:solidFill>
                  <a:srgbClr val="24314F"/>
                </a:solidFill>
              </a:rPr>
              <a:t>Spatial GPU multiplexing causes inter-model interference compute utilization (Cuti) and memory utilization (Muti) are not simultaneously maximized by existing systems.</a:t>
            </a:r>
            <a:endParaRPr i="0" sz="1600" u="none" cap="none" strike="noStrike">
              <a:solidFill>
                <a:srgbClr val="24314F"/>
              </a:solidFill>
            </a:endParaRPr>
          </a:p>
        </p:txBody>
      </p:sp>
      <p:sp>
        <p:nvSpPr>
          <p:cNvPr id="473" name="Google Shape;473;g3d775964ee3_0_60"/>
          <p:cNvSpPr/>
          <p:nvPr/>
        </p:nvSpPr>
        <p:spPr>
          <a:xfrm>
            <a:off x="941901" y="4328129"/>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i="0" lang="en-US" sz="1600" u="none" cap="none" strike="noStrike">
                <a:solidFill>
                  <a:srgbClr val="24314F"/>
                </a:solidFill>
              </a:rPr>
              <a:t>Key Innovations</a:t>
            </a:r>
            <a:endParaRPr i="0" sz="1600" u="none" cap="none" strike="noStrike">
              <a:solidFill>
                <a:srgbClr val="24314F"/>
              </a:solidFill>
            </a:endParaRPr>
          </a:p>
        </p:txBody>
      </p:sp>
      <p:sp>
        <p:nvSpPr>
          <p:cNvPr id="474" name="Google Shape;474;g3d775964ee3_0_60"/>
          <p:cNvSpPr/>
          <p:nvPr/>
        </p:nvSpPr>
        <p:spPr>
          <a:xfrm>
            <a:off x="941901" y="4609552"/>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i="0" lang="en-US" sz="1600" u="none" cap="none" strike="noStrike">
                <a:solidFill>
                  <a:srgbClr val="24314F"/>
                </a:solidFill>
              </a:rPr>
              <a:t>GPU Kernel-based resource requirement estimator (profiles Cuti + Muti jointly)</a:t>
            </a:r>
            <a:endParaRPr i="0" sz="1600" u="none" cap="none" strike="noStrike">
              <a:solidFill>
                <a:srgbClr val="24314F"/>
              </a:solidFill>
            </a:endParaRPr>
          </a:p>
        </p:txBody>
      </p:sp>
      <p:sp>
        <p:nvSpPr>
          <p:cNvPr id="475" name="Google Shape;475;g3d775964ee3_0_60"/>
          <p:cNvSpPr/>
          <p:nvPr/>
        </p:nvSpPr>
        <p:spPr>
          <a:xfrm>
            <a:off x="941901" y="4941087"/>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i="0" lang="en-US" sz="1600" u="none" cap="none" strike="noStrike">
                <a:solidFill>
                  <a:srgbClr val="24314F"/>
                </a:solidFill>
              </a:rPr>
              <a:t>Interference-aware scheduler: sets batch size, replication degree, and placement holistically</a:t>
            </a:r>
            <a:endParaRPr i="0" sz="1600" u="none" cap="none" strike="noStrike">
              <a:solidFill>
                <a:srgbClr val="24314F"/>
              </a:solidFill>
            </a:endParaRPr>
          </a:p>
        </p:txBody>
      </p:sp>
      <p:sp>
        <p:nvSpPr>
          <p:cNvPr id="476" name="Google Shape;476;g3d775964ee3_0_60"/>
          <p:cNvSpPr/>
          <p:nvPr/>
        </p:nvSpPr>
        <p:spPr>
          <a:xfrm>
            <a:off x="941901" y="5321054"/>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i="0" lang="en-US" sz="1600" u="none" cap="none" strike="noStrike">
                <a:solidFill>
                  <a:srgbClr val="24314F"/>
                </a:solidFill>
              </a:rPr>
              <a:t>Operator graph merger: merges model computation graphs to reduce GPU cache pressure</a:t>
            </a:r>
            <a:endParaRPr i="0" sz="1600" u="none" cap="none" strike="noStrike">
              <a:solidFill>
                <a:srgbClr val="24314F"/>
              </a:solidFill>
            </a:endParaRPr>
          </a:p>
        </p:txBody>
      </p:sp>
      <p:sp>
        <p:nvSpPr>
          <p:cNvPr id="477" name="Google Shape;477;g3d775964ee3_0_60"/>
          <p:cNvSpPr/>
          <p:nvPr/>
        </p:nvSpPr>
        <p:spPr>
          <a:xfrm>
            <a:off x="941901" y="5976133"/>
            <a:ext cx="102474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300"/>
              <a:buFont typeface="Calibri"/>
              <a:buNone/>
            </a:pPr>
            <a:r>
              <a:rPr b="1" i="0" lang="en-US" sz="1600" u="none" cap="none" strike="noStrike">
                <a:solidFill>
                  <a:srgbClr val="24314F"/>
                </a:solidFill>
              </a:rPr>
              <a:t>Baseline vs USher (Cuti / Muti)</a:t>
            </a:r>
            <a:endParaRPr i="0" sz="1600" u="none" cap="none" strike="noStrike">
              <a:solidFill>
                <a:srgbClr val="24314F"/>
              </a:solidFill>
            </a:endParaRPr>
          </a:p>
        </p:txBody>
      </p:sp>
      <p:sp>
        <p:nvSpPr>
          <p:cNvPr id="478" name="Google Shape;478;g3d775964ee3_0_60"/>
          <p:cNvSpPr/>
          <p:nvPr/>
        </p:nvSpPr>
        <p:spPr>
          <a:xfrm>
            <a:off x="973742" y="6338966"/>
            <a:ext cx="10247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200"/>
              <a:buFont typeface="Calibri"/>
              <a:buNone/>
            </a:pPr>
            <a:r>
              <a:rPr i="0" lang="en-US" sz="1600" u="none" cap="none" strike="noStrike">
                <a:solidFill>
                  <a:srgbClr val="24314F"/>
                </a:solidFill>
              </a:rPr>
              <a:t>Shepherd: Cuti 41–97%  ·  |Cuti−Muti| up to 52% gap</a:t>
            </a:r>
            <a:endParaRPr i="0" sz="1600" u="none" cap="none" strike="noStrike">
              <a:solidFill>
                <a:srgbClr val="24314F"/>
              </a:solidFill>
            </a:endParaRPr>
          </a:p>
        </p:txBody>
      </p:sp>
      <p:sp>
        <p:nvSpPr>
          <p:cNvPr id="479" name="Google Shape;479;g3d775964ee3_0_60"/>
          <p:cNvSpPr/>
          <p:nvPr/>
        </p:nvSpPr>
        <p:spPr>
          <a:xfrm>
            <a:off x="5936200" y="6337006"/>
            <a:ext cx="10247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200"/>
              <a:buFont typeface="Calibri"/>
              <a:buNone/>
            </a:pPr>
            <a:r>
              <a:rPr i="0" lang="en-US" sz="1600" u="none" cap="none" strike="noStrike">
                <a:solidFill>
                  <a:srgbClr val="24314F"/>
                </a:solidFill>
              </a:rPr>
              <a:t>GPUlet: Cuti 55–97%  ·  |Cuti−Muti| up to 40% gap</a:t>
            </a:r>
            <a:endParaRPr i="0" sz="1600" u="none" cap="none" strike="noStrike">
              <a:solidFill>
                <a:srgbClr val="24314F"/>
              </a:solidFill>
            </a:endParaRPr>
          </a:p>
        </p:txBody>
      </p:sp>
      <p:sp>
        <p:nvSpPr>
          <p:cNvPr id="480" name="Google Shape;480;g3d775964ee3_0_60"/>
          <p:cNvSpPr/>
          <p:nvPr/>
        </p:nvSpPr>
        <p:spPr>
          <a:xfrm>
            <a:off x="5936201" y="6036026"/>
            <a:ext cx="10247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200"/>
              <a:buFont typeface="Calibri"/>
              <a:buNone/>
            </a:pPr>
            <a:r>
              <a:rPr i="0" lang="en-US" sz="1600" u="none" cap="none" strike="noStrike">
                <a:solidFill>
                  <a:srgbClr val="24314F"/>
                </a:solidFill>
              </a:rPr>
              <a:t>AlpaServe: Cuti 55–99%  ·  |Cuti−Muti| up to 45% gap</a:t>
            </a:r>
            <a:endParaRPr i="0" sz="1600" u="none" cap="none" strike="noStrike">
              <a:solidFill>
                <a:srgbClr val="24314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5" name="Shape 485"/>
        <p:cNvGrpSpPr/>
        <p:nvPr/>
      </p:nvGrpSpPr>
      <p:grpSpPr>
        <a:xfrm>
          <a:off x="0" y="0"/>
          <a:ext cx="0" cy="0"/>
          <a:chOff x="0" y="0"/>
          <a:chExt cx="0" cy="0"/>
        </a:xfrm>
      </p:grpSpPr>
      <p:grpSp>
        <p:nvGrpSpPr>
          <p:cNvPr id="486" name="Google Shape;486;g3d775964ee3_0_305"/>
          <p:cNvGrpSpPr/>
          <p:nvPr/>
        </p:nvGrpSpPr>
        <p:grpSpPr>
          <a:xfrm>
            <a:off x="685925" y="3562748"/>
            <a:ext cx="10820186" cy="3295325"/>
            <a:chOff x="0" y="-47625"/>
            <a:chExt cx="4274726" cy="2214600"/>
          </a:xfrm>
        </p:grpSpPr>
        <p:sp>
          <p:nvSpPr>
            <p:cNvPr id="487" name="Google Shape;487;g3d775964ee3_0_30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488" name="Google Shape;488;g3d775964ee3_0_30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latin typeface="Arial"/>
                <a:ea typeface="Arial"/>
                <a:cs typeface="Arial"/>
                <a:sym typeface="Arial"/>
              </a:endParaRPr>
            </a:p>
          </p:txBody>
        </p:sp>
      </p:grpSp>
      <p:grpSp>
        <p:nvGrpSpPr>
          <p:cNvPr id="489" name="Google Shape;489;g3d775964ee3_0_305"/>
          <p:cNvGrpSpPr/>
          <p:nvPr/>
        </p:nvGrpSpPr>
        <p:grpSpPr>
          <a:xfrm>
            <a:off x="875125" y="3683373"/>
            <a:ext cx="10463990" cy="3295410"/>
            <a:chOff x="0" y="-47625"/>
            <a:chExt cx="1808189" cy="1790400"/>
          </a:xfrm>
        </p:grpSpPr>
        <p:sp>
          <p:nvSpPr>
            <p:cNvPr id="490" name="Google Shape;490;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91" name="Google Shape;491;g3d775964ee3_0_30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492" name="Google Shape;492;g3d775964ee3_0_305"/>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Orion: Interference-aware Fine-grained GPU Sharing</a:t>
            </a:r>
            <a:endParaRPr b="1" sz="2800">
              <a:solidFill>
                <a:srgbClr val="24314F"/>
              </a:solidFill>
            </a:endParaRPr>
          </a:p>
        </p:txBody>
      </p:sp>
      <p:sp>
        <p:nvSpPr>
          <p:cNvPr id="493" name="Google Shape;493;g3d775964ee3_0_305"/>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lang="en-US" sz="1600">
                <a:solidFill>
                  <a:srgbClr val="24314F"/>
                </a:solidFill>
              </a:rPr>
              <a:t>Strati, Ma, Klimovic · ETH Zürich · EuroSys 2024</a:t>
            </a:r>
            <a:endParaRPr sz="1600">
              <a:solidFill>
                <a:srgbClr val="24314F"/>
              </a:solidFill>
            </a:endParaRPr>
          </a:p>
        </p:txBody>
      </p:sp>
      <p:grpSp>
        <p:nvGrpSpPr>
          <p:cNvPr id="494" name="Google Shape;494;g3d775964ee3_0_305"/>
          <p:cNvGrpSpPr/>
          <p:nvPr/>
        </p:nvGrpSpPr>
        <p:grpSpPr>
          <a:xfrm>
            <a:off x="1802800" y="1472761"/>
            <a:ext cx="1652866" cy="1199673"/>
            <a:chOff x="0" y="-47622"/>
            <a:chExt cx="1808189" cy="1790289"/>
          </a:xfrm>
        </p:grpSpPr>
        <p:sp>
          <p:nvSpPr>
            <p:cNvPr id="495" name="Google Shape;495;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96" name="Google Shape;496;g3d775964ee3_0_305"/>
            <p:cNvSpPr txBox="1"/>
            <p:nvPr/>
          </p:nvSpPr>
          <p:spPr>
            <a:xfrm>
              <a:off x="0" y="-47622"/>
              <a:ext cx="1808100" cy="1182300"/>
            </a:xfrm>
            <a:prstGeom prst="rect">
              <a:avLst/>
            </a:prstGeom>
            <a:solidFill>
              <a:srgbClr val="D9EAD3"/>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Client A (High-Priority)</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Kernel Launches</a:t>
              </a:r>
              <a:endParaRPr sz="1082">
                <a:solidFill>
                  <a:schemeClr val="dk1"/>
                </a:solidFill>
              </a:endParaRPr>
            </a:p>
          </p:txBody>
        </p:sp>
      </p:grpSp>
      <p:grpSp>
        <p:nvGrpSpPr>
          <p:cNvPr id="497" name="Google Shape;497;g3d775964ee3_0_305"/>
          <p:cNvGrpSpPr/>
          <p:nvPr/>
        </p:nvGrpSpPr>
        <p:grpSpPr>
          <a:xfrm>
            <a:off x="3727724" y="1472737"/>
            <a:ext cx="1937435" cy="1857540"/>
            <a:chOff x="-311291" y="-23857"/>
            <a:chExt cx="2119500" cy="1790400"/>
          </a:xfrm>
        </p:grpSpPr>
        <p:sp>
          <p:nvSpPr>
            <p:cNvPr id="498" name="Google Shape;498;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D2E9"/>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499" name="Google Shape;499;g3d775964ee3_0_305"/>
            <p:cNvSpPr txBox="1"/>
            <p:nvPr/>
          </p:nvSpPr>
          <p:spPr>
            <a:xfrm>
              <a:off x="-311291" y="-23857"/>
              <a:ext cx="2119500" cy="1790400"/>
            </a:xfrm>
            <a:prstGeom prst="rect">
              <a:avLst/>
            </a:prstGeom>
            <a:solidFill>
              <a:srgbClr val="D9D2E9"/>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Orion Scheduler</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Software Queue · Operator-level profiling</a:t>
              </a:r>
              <a:endParaRPr sz="1082">
                <a:solidFill>
                  <a:schemeClr val="dk1"/>
                </a:solidFill>
              </a:endParaRPr>
            </a:p>
          </p:txBody>
        </p:sp>
      </p:grpSp>
      <p:cxnSp>
        <p:nvCxnSpPr>
          <p:cNvPr id="500" name="Google Shape;500;g3d775964ee3_0_305"/>
          <p:cNvCxnSpPr>
            <a:stCxn id="496" idx="3"/>
            <a:endCxn id="499" idx="1"/>
          </p:cNvCxnSpPr>
          <p:nvPr/>
        </p:nvCxnSpPr>
        <p:spPr>
          <a:xfrm>
            <a:off x="3455584" y="1868891"/>
            <a:ext cx="272100" cy="532500"/>
          </a:xfrm>
          <a:prstGeom prst="straightConnector1">
            <a:avLst/>
          </a:prstGeom>
          <a:noFill/>
          <a:ln cap="flat" cmpd="sng" w="9675">
            <a:solidFill>
              <a:schemeClr val="dk2"/>
            </a:solidFill>
            <a:prstDash val="solid"/>
            <a:round/>
            <a:headEnd len="med" w="med" type="none"/>
            <a:tailEnd len="med" w="med" type="triangle"/>
          </a:ln>
        </p:spPr>
      </p:cxnSp>
      <p:grpSp>
        <p:nvGrpSpPr>
          <p:cNvPr id="501" name="Google Shape;501;g3d775964ee3_0_305"/>
          <p:cNvGrpSpPr/>
          <p:nvPr/>
        </p:nvGrpSpPr>
        <p:grpSpPr>
          <a:xfrm>
            <a:off x="5937349" y="1472738"/>
            <a:ext cx="1937435" cy="1857478"/>
            <a:chOff x="-311297" y="-23877"/>
            <a:chExt cx="2119500" cy="3010500"/>
          </a:xfrm>
        </p:grpSpPr>
        <p:sp>
          <p:nvSpPr>
            <p:cNvPr id="502" name="Google Shape;502;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EAD1DC"/>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503" name="Google Shape;503;g3d775964ee3_0_305"/>
            <p:cNvSpPr txBox="1"/>
            <p:nvPr/>
          </p:nvSpPr>
          <p:spPr>
            <a:xfrm>
              <a:off x="-311297" y="-23877"/>
              <a:ext cx="2119500" cy="3010500"/>
            </a:xfrm>
            <a:prstGeom prst="rect">
              <a:avLst/>
            </a:prstGeom>
            <a:solidFill>
              <a:srgbClr val="EAD1DC"/>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Interference-Free Co-scheduling</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Compute-bound + Memory-bound pairing</a:t>
              </a:r>
              <a:endParaRPr sz="1082">
                <a:solidFill>
                  <a:schemeClr val="dk1"/>
                </a:solidFill>
              </a:endParaRPr>
            </a:p>
          </p:txBody>
        </p:sp>
      </p:grpSp>
      <p:cxnSp>
        <p:nvCxnSpPr>
          <p:cNvPr id="504" name="Google Shape;504;g3d775964ee3_0_305"/>
          <p:cNvCxnSpPr>
            <a:endCxn id="503" idx="1"/>
          </p:cNvCxnSpPr>
          <p:nvPr/>
        </p:nvCxnSpPr>
        <p:spPr>
          <a:xfrm>
            <a:off x="5665249" y="2401477"/>
            <a:ext cx="272100" cy="0"/>
          </a:xfrm>
          <a:prstGeom prst="straightConnector1">
            <a:avLst/>
          </a:prstGeom>
          <a:noFill/>
          <a:ln cap="flat" cmpd="sng" w="9675">
            <a:solidFill>
              <a:schemeClr val="dk2"/>
            </a:solidFill>
            <a:prstDash val="solid"/>
            <a:round/>
            <a:headEnd len="med" w="med" type="none"/>
            <a:tailEnd len="med" w="med" type="triangle"/>
          </a:ln>
        </p:spPr>
      </p:cxnSp>
      <p:cxnSp>
        <p:nvCxnSpPr>
          <p:cNvPr id="505" name="Google Shape;505;g3d775964ee3_0_305"/>
          <p:cNvCxnSpPr/>
          <p:nvPr/>
        </p:nvCxnSpPr>
        <p:spPr>
          <a:xfrm>
            <a:off x="7874850" y="2401402"/>
            <a:ext cx="272100" cy="0"/>
          </a:xfrm>
          <a:prstGeom prst="straightConnector1">
            <a:avLst/>
          </a:prstGeom>
          <a:noFill/>
          <a:ln cap="flat" cmpd="sng" w="9675">
            <a:solidFill>
              <a:schemeClr val="dk2"/>
            </a:solidFill>
            <a:prstDash val="solid"/>
            <a:round/>
            <a:headEnd len="med" w="med" type="none"/>
            <a:tailEnd len="med" w="med" type="triangle"/>
          </a:ln>
        </p:spPr>
      </p:cxnSp>
      <p:grpSp>
        <p:nvGrpSpPr>
          <p:cNvPr id="506" name="Google Shape;506;g3d775964ee3_0_305"/>
          <p:cNvGrpSpPr/>
          <p:nvPr/>
        </p:nvGrpSpPr>
        <p:grpSpPr>
          <a:xfrm>
            <a:off x="8146974" y="1449938"/>
            <a:ext cx="1937435" cy="1857478"/>
            <a:chOff x="-311286" y="-23877"/>
            <a:chExt cx="2119500" cy="3010500"/>
          </a:xfrm>
        </p:grpSpPr>
        <p:sp>
          <p:nvSpPr>
            <p:cNvPr id="507" name="Google Shape;507;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C9DAF8"/>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508" name="Google Shape;508;g3d775964ee3_0_305"/>
            <p:cNvSpPr txBox="1"/>
            <p:nvPr/>
          </p:nvSpPr>
          <p:spPr>
            <a:xfrm>
              <a:off x="-311286" y="-23877"/>
              <a:ext cx="2119500" cy="3010500"/>
            </a:xfrm>
            <a:prstGeom prst="rect">
              <a:avLst/>
            </a:prstGeom>
            <a:solidFill>
              <a:srgbClr val="C9DAF8"/>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GPU Execution</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(SM + Memory BW fully utilized)</a:t>
              </a:r>
              <a:endParaRPr sz="1082">
                <a:solidFill>
                  <a:schemeClr val="dk1"/>
                </a:solidFill>
              </a:endParaRPr>
            </a:p>
          </p:txBody>
        </p:sp>
      </p:grpSp>
      <p:sp>
        <p:nvSpPr>
          <p:cNvPr id="509" name="Google Shape;509;g3d775964ee3_0_305"/>
          <p:cNvSpPr/>
          <p:nvPr/>
        </p:nvSpPr>
        <p:spPr>
          <a:xfrm>
            <a:off x="1018214" y="3823206"/>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i="0" lang="en-US" sz="1600" u="none" cap="none" strike="noStrike">
                <a:solidFill>
                  <a:srgbClr val="24314F"/>
                </a:solidFill>
              </a:rPr>
              <a:t>Core Problem</a:t>
            </a:r>
            <a:endParaRPr i="0" sz="1600" u="none" cap="none" strike="noStrike">
              <a:solidFill>
                <a:srgbClr val="24314F"/>
              </a:solidFill>
            </a:endParaRPr>
          </a:p>
        </p:txBody>
      </p:sp>
      <p:sp>
        <p:nvSpPr>
          <p:cNvPr id="510" name="Google Shape;510;g3d775964ee3_0_305"/>
          <p:cNvSpPr/>
          <p:nvPr/>
        </p:nvSpPr>
        <p:spPr>
          <a:xfrm>
            <a:off x="1018214" y="4169527"/>
            <a:ext cx="10247400" cy="79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a:solidFill>
                  <a:srgbClr val="24314F"/>
                </a:solidFill>
              </a:rPr>
              <a:t>DNN operators alternate between compute-bound and memory-bound. Co-scheduling complementary operators from different jobs fills idle resources without mutual interference.</a:t>
            </a:r>
            <a:endParaRPr sz="1600">
              <a:solidFill>
                <a:srgbClr val="24314F"/>
              </a:solidFill>
            </a:endParaRPr>
          </a:p>
        </p:txBody>
      </p:sp>
      <p:sp>
        <p:nvSpPr>
          <p:cNvPr id="511" name="Google Shape;511;g3d775964ee3_0_305"/>
          <p:cNvSpPr/>
          <p:nvPr/>
        </p:nvSpPr>
        <p:spPr>
          <a:xfrm>
            <a:off x="1018214" y="4911279"/>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lang="en-US" sz="1600">
                <a:solidFill>
                  <a:srgbClr val="24314F"/>
                </a:solidFill>
              </a:rPr>
              <a:t>Mechanism</a:t>
            </a:r>
            <a:endParaRPr b="1" sz="1600">
              <a:solidFill>
                <a:srgbClr val="24314F"/>
              </a:solidFill>
            </a:endParaRPr>
          </a:p>
        </p:txBody>
      </p:sp>
      <p:sp>
        <p:nvSpPr>
          <p:cNvPr id="512" name="Google Shape;512;g3d775964ee3_0_305"/>
          <p:cNvSpPr/>
          <p:nvPr/>
        </p:nvSpPr>
        <p:spPr>
          <a:xfrm>
            <a:off x="1018214" y="5192702"/>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Transparently intercepts CUDA / cuDNN / cuBLAS kernel launches via library interposition</a:t>
            </a:r>
            <a:endParaRPr sz="1600">
              <a:solidFill>
                <a:srgbClr val="24314F"/>
              </a:solidFill>
            </a:endParaRPr>
          </a:p>
        </p:txBody>
      </p:sp>
      <p:sp>
        <p:nvSpPr>
          <p:cNvPr id="513" name="Google Shape;513;g3d775964ee3_0_305"/>
          <p:cNvSpPr/>
          <p:nvPr/>
        </p:nvSpPr>
        <p:spPr>
          <a:xfrm>
            <a:off x="1018214" y="5524237"/>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Schedules at individual operator granularity (10s of μs), finer than any prior work</a:t>
            </a:r>
            <a:endParaRPr i="0" sz="1600" u="none" cap="none" strike="noStrike">
              <a:solidFill>
                <a:srgbClr val="24314F"/>
              </a:solidFill>
            </a:endParaRPr>
          </a:p>
        </p:txBody>
      </p:sp>
      <p:sp>
        <p:nvSpPr>
          <p:cNvPr id="514" name="Google Shape;514;g3d775964ee3_0_305"/>
          <p:cNvSpPr/>
          <p:nvPr/>
        </p:nvSpPr>
        <p:spPr>
          <a:xfrm>
            <a:off x="1018214" y="5904204"/>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Priority model: one high-priority inference job + best-effort collocated jobs</a:t>
            </a:r>
            <a:endParaRPr i="0" sz="1600" u="none" cap="none" strike="noStrike">
              <a:solidFill>
                <a:srgbClr val="24314F"/>
              </a:solidFill>
            </a:endParaRPr>
          </a:p>
        </p:txBody>
      </p:sp>
      <p:sp>
        <p:nvSpPr>
          <p:cNvPr id="515" name="Google Shape;515;g3d775964ee3_0_305"/>
          <p:cNvSpPr/>
          <p:nvPr/>
        </p:nvSpPr>
        <p:spPr>
          <a:xfrm>
            <a:off x="1018214" y="6248681"/>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Profiles each operator's SM count and memory BW requirements offline</a:t>
            </a:r>
            <a:endParaRPr i="0" sz="1600" u="none" cap="none" strike="noStrike">
              <a:solidFill>
                <a:srgbClr val="24314F"/>
              </a:solidFill>
            </a:endParaRPr>
          </a:p>
        </p:txBody>
      </p:sp>
      <p:grpSp>
        <p:nvGrpSpPr>
          <p:cNvPr id="516" name="Google Shape;516;g3d775964ee3_0_305"/>
          <p:cNvGrpSpPr/>
          <p:nvPr/>
        </p:nvGrpSpPr>
        <p:grpSpPr>
          <a:xfrm>
            <a:off x="1802650" y="2392739"/>
            <a:ext cx="1652866" cy="1199682"/>
            <a:chOff x="0" y="-47636"/>
            <a:chExt cx="1808189" cy="1790303"/>
          </a:xfrm>
        </p:grpSpPr>
        <p:sp>
          <p:nvSpPr>
            <p:cNvPr id="517" name="Google Shape;517;g3d775964ee3_0_30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100">
                <a:solidFill>
                  <a:schemeClr val="dk1"/>
                </a:solidFill>
                <a:latin typeface="Arial"/>
                <a:ea typeface="Arial"/>
                <a:cs typeface="Arial"/>
                <a:sym typeface="Arial"/>
              </a:endParaRPr>
            </a:p>
          </p:txBody>
        </p:sp>
        <p:sp>
          <p:nvSpPr>
            <p:cNvPr id="518" name="Google Shape;518;g3d775964ee3_0_305"/>
            <p:cNvSpPr txBox="1"/>
            <p:nvPr/>
          </p:nvSpPr>
          <p:spPr>
            <a:xfrm>
              <a:off x="0" y="-47636"/>
              <a:ext cx="1808100" cy="1397700"/>
            </a:xfrm>
            <a:prstGeom prst="rect">
              <a:avLst/>
            </a:prstGeom>
            <a:solidFill>
              <a:srgbClr val="D9EAD3"/>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082">
                  <a:solidFill>
                    <a:schemeClr val="dk1"/>
                  </a:solidFill>
                </a:rPr>
                <a:t>Client B (Best-Effort)</a:t>
              </a:r>
              <a:endParaRPr sz="1082">
                <a:solidFill>
                  <a:schemeClr val="dk1"/>
                </a:solidFill>
              </a:endParaRPr>
            </a:p>
            <a:p>
              <a:pPr indent="0" lvl="0" marL="0" marR="0" rtl="0" algn="ctr">
                <a:lnSpc>
                  <a:spcPct val="155583"/>
                </a:lnSpc>
                <a:spcBef>
                  <a:spcPts val="0"/>
                </a:spcBef>
                <a:spcAft>
                  <a:spcPts val="0"/>
                </a:spcAft>
                <a:buNone/>
              </a:pPr>
              <a:r>
                <a:rPr lang="en-US" sz="1082">
                  <a:solidFill>
                    <a:schemeClr val="dk1"/>
                  </a:solidFill>
                </a:rPr>
                <a:t>Kernel Launches</a:t>
              </a:r>
              <a:endParaRPr sz="1082">
                <a:solidFill>
                  <a:schemeClr val="dk1"/>
                </a:solidFill>
              </a:endParaRPr>
            </a:p>
          </p:txBody>
        </p:sp>
      </p:grpSp>
      <p:cxnSp>
        <p:nvCxnSpPr>
          <p:cNvPr id="519" name="Google Shape;519;g3d775964ee3_0_305"/>
          <p:cNvCxnSpPr>
            <a:stCxn id="518" idx="3"/>
            <a:endCxn id="499" idx="1"/>
          </p:cNvCxnSpPr>
          <p:nvPr/>
        </p:nvCxnSpPr>
        <p:spPr>
          <a:xfrm flipH="1" rot="10800000">
            <a:off x="3455434" y="2401438"/>
            <a:ext cx="272400" cy="459600"/>
          </a:xfrm>
          <a:prstGeom prst="straightConnector1">
            <a:avLst/>
          </a:prstGeom>
          <a:noFill/>
          <a:ln cap="flat" cmpd="sng" w="967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4" name="Shape 524"/>
        <p:cNvGrpSpPr/>
        <p:nvPr/>
      </p:nvGrpSpPr>
      <p:grpSpPr>
        <a:xfrm>
          <a:off x="0" y="0"/>
          <a:ext cx="0" cy="0"/>
          <a:chOff x="0" y="0"/>
          <a:chExt cx="0" cy="0"/>
        </a:xfrm>
      </p:grpSpPr>
      <p:grpSp>
        <p:nvGrpSpPr>
          <p:cNvPr id="525" name="Google Shape;525;g3d775964ee3_0_351"/>
          <p:cNvGrpSpPr/>
          <p:nvPr/>
        </p:nvGrpSpPr>
        <p:grpSpPr>
          <a:xfrm>
            <a:off x="609600" y="2979599"/>
            <a:ext cx="10820186" cy="3878429"/>
            <a:chOff x="0" y="-47625"/>
            <a:chExt cx="4274726" cy="2214600"/>
          </a:xfrm>
        </p:grpSpPr>
        <p:sp>
          <p:nvSpPr>
            <p:cNvPr id="526" name="Google Shape;526;g3d775964ee3_0_35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endParaRPr>
            </a:p>
          </p:txBody>
        </p:sp>
        <p:sp>
          <p:nvSpPr>
            <p:cNvPr id="527" name="Google Shape;527;g3d775964ee3_0_35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600">
                <a:solidFill>
                  <a:schemeClr val="dk1"/>
                </a:solidFill>
              </a:endParaRPr>
            </a:p>
          </p:txBody>
        </p:sp>
      </p:grpSp>
      <p:grpSp>
        <p:nvGrpSpPr>
          <p:cNvPr id="528" name="Google Shape;528;g3d775964ee3_0_351"/>
          <p:cNvGrpSpPr/>
          <p:nvPr/>
        </p:nvGrpSpPr>
        <p:grpSpPr>
          <a:xfrm>
            <a:off x="798800" y="3100225"/>
            <a:ext cx="10463990" cy="3878364"/>
            <a:chOff x="0" y="-47625"/>
            <a:chExt cx="1808189" cy="1790400"/>
          </a:xfrm>
        </p:grpSpPr>
        <p:sp>
          <p:nvSpPr>
            <p:cNvPr id="529" name="Google Shape;529;g3d775964ee3_0_35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530" name="Google Shape;530;g3d775964ee3_0_35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endParaRPr>
            </a:p>
          </p:txBody>
        </p:sp>
      </p:grpSp>
      <p:sp>
        <p:nvSpPr>
          <p:cNvPr id="531" name="Google Shape;531;g3d775964ee3_0_351"/>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MuxServe: Flexible Spatial-Temporal Multiplexing</a:t>
            </a:r>
            <a:endParaRPr b="1" sz="2800">
              <a:solidFill>
                <a:srgbClr val="24314F"/>
              </a:solidFill>
            </a:endParaRPr>
          </a:p>
        </p:txBody>
      </p:sp>
      <p:sp>
        <p:nvSpPr>
          <p:cNvPr id="532" name="Google Shape;532;g3d775964ee3_0_351"/>
          <p:cNvSpPr/>
          <p:nvPr/>
        </p:nvSpPr>
        <p:spPr>
          <a:xfrm>
            <a:off x="609600" y="853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600"/>
              <a:buFont typeface="Calibri"/>
              <a:buNone/>
            </a:pPr>
            <a:r>
              <a:rPr lang="en-US" sz="1600">
                <a:solidFill>
                  <a:srgbClr val="24314F"/>
                </a:solidFill>
              </a:rPr>
              <a:t>Duan, Lu, Duanmu, Li et al. · CUHK / UCSD · ICML 2024</a:t>
            </a:r>
            <a:endParaRPr sz="1600">
              <a:solidFill>
                <a:srgbClr val="24314F"/>
              </a:solidFill>
            </a:endParaRPr>
          </a:p>
        </p:txBody>
      </p:sp>
      <p:sp>
        <p:nvSpPr>
          <p:cNvPr id="533" name="Google Shape;533;g3d775964ee3_0_351"/>
          <p:cNvSpPr/>
          <p:nvPr/>
        </p:nvSpPr>
        <p:spPr>
          <a:xfrm>
            <a:off x="941901" y="3240056"/>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i="0" lang="en-US" sz="1600" u="none" cap="none" strike="noStrike">
                <a:solidFill>
                  <a:srgbClr val="24314F"/>
                </a:solidFill>
              </a:rPr>
              <a:t>Core Problem</a:t>
            </a:r>
            <a:endParaRPr i="0" sz="1600" u="none" cap="none" strike="noStrike">
              <a:solidFill>
                <a:srgbClr val="24314F"/>
              </a:solidFill>
            </a:endParaRPr>
          </a:p>
        </p:txBody>
      </p:sp>
      <p:sp>
        <p:nvSpPr>
          <p:cNvPr id="534" name="Google Shape;534;g3d775964ee3_0_351"/>
          <p:cNvSpPr/>
          <p:nvPr/>
        </p:nvSpPr>
        <p:spPr>
          <a:xfrm>
            <a:off x="941901" y="3586377"/>
            <a:ext cx="10247400" cy="79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lang="en-US" sz="1600">
                <a:solidFill>
                  <a:srgbClr val="24314F"/>
                </a:solidFill>
              </a:rPr>
              <a:t>Serving multiple LLMs simultaneously: popular LLMs create GPU hotspots, while less popular ones leave GPUs idle. Static spatial partition wastes resources.</a:t>
            </a:r>
            <a:endParaRPr sz="1600">
              <a:solidFill>
                <a:srgbClr val="24314F"/>
              </a:solidFill>
            </a:endParaRPr>
          </a:p>
        </p:txBody>
      </p:sp>
      <p:sp>
        <p:nvSpPr>
          <p:cNvPr id="535" name="Google Shape;535;g3d775964ee3_0_351"/>
          <p:cNvSpPr/>
          <p:nvPr/>
        </p:nvSpPr>
        <p:spPr>
          <a:xfrm>
            <a:off x="941901" y="4328129"/>
            <a:ext cx="1024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500"/>
              <a:buFont typeface="Calibri"/>
              <a:buNone/>
            </a:pPr>
            <a:r>
              <a:rPr b="1" lang="en-US" sz="1600">
                <a:solidFill>
                  <a:srgbClr val="24314F"/>
                </a:solidFill>
              </a:rPr>
              <a:t>Design Principles</a:t>
            </a:r>
            <a:endParaRPr i="0" sz="1600" u="none" cap="none" strike="noStrike">
              <a:solidFill>
                <a:srgbClr val="24314F"/>
              </a:solidFill>
            </a:endParaRPr>
          </a:p>
        </p:txBody>
      </p:sp>
      <p:sp>
        <p:nvSpPr>
          <p:cNvPr id="536" name="Google Shape;536;g3d775964ee3_0_351"/>
          <p:cNvSpPr/>
          <p:nvPr/>
        </p:nvSpPr>
        <p:spPr>
          <a:xfrm>
            <a:off x="941901" y="4609552"/>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Popularity-Aware Colocation: colocate popular + less-popular LLMs to share idle resources</a:t>
            </a:r>
            <a:endParaRPr sz="1600">
              <a:solidFill>
                <a:srgbClr val="24314F"/>
              </a:solidFill>
            </a:endParaRPr>
          </a:p>
        </p:txBody>
      </p:sp>
      <p:sp>
        <p:nvSpPr>
          <p:cNvPr id="537" name="Google Shape;537;g3d775964ee3_0_351"/>
          <p:cNvSpPr/>
          <p:nvPr/>
        </p:nvSpPr>
        <p:spPr>
          <a:xfrm>
            <a:off x="941901" y="5166223"/>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Computation-Aware Multiplexing: disaggregate prefill &amp; decode phases; allocate SMs per job dynamically via NVIDIA MPS</a:t>
            </a:r>
            <a:endParaRPr sz="1600">
              <a:solidFill>
                <a:srgbClr val="24314F"/>
              </a:solidFill>
            </a:endParaRPr>
          </a:p>
          <a:p>
            <a:pPr indent="0" lvl="0" marL="0" marR="0" rtl="0" algn="l">
              <a:spcBef>
                <a:spcPts val="0"/>
              </a:spcBef>
              <a:spcAft>
                <a:spcPts val="0"/>
              </a:spcAft>
              <a:buClr>
                <a:srgbClr val="58A6FF"/>
              </a:buClr>
              <a:buSzPts val="1300"/>
              <a:buFont typeface="Calibri"/>
              <a:buNone/>
            </a:pPr>
            <a:r>
              <a:t/>
            </a:r>
            <a:endParaRPr sz="1600">
              <a:solidFill>
                <a:srgbClr val="24314F"/>
              </a:solidFill>
            </a:endParaRPr>
          </a:p>
        </p:txBody>
      </p:sp>
      <p:sp>
        <p:nvSpPr>
          <p:cNvPr id="538" name="Google Shape;538;g3d775964ee3_0_351"/>
          <p:cNvSpPr/>
          <p:nvPr/>
        </p:nvSpPr>
        <p:spPr>
          <a:xfrm>
            <a:off x="609601" y="1156561"/>
            <a:ext cx="5120700" cy="34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1500"/>
              <a:buFont typeface="Calibri"/>
              <a:buNone/>
            </a:pPr>
            <a:r>
              <a:rPr b="1" i="0" lang="en-US" sz="1600" u="none" cap="none" strike="noStrike">
                <a:solidFill>
                  <a:srgbClr val="F78166"/>
                </a:solidFill>
              </a:rPr>
              <a:t>Performance Results</a:t>
            </a:r>
            <a:endParaRPr i="0" sz="1600" u="none" cap="none" strike="noStrike">
              <a:solidFill>
                <a:schemeClr val="dk1"/>
              </a:solidFill>
            </a:endParaRPr>
          </a:p>
        </p:txBody>
      </p:sp>
      <p:sp>
        <p:nvSpPr>
          <p:cNvPr id="539" name="Google Shape;539;g3d775964ee3_0_351"/>
          <p:cNvSpPr/>
          <p:nvPr/>
        </p:nvSpPr>
        <p:spPr>
          <a:xfrm>
            <a:off x="609610" y="1477447"/>
            <a:ext cx="2560500" cy="73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4000"/>
              <a:buFont typeface="Calibri"/>
              <a:buNone/>
            </a:pPr>
            <a:r>
              <a:rPr b="1" i="0" lang="en-US" sz="5000" u="none" cap="none" strike="noStrike">
                <a:solidFill>
                  <a:srgbClr val="F78166"/>
                </a:solidFill>
              </a:rPr>
              <a:t>1.8×</a:t>
            </a:r>
            <a:endParaRPr i="0" sz="5000" u="none" cap="none" strike="noStrike">
              <a:solidFill>
                <a:schemeClr val="dk1"/>
              </a:solidFill>
            </a:endParaRPr>
          </a:p>
        </p:txBody>
      </p:sp>
      <p:sp>
        <p:nvSpPr>
          <p:cNvPr id="540" name="Google Shape;540;g3d775964ee3_0_351"/>
          <p:cNvSpPr/>
          <p:nvPr/>
        </p:nvSpPr>
        <p:spPr>
          <a:xfrm>
            <a:off x="609610" y="2172392"/>
            <a:ext cx="25605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200"/>
              <a:buFont typeface="Calibri"/>
              <a:buNone/>
            </a:pPr>
            <a:r>
              <a:rPr i="0" lang="en-US" sz="1600" u="none" cap="none" strike="noStrike">
                <a:solidFill>
                  <a:srgbClr val="24314F"/>
                </a:solidFill>
              </a:rPr>
              <a:t>Throughput Gain</a:t>
            </a:r>
            <a:endParaRPr i="0" sz="1600" u="none" cap="none" strike="noStrike">
              <a:solidFill>
                <a:srgbClr val="24314F"/>
              </a:solidFill>
            </a:endParaRPr>
          </a:p>
        </p:txBody>
      </p:sp>
      <p:sp>
        <p:nvSpPr>
          <p:cNvPr id="541" name="Google Shape;541;g3d775964ee3_0_351"/>
          <p:cNvSpPr/>
          <p:nvPr/>
        </p:nvSpPr>
        <p:spPr>
          <a:xfrm>
            <a:off x="609610" y="2490908"/>
            <a:ext cx="2560500" cy="26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100"/>
              <a:buFont typeface="Calibri"/>
              <a:buNone/>
            </a:pPr>
            <a:r>
              <a:rPr i="1" lang="en-US" sz="1600" u="none" cap="none" strike="noStrike">
                <a:solidFill>
                  <a:srgbClr val="24314F"/>
                </a:solidFill>
              </a:rPr>
              <a:t>vs. spatial partition baseline</a:t>
            </a:r>
            <a:endParaRPr i="0" sz="1600" u="none" cap="none" strike="noStrike">
              <a:solidFill>
                <a:srgbClr val="24314F"/>
              </a:solidFill>
            </a:endParaRPr>
          </a:p>
        </p:txBody>
      </p:sp>
      <p:sp>
        <p:nvSpPr>
          <p:cNvPr id="542" name="Google Shape;542;g3d775964ee3_0_351"/>
          <p:cNvSpPr/>
          <p:nvPr/>
        </p:nvSpPr>
        <p:spPr>
          <a:xfrm>
            <a:off x="3413770" y="1477447"/>
            <a:ext cx="2560500" cy="73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4000"/>
              <a:buFont typeface="Calibri"/>
              <a:buNone/>
            </a:pPr>
            <a:r>
              <a:rPr b="1" i="0" lang="en-US" sz="5000" u="none" cap="none" strike="noStrike">
                <a:solidFill>
                  <a:srgbClr val="F78166"/>
                </a:solidFill>
              </a:rPr>
              <a:t>2.9×</a:t>
            </a:r>
            <a:endParaRPr i="0" sz="5000" u="none" cap="none" strike="noStrike">
              <a:solidFill>
                <a:schemeClr val="dk1"/>
              </a:solidFill>
            </a:endParaRPr>
          </a:p>
        </p:txBody>
      </p:sp>
      <p:sp>
        <p:nvSpPr>
          <p:cNvPr id="543" name="Google Shape;543;g3d775964ee3_0_351"/>
          <p:cNvSpPr/>
          <p:nvPr/>
        </p:nvSpPr>
        <p:spPr>
          <a:xfrm>
            <a:off x="3413770" y="2172392"/>
            <a:ext cx="25605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200"/>
              <a:buFont typeface="Calibri"/>
              <a:buNone/>
            </a:pPr>
            <a:r>
              <a:rPr i="0" lang="en-US" sz="1600" u="none" cap="none" strike="noStrike">
                <a:solidFill>
                  <a:srgbClr val="24314F"/>
                </a:solidFill>
              </a:rPr>
              <a:t>SLO Attainment</a:t>
            </a:r>
            <a:endParaRPr i="0" sz="1600" u="none" cap="none" strike="noStrike">
              <a:solidFill>
                <a:srgbClr val="24314F"/>
              </a:solidFill>
            </a:endParaRPr>
          </a:p>
        </p:txBody>
      </p:sp>
      <p:sp>
        <p:nvSpPr>
          <p:cNvPr id="544" name="Google Shape;544;g3d775964ee3_0_351"/>
          <p:cNvSpPr/>
          <p:nvPr/>
        </p:nvSpPr>
        <p:spPr>
          <a:xfrm>
            <a:off x="3413775" y="2490896"/>
            <a:ext cx="2560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100"/>
              <a:buFont typeface="Calibri"/>
              <a:buNone/>
            </a:pPr>
            <a:r>
              <a:rPr i="1" lang="en-US" sz="1600" u="none" cap="none" strike="noStrike">
                <a:solidFill>
                  <a:srgbClr val="24314F"/>
                </a:solidFill>
              </a:rPr>
              <a:t>more requests within 99% SLO</a:t>
            </a:r>
            <a:endParaRPr i="0" sz="1600" u="none" cap="none" strike="noStrike">
              <a:solidFill>
                <a:srgbClr val="24314F"/>
              </a:solidFill>
            </a:endParaRPr>
          </a:p>
        </p:txBody>
      </p:sp>
      <p:sp>
        <p:nvSpPr>
          <p:cNvPr id="545" name="Google Shape;545;g3d775964ee3_0_351"/>
          <p:cNvSpPr/>
          <p:nvPr/>
        </p:nvSpPr>
        <p:spPr>
          <a:xfrm>
            <a:off x="6309076" y="1158907"/>
            <a:ext cx="5120700" cy="34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300"/>
              <a:buFont typeface="Calibri"/>
              <a:buNone/>
            </a:pPr>
            <a:r>
              <a:rPr b="1" i="0" lang="en-US" sz="1600" u="none" cap="none" strike="noStrike">
                <a:solidFill>
                  <a:srgbClr val="24314F"/>
                </a:solidFill>
              </a:rPr>
              <a:t>Multiplexing Timeline</a:t>
            </a:r>
            <a:endParaRPr i="0" sz="1600" u="none" cap="none" strike="noStrike">
              <a:solidFill>
                <a:srgbClr val="24314F"/>
              </a:solidFill>
            </a:endParaRPr>
          </a:p>
        </p:txBody>
      </p:sp>
      <p:sp>
        <p:nvSpPr>
          <p:cNvPr id="546" name="Google Shape;546;g3d775964ee3_0_351"/>
          <p:cNvSpPr/>
          <p:nvPr/>
        </p:nvSpPr>
        <p:spPr>
          <a:xfrm>
            <a:off x="5974276" y="1630180"/>
            <a:ext cx="1341300" cy="51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49E"/>
              </a:buClr>
              <a:buSzPts val="1100"/>
              <a:buFont typeface="Calibri"/>
              <a:buNone/>
            </a:pPr>
            <a:r>
              <a:rPr i="0" lang="en-US" sz="1600" u="none" cap="none" strike="noStrike">
                <a:solidFill>
                  <a:srgbClr val="24314F"/>
                </a:solidFill>
              </a:rPr>
              <a:t>Partition A</a:t>
            </a:r>
            <a:endParaRPr i="0" sz="1600" u="none" cap="none" strike="noStrike">
              <a:solidFill>
                <a:srgbClr val="24314F"/>
              </a:solidFill>
            </a:endParaRPr>
          </a:p>
        </p:txBody>
      </p:sp>
      <p:sp>
        <p:nvSpPr>
          <p:cNvPr id="547" name="Google Shape;547;g3d775964ee3_0_351"/>
          <p:cNvSpPr/>
          <p:nvPr/>
        </p:nvSpPr>
        <p:spPr>
          <a:xfrm>
            <a:off x="7400740" y="1630180"/>
            <a:ext cx="3901500" cy="512100"/>
          </a:xfrm>
          <a:prstGeom prst="rect">
            <a:avLst/>
          </a:prstGeom>
          <a:solidFill>
            <a:srgbClr val="EDEFFA"/>
          </a:solidFill>
          <a:ln cap="flat" cmpd="sng" w="16925">
            <a:solidFill>
              <a:srgbClr val="30363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8" name="Google Shape;548;g3d775964ee3_0_351"/>
          <p:cNvSpPr/>
          <p:nvPr/>
        </p:nvSpPr>
        <p:spPr>
          <a:xfrm>
            <a:off x="7400740" y="1630180"/>
            <a:ext cx="1341300" cy="512100"/>
          </a:xfrm>
          <a:prstGeom prst="rect">
            <a:avLst/>
          </a:prstGeom>
          <a:solidFill>
            <a:srgbClr val="58A6FF">
              <a:alpha val="45100"/>
            </a:srgbClr>
          </a:solidFill>
          <a:ln cap="flat" cmpd="sng" w="12700">
            <a:solidFill>
              <a:srgbClr val="58A6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9" name="Google Shape;549;g3d775964ee3_0_351"/>
          <p:cNvSpPr/>
          <p:nvPr/>
        </p:nvSpPr>
        <p:spPr>
          <a:xfrm>
            <a:off x="7400740" y="1630180"/>
            <a:ext cx="13413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100"/>
              <a:buFont typeface="Calibri"/>
              <a:buNone/>
            </a:pPr>
            <a:r>
              <a:rPr i="0" lang="en-US" sz="1600" u="none" cap="none" strike="noStrike">
                <a:solidFill>
                  <a:srgbClr val="24314F"/>
                </a:solidFill>
              </a:rPr>
              <a:t>LLM-A Prefill</a:t>
            </a:r>
            <a:endParaRPr i="0" sz="1600" u="none" cap="none" strike="noStrike">
              <a:solidFill>
                <a:srgbClr val="24314F"/>
              </a:solidFill>
            </a:endParaRPr>
          </a:p>
        </p:txBody>
      </p:sp>
      <p:sp>
        <p:nvSpPr>
          <p:cNvPr id="550" name="Google Shape;550;g3d775964ee3_0_351"/>
          <p:cNvSpPr/>
          <p:nvPr/>
        </p:nvSpPr>
        <p:spPr>
          <a:xfrm>
            <a:off x="8815012" y="1630180"/>
            <a:ext cx="1950900" cy="512100"/>
          </a:xfrm>
          <a:prstGeom prst="rect">
            <a:avLst/>
          </a:prstGeom>
          <a:solidFill>
            <a:srgbClr val="58A6FF">
              <a:alpha val="45100"/>
            </a:srgbClr>
          </a:solidFill>
          <a:ln cap="flat" cmpd="sng" w="12700">
            <a:solidFill>
              <a:srgbClr val="58A6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1" name="Google Shape;551;g3d775964ee3_0_351"/>
          <p:cNvSpPr/>
          <p:nvPr/>
        </p:nvSpPr>
        <p:spPr>
          <a:xfrm>
            <a:off x="8815012" y="1630180"/>
            <a:ext cx="1950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100"/>
              <a:buFont typeface="Calibri"/>
              <a:buNone/>
            </a:pPr>
            <a:r>
              <a:rPr i="0" lang="en-US" sz="1600" u="none" cap="none" strike="noStrike">
                <a:solidFill>
                  <a:srgbClr val="24314F"/>
                </a:solidFill>
              </a:rPr>
              <a:t>LLM-A Decode</a:t>
            </a:r>
            <a:endParaRPr i="0" sz="1600" u="none" cap="none" strike="noStrike">
              <a:solidFill>
                <a:srgbClr val="24314F"/>
              </a:solidFill>
            </a:endParaRPr>
          </a:p>
        </p:txBody>
      </p:sp>
      <p:sp>
        <p:nvSpPr>
          <p:cNvPr id="552" name="Google Shape;552;g3d775964ee3_0_351"/>
          <p:cNvSpPr/>
          <p:nvPr/>
        </p:nvSpPr>
        <p:spPr>
          <a:xfrm>
            <a:off x="5974276" y="2337316"/>
            <a:ext cx="1341300" cy="512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49E"/>
              </a:buClr>
              <a:buSzPts val="1100"/>
              <a:buFont typeface="Calibri"/>
              <a:buNone/>
            </a:pPr>
            <a:r>
              <a:rPr i="0" lang="en-US" sz="1600" u="none" cap="none" strike="noStrike">
                <a:solidFill>
                  <a:srgbClr val="24314F"/>
                </a:solidFill>
              </a:rPr>
              <a:t>Partition B</a:t>
            </a:r>
            <a:endParaRPr i="0" sz="1600" u="none" cap="none" strike="noStrike">
              <a:solidFill>
                <a:srgbClr val="24314F"/>
              </a:solidFill>
            </a:endParaRPr>
          </a:p>
        </p:txBody>
      </p:sp>
      <p:sp>
        <p:nvSpPr>
          <p:cNvPr id="553" name="Google Shape;553;g3d775964ee3_0_351"/>
          <p:cNvSpPr/>
          <p:nvPr/>
        </p:nvSpPr>
        <p:spPr>
          <a:xfrm>
            <a:off x="7400740" y="2337316"/>
            <a:ext cx="3901500" cy="512100"/>
          </a:xfrm>
          <a:prstGeom prst="rect">
            <a:avLst/>
          </a:prstGeom>
          <a:solidFill>
            <a:srgbClr val="EDEFFA"/>
          </a:solidFill>
          <a:ln cap="flat" cmpd="sng" w="16925">
            <a:solidFill>
              <a:srgbClr val="30363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4" name="Google Shape;554;g3d775964ee3_0_351"/>
          <p:cNvSpPr/>
          <p:nvPr/>
        </p:nvSpPr>
        <p:spPr>
          <a:xfrm>
            <a:off x="7400740" y="2337316"/>
            <a:ext cx="2438400" cy="512100"/>
          </a:xfrm>
          <a:prstGeom prst="rect">
            <a:avLst/>
          </a:prstGeom>
          <a:solidFill>
            <a:srgbClr val="3FB950">
              <a:alpha val="45100"/>
            </a:srgbClr>
          </a:solidFill>
          <a:ln cap="flat" cmpd="sng" w="12700">
            <a:solidFill>
              <a:srgbClr val="3FB95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5" name="Google Shape;555;g3d775964ee3_0_351"/>
          <p:cNvSpPr/>
          <p:nvPr/>
        </p:nvSpPr>
        <p:spPr>
          <a:xfrm>
            <a:off x="7400740" y="2337316"/>
            <a:ext cx="2438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100"/>
              <a:buFont typeface="Calibri"/>
              <a:buNone/>
            </a:pPr>
            <a:r>
              <a:rPr i="0" lang="en-US" sz="1600" u="none" cap="none" strike="noStrike">
                <a:solidFill>
                  <a:srgbClr val="24314F"/>
                </a:solidFill>
              </a:rPr>
              <a:t>LLM-B Decode</a:t>
            </a:r>
            <a:endParaRPr i="0" sz="1600" u="none" cap="none" strike="noStrike">
              <a:solidFill>
                <a:srgbClr val="24314F"/>
              </a:solidFill>
            </a:endParaRPr>
          </a:p>
        </p:txBody>
      </p:sp>
      <p:sp>
        <p:nvSpPr>
          <p:cNvPr id="556" name="Google Shape;556;g3d775964ee3_0_351"/>
          <p:cNvSpPr/>
          <p:nvPr/>
        </p:nvSpPr>
        <p:spPr>
          <a:xfrm>
            <a:off x="9912292" y="2337316"/>
            <a:ext cx="1219200" cy="512100"/>
          </a:xfrm>
          <a:prstGeom prst="rect">
            <a:avLst/>
          </a:prstGeom>
          <a:solidFill>
            <a:srgbClr val="3FB950">
              <a:alpha val="45100"/>
            </a:srgbClr>
          </a:solidFill>
          <a:ln cap="flat" cmpd="sng" w="12700">
            <a:solidFill>
              <a:srgbClr val="3FB95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7" name="Google Shape;557;g3d775964ee3_0_351"/>
          <p:cNvSpPr/>
          <p:nvPr/>
        </p:nvSpPr>
        <p:spPr>
          <a:xfrm>
            <a:off x="9912292" y="2337316"/>
            <a:ext cx="12192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100"/>
              <a:buFont typeface="Calibri"/>
              <a:buNone/>
            </a:pPr>
            <a:r>
              <a:rPr i="0" lang="en-US" sz="1600" u="none" cap="none" strike="noStrike">
                <a:solidFill>
                  <a:srgbClr val="24314F"/>
                </a:solidFill>
              </a:rPr>
              <a:t>LLM-B Prefill</a:t>
            </a:r>
            <a:endParaRPr i="0" sz="1600" u="none" cap="none" strike="noStrike">
              <a:solidFill>
                <a:srgbClr val="24314F"/>
              </a:solidFill>
            </a:endParaRPr>
          </a:p>
        </p:txBody>
      </p:sp>
      <p:sp>
        <p:nvSpPr>
          <p:cNvPr id="558" name="Google Shape;558;g3d775964ee3_0_351"/>
          <p:cNvSpPr/>
          <p:nvPr/>
        </p:nvSpPr>
        <p:spPr>
          <a:xfrm>
            <a:off x="955756" y="5682305"/>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Unified Memory: single KV cache table shared across colocated LLMs; head-wise blocks (128-dim) allow cross-model reuse</a:t>
            </a:r>
            <a:endParaRPr sz="1600">
              <a:solidFill>
                <a:srgbClr val="24314F"/>
              </a:solidFill>
            </a:endParaRPr>
          </a:p>
          <a:p>
            <a:pPr indent="0" lvl="0" marL="0" marR="0" rtl="0" algn="l">
              <a:spcBef>
                <a:spcPts val="0"/>
              </a:spcBef>
              <a:spcAft>
                <a:spcPts val="0"/>
              </a:spcAft>
              <a:buClr>
                <a:srgbClr val="58A6FF"/>
              </a:buClr>
              <a:buSzPts val="1300"/>
              <a:buFont typeface="Calibri"/>
              <a:buNone/>
            </a:pPr>
            <a:r>
              <a:t/>
            </a:r>
            <a:endParaRPr sz="1600">
              <a:solidFill>
                <a:srgbClr val="24314F"/>
              </a:solidFill>
            </a:endParaRPr>
          </a:p>
        </p:txBody>
      </p:sp>
      <p:sp>
        <p:nvSpPr>
          <p:cNvPr id="559" name="Google Shape;559;g3d775964ee3_0_351"/>
          <p:cNvSpPr/>
          <p:nvPr/>
        </p:nvSpPr>
        <p:spPr>
          <a:xfrm>
            <a:off x="969610" y="6163751"/>
            <a:ext cx="102474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600" u="none" cap="none" strike="noStrike">
                <a:solidFill>
                  <a:srgbClr val="24314F"/>
                </a:solidFill>
              </a:rPr>
              <a:t>▸  </a:t>
            </a:r>
            <a:r>
              <a:rPr lang="en-US" sz="1600">
                <a:solidFill>
                  <a:srgbClr val="24314F"/>
                </a:solidFill>
              </a:rPr>
              <a:t>ADBS algorithm: placement optimizer + adaptive batch scheduler for maximal utilization</a:t>
            </a:r>
            <a:endParaRPr sz="1600">
              <a:solidFill>
                <a:srgbClr val="24314F"/>
              </a:solidFill>
            </a:endParaRPr>
          </a:p>
          <a:p>
            <a:pPr indent="0" lvl="0" marL="0" marR="0" rtl="0" algn="l">
              <a:spcBef>
                <a:spcPts val="0"/>
              </a:spcBef>
              <a:spcAft>
                <a:spcPts val="0"/>
              </a:spcAft>
              <a:buClr>
                <a:srgbClr val="58A6FF"/>
              </a:buClr>
              <a:buSzPts val="1300"/>
              <a:buFont typeface="Calibri"/>
              <a:buNone/>
            </a:pPr>
            <a:r>
              <a:t/>
            </a:r>
            <a:endParaRPr sz="1600">
              <a:solidFill>
                <a:srgbClr val="24314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4" name="Shape 564"/>
        <p:cNvGrpSpPr/>
        <p:nvPr/>
      </p:nvGrpSpPr>
      <p:grpSpPr>
        <a:xfrm>
          <a:off x="0" y="0"/>
          <a:ext cx="0" cy="0"/>
          <a:chOff x="0" y="0"/>
          <a:chExt cx="0" cy="0"/>
        </a:xfrm>
      </p:grpSpPr>
      <p:sp>
        <p:nvSpPr>
          <p:cNvPr id="565" name="Google Shape;565;g3d775964ee3_0_543"/>
          <p:cNvSpPr/>
          <p:nvPr/>
        </p:nvSpPr>
        <p:spPr>
          <a:xfrm>
            <a:off x="609600" y="219456"/>
            <a:ext cx="10972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900"/>
              <a:buFont typeface="Calibri"/>
              <a:buNone/>
            </a:pPr>
            <a:r>
              <a:rPr b="1" lang="en-US" sz="2800">
                <a:solidFill>
                  <a:srgbClr val="24314F"/>
                </a:solidFill>
              </a:rPr>
              <a:t>Current Landscape: Comparing the Systems</a:t>
            </a:r>
            <a:endParaRPr b="1" sz="2800">
              <a:solidFill>
                <a:srgbClr val="24314F"/>
              </a:solidFill>
            </a:endParaRPr>
          </a:p>
        </p:txBody>
      </p:sp>
      <p:graphicFrame>
        <p:nvGraphicFramePr>
          <p:cNvPr id="566" name="Google Shape;566;g3d775964ee3_0_543"/>
          <p:cNvGraphicFramePr/>
          <p:nvPr/>
        </p:nvGraphicFramePr>
        <p:xfrm>
          <a:off x="850700" y="1844138"/>
          <a:ext cx="3000000" cy="3000000"/>
        </p:xfrm>
        <a:graphic>
          <a:graphicData uri="http://schemas.openxmlformats.org/drawingml/2006/table">
            <a:tbl>
              <a:tblPr>
                <a:noFill/>
                <a:tableStyleId>{EC67A452-83CC-4573-9EBC-7A23179EE2BC}</a:tableStyleId>
              </a:tblPr>
              <a:tblGrid>
                <a:gridCol w="1498650"/>
                <a:gridCol w="1374575"/>
                <a:gridCol w="1622750"/>
                <a:gridCol w="1498650"/>
                <a:gridCol w="1285950"/>
                <a:gridCol w="1493850"/>
                <a:gridCol w="1716175"/>
              </a:tblGrid>
              <a:tr h="381000">
                <a:tc>
                  <a:txBody>
                    <a:bodyPr/>
                    <a:lstStyle/>
                    <a:p>
                      <a:pPr indent="0" lvl="0" marL="0" rtl="0" algn="ctr">
                        <a:spcBef>
                          <a:spcPts val="0"/>
                        </a:spcBef>
                        <a:spcAft>
                          <a:spcPts val="0"/>
                        </a:spcAft>
                        <a:buClr>
                          <a:srgbClr val="58A6FF"/>
                        </a:buClr>
                        <a:buSzPts val="1200"/>
                        <a:buFont typeface="Calibri"/>
                        <a:buNone/>
                      </a:pPr>
                      <a:r>
                        <a:rPr b="1" lang="en-US" sz="1600">
                          <a:solidFill>
                            <a:srgbClr val="58A6FF"/>
                          </a:solidFill>
                        </a:rPr>
                        <a:t>System</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Scope</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Sharing Type</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Granularity</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SLO-Aware</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vLLM-based</a:t>
                      </a:r>
                      <a:endParaRPr sz="1600"/>
                    </a:p>
                  </a:txBody>
                  <a:tcPr marT="91425" marB="91425" marR="91425" marL="91425"/>
                </a:tc>
                <a:tc>
                  <a:txBody>
                    <a:bodyPr/>
                    <a:lstStyle/>
                    <a:p>
                      <a:pPr indent="0" lvl="0" marL="0" rtl="0" algn="ctr">
                        <a:spcBef>
                          <a:spcPts val="0"/>
                        </a:spcBef>
                        <a:spcAft>
                          <a:spcPts val="0"/>
                        </a:spcAft>
                        <a:buNone/>
                      </a:pPr>
                      <a:r>
                        <a:rPr b="1" lang="en-US" sz="1600">
                          <a:solidFill>
                            <a:srgbClr val="58A6FF"/>
                          </a:solidFill>
                        </a:rPr>
                        <a:t>Key Limitation</a:t>
                      </a:r>
                      <a:endParaRPr sz="1600"/>
                    </a:p>
                  </a:txBody>
                  <a:tcPr marT="91425" marB="91425" marR="91425" marL="91425"/>
                </a:tc>
              </a:tr>
              <a:tr h="381000">
                <a:tc>
                  <a:txBody>
                    <a:bodyPr/>
                    <a:lstStyle/>
                    <a:p>
                      <a:pPr indent="0" lvl="0" marL="0" rtl="0" algn="l">
                        <a:spcBef>
                          <a:spcPts val="0"/>
                        </a:spcBef>
                        <a:spcAft>
                          <a:spcPts val="0"/>
                        </a:spcAft>
                        <a:buNone/>
                      </a:pPr>
                      <a:r>
                        <a:rPr lang="en-US" sz="1600"/>
                        <a:t>USher</a:t>
                      </a:r>
                      <a:endParaRPr sz="1600"/>
                    </a:p>
                  </a:txBody>
                  <a:tcPr marT="91425" marB="91425" marR="91425" marL="91425"/>
                </a:tc>
                <a:tc>
                  <a:txBody>
                    <a:bodyPr/>
                    <a:lstStyle/>
                    <a:p>
                      <a:pPr indent="0" lvl="0" marL="0" rtl="0" algn="l">
                        <a:spcBef>
                          <a:spcPts val="0"/>
                        </a:spcBef>
                        <a:spcAft>
                          <a:spcPts val="0"/>
                        </a:spcAft>
                        <a:buNone/>
                      </a:pPr>
                      <a:r>
                        <a:rPr lang="en-US" sz="1600"/>
                        <a:t>Multi-model</a:t>
                      </a:r>
                      <a:endParaRPr sz="1600"/>
                    </a:p>
                  </a:txBody>
                  <a:tcPr marT="91425" marB="91425" marR="91425" marL="91425"/>
                </a:tc>
                <a:tc>
                  <a:txBody>
                    <a:bodyPr/>
                    <a:lstStyle/>
                    <a:p>
                      <a:pPr indent="0" lvl="0" marL="0" rtl="0" algn="l">
                        <a:spcBef>
                          <a:spcPts val="0"/>
                        </a:spcBef>
                        <a:spcAft>
                          <a:spcPts val="0"/>
                        </a:spcAft>
                        <a:buNone/>
                      </a:pPr>
                      <a:r>
                        <a:rPr lang="en-US" sz="1600"/>
                        <a:t>Spatial</a:t>
                      </a:r>
                      <a:endParaRPr sz="1600"/>
                    </a:p>
                  </a:txBody>
                  <a:tcPr marT="91425" marB="91425" marR="91425" marL="91425"/>
                </a:tc>
                <a:tc>
                  <a:txBody>
                    <a:bodyPr/>
                    <a:lstStyle/>
                    <a:p>
                      <a:pPr indent="0" lvl="0" marL="0" rtl="0" algn="l">
                        <a:spcBef>
                          <a:spcPts val="0"/>
                        </a:spcBef>
                        <a:spcAft>
                          <a:spcPts val="0"/>
                        </a:spcAft>
                        <a:buNone/>
                      </a:pPr>
                      <a:r>
                        <a:rPr lang="en-US" sz="1600"/>
                        <a:t>Model-level</a:t>
                      </a:r>
                      <a:endParaRPr sz="1600"/>
                    </a:p>
                  </a:txBody>
                  <a:tcPr marT="91425" marB="91425" marR="91425" marL="91425"/>
                </a:tc>
                <a:tc>
                  <a:txBody>
                    <a:bodyPr/>
                    <a:lstStyle/>
                    <a:p>
                      <a:pPr indent="0" lvl="0" marL="0" rtl="0" algn="l">
                        <a:spcBef>
                          <a:spcPts val="0"/>
                        </a:spcBef>
                        <a:spcAft>
                          <a:spcPts val="0"/>
                        </a:spcAft>
                        <a:buNone/>
                      </a:pPr>
                      <a:r>
                        <a:rPr lang="en-US" sz="1600"/>
                        <a:t>Partial</a:t>
                      </a:r>
                      <a:endParaRPr sz="1600"/>
                    </a:p>
                  </a:txBody>
                  <a:tcPr marT="91425" marB="91425" marR="91425" marL="91425"/>
                </a:tc>
                <a:tc>
                  <a:txBody>
                    <a:bodyPr/>
                    <a:lstStyle/>
                    <a:p>
                      <a:pPr indent="0" lvl="0" marL="0" rtl="0" algn="l">
                        <a:spcBef>
                          <a:spcPts val="0"/>
                        </a:spcBef>
                        <a:spcAft>
                          <a:spcPts val="0"/>
                        </a:spcAft>
                        <a:buNone/>
                      </a:pPr>
                      <a:r>
                        <a:rPr lang="en-US" sz="1600"/>
                        <a:t>No</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No P/D disaggregation</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r>
              <a:tr h="381000">
                <a:tc>
                  <a:txBody>
                    <a:bodyPr/>
                    <a:lstStyle/>
                    <a:p>
                      <a:pPr indent="0" lvl="0" marL="0" rtl="0" algn="l">
                        <a:spcBef>
                          <a:spcPts val="0"/>
                        </a:spcBef>
                        <a:spcAft>
                          <a:spcPts val="0"/>
                        </a:spcAft>
                        <a:buNone/>
                      </a:pPr>
                      <a:r>
                        <a:rPr lang="en-US" sz="1600"/>
                        <a:t>Orion</a:t>
                      </a:r>
                      <a:endParaRPr sz="1600"/>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Multi-client</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Spatial-Temporal</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Operator-level</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No</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None/>
                      </a:pPr>
                      <a:r>
                        <a:rPr lang="en-US" sz="1600"/>
                        <a:t>No</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Priority model only</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r>
              <a:tr h="381000">
                <a:tc>
                  <a:txBody>
                    <a:bodyPr/>
                    <a:lstStyle/>
                    <a:p>
                      <a:pPr indent="0" lvl="0" marL="0" rtl="0" algn="l">
                        <a:spcBef>
                          <a:spcPts val="0"/>
                        </a:spcBef>
                        <a:spcAft>
                          <a:spcPts val="0"/>
                        </a:spcAft>
                        <a:buNone/>
                      </a:pPr>
                      <a:r>
                        <a:rPr lang="en-US" sz="1600"/>
                        <a:t>MuxServe</a:t>
                      </a:r>
                      <a:endParaRPr sz="1600"/>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Multi-LLM</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Spatial-Temporal</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Phase-level</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Yes</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c>
                  <a:txBody>
                    <a:bodyPr/>
                    <a:lstStyle/>
                    <a:p>
                      <a:pPr indent="0" lvl="0" marL="0" rtl="0" algn="l">
                        <a:spcBef>
                          <a:spcPts val="0"/>
                        </a:spcBef>
                        <a:spcAft>
                          <a:spcPts val="0"/>
                        </a:spcAft>
                        <a:buNone/>
                      </a:pPr>
                      <a:r>
                        <a:rPr lang="en-US" sz="1600"/>
                        <a:t>Yes</a:t>
                      </a:r>
                      <a:endParaRPr sz="1600"/>
                    </a:p>
                  </a:txBody>
                  <a:tcPr marT="91425" marB="91425" marR="91425" marL="91425"/>
                </a:tc>
                <a:tc>
                  <a:txBody>
                    <a:bodyPr/>
                    <a:lstStyle/>
                    <a:p>
                      <a:pPr indent="0" lvl="0" marL="0" rtl="0" algn="l">
                        <a:spcBef>
                          <a:spcPts val="0"/>
                        </a:spcBef>
                        <a:spcAft>
                          <a:spcPts val="0"/>
                        </a:spcAft>
                        <a:buClr>
                          <a:srgbClr val="E6EDF3"/>
                        </a:buClr>
                        <a:buSzPts val="1200"/>
                        <a:buFont typeface="Calibri"/>
                        <a:buNone/>
                      </a:pPr>
                      <a:r>
                        <a:rPr lang="en-US" sz="1600">
                          <a:solidFill>
                            <a:srgbClr val="24314F"/>
                          </a:solidFill>
                        </a:rPr>
                        <a:t>Static MPS allocation</a:t>
                      </a:r>
                      <a:endParaRPr sz="1600">
                        <a:solidFill>
                          <a:srgbClr val="24314F"/>
                        </a:solidFill>
                      </a:endParaRPr>
                    </a:p>
                    <a:p>
                      <a:pPr indent="0" lvl="0" marL="0" rtl="0" algn="l">
                        <a:spcBef>
                          <a:spcPts val="0"/>
                        </a:spcBef>
                        <a:spcAft>
                          <a:spcPts val="0"/>
                        </a:spcAft>
                        <a:buNone/>
                      </a:pPr>
                      <a:r>
                        <a:t/>
                      </a:r>
                      <a:endParaRPr sz="1600"/>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d775964ee3_0_43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573" name="Google Shape;573;g3d775964ee3_0_430"/>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shift from the voice agent to general omni model optimizing.( Work on the code Hongrui sent) (NSCC down)</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find some models that can generate vision task and text tasks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look at omni models with </a:t>
            </a:r>
            <a:r>
              <a:rPr lang="en-US" sz="1900">
                <a:solidFill>
                  <a:schemeClr val="dk1"/>
                </a:solidFill>
                <a:latin typeface="Roboto Mono"/>
                <a:ea typeface="Roboto Mono"/>
                <a:cs typeface="Roboto Mono"/>
                <a:sym typeface="Roboto Mono"/>
              </a:rPr>
              <a:t>diffusion</a:t>
            </a:r>
            <a:r>
              <a:rPr lang="en-US" sz="1900">
                <a:solidFill>
                  <a:schemeClr val="dk1"/>
                </a:solidFill>
                <a:latin typeface="Roboto Mono"/>
                <a:ea typeface="Roboto Mono"/>
                <a:cs typeface="Roboto Mono"/>
                <a:sym typeface="Roboto Mono"/>
              </a:rPr>
              <a:t> components (GLM) understand </a:t>
            </a:r>
            <a:r>
              <a:rPr lang="en-US" sz="1900">
                <a:solidFill>
                  <a:schemeClr val="dk1"/>
                </a:solidFill>
                <a:latin typeface="Roboto Mono"/>
                <a:ea typeface="Roboto Mono"/>
                <a:cs typeface="Roboto Mono"/>
                <a:sym typeface="Roboto Mono"/>
              </a:rPr>
              <a:t>resource</a:t>
            </a:r>
            <a:r>
              <a:rPr lang="en-US" sz="1900">
                <a:solidFill>
                  <a:schemeClr val="dk1"/>
                </a:solidFill>
                <a:latin typeface="Roboto Mono"/>
                <a:ea typeface="Roboto Mono"/>
                <a:cs typeface="Roboto Mono"/>
                <a:sym typeface="Roboto Mono"/>
              </a:rPr>
              <a:t> </a:t>
            </a:r>
            <a:r>
              <a:rPr lang="en-US" sz="1900">
                <a:solidFill>
                  <a:schemeClr val="dk1"/>
                </a:solidFill>
                <a:latin typeface="Roboto Mono"/>
                <a:ea typeface="Roboto Mono"/>
                <a:cs typeface="Roboto Mono"/>
                <a:sym typeface="Roboto Mono"/>
              </a:rPr>
              <a:t>requirements</a:t>
            </a:r>
            <a:r>
              <a:rPr lang="en-US" sz="1900">
                <a:solidFill>
                  <a:schemeClr val="dk1"/>
                </a:solidFill>
                <a:latin typeface="Roboto Mono"/>
                <a:ea typeface="Roboto Mono"/>
                <a:cs typeface="Roboto Mono"/>
                <a:sym typeface="Roboto Mono"/>
              </a:rPr>
              <a:t> for LLM and diffusion models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First understand how GLM work &lt;- search Qwen image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do survey about multiplexing</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MuxWise </a:t>
            </a:r>
            <a:r>
              <a:rPr lang="en-US" sz="1900" u="sng">
                <a:solidFill>
                  <a:schemeClr val="hlink"/>
                </a:solidFill>
                <a:latin typeface="Roboto Mono"/>
                <a:ea typeface="Roboto Mono"/>
                <a:cs typeface="Roboto Mono"/>
                <a:sym typeface="Roboto Mono"/>
                <a:hlinkClick r:id="rId3"/>
              </a:rPr>
              <a:t>https://arxiv.org/pdf/2504.14489</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Bullet </a:t>
            </a:r>
            <a:r>
              <a:rPr lang="en-US" sz="1900" u="sng">
                <a:solidFill>
                  <a:schemeClr val="hlink"/>
                </a:solidFill>
                <a:latin typeface="Roboto Mono"/>
                <a:ea typeface="Roboto Mono"/>
                <a:cs typeface="Roboto Mono"/>
                <a:sym typeface="Roboto Mono"/>
                <a:hlinkClick r:id="rId4"/>
              </a:rPr>
              <a:t>https://arxiv.org/pdf/2504.19516v2</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1" marL="13716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understand the resource requirement </a:t>
            </a:r>
            <a:endParaRPr sz="1900">
              <a:solidFill>
                <a:schemeClr val="dk1"/>
              </a:solidFill>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041c245af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Mar 10, 2026</a:t>
            </a:r>
            <a:endParaRPr>
              <a:solidFill>
                <a:srgbClr val="FF0000"/>
              </a:solidFill>
              <a:latin typeface="ADLaM Display"/>
              <a:ea typeface="ADLaM Display"/>
              <a:cs typeface="ADLaM Display"/>
              <a:sym typeface="ADLaM Display"/>
            </a:endParaRPr>
          </a:p>
        </p:txBody>
      </p:sp>
      <p:sp>
        <p:nvSpPr>
          <p:cNvPr id="579" name="Google Shape;579;g3d041c245af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mid term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3958b3a9d51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Mar 3</a:t>
            </a:r>
            <a:r>
              <a:rPr lang="en-US">
                <a:solidFill>
                  <a:srgbClr val="FF0000"/>
                </a:solidFill>
                <a:latin typeface="ADLaM Display"/>
                <a:ea typeface="ADLaM Display"/>
                <a:cs typeface="ADLaM Display"/>
                <a:sym typeface="ADLaM Display"/>
              </a:rPr>
              <a:t>, 2026</a:t>
            </a:r>
            <a:endParaRPr>
              <a:solidFill>
                <a:srgbClr val="FF0000"/>
              </a:solidFill>
              <a:latin typeface="ADLaM Display"/>
              <a:ea typeface="ADLaM Display"/>
              <a:cs typeface="ADLaM Display"/>
              <a:sym typeface="ADLaM Display"/>
            </a:endParaRPr>
          </a:p>
        </p:txBody>
      </p:sp>
      <p:sp>
        <p:nvSpPr>
          <p:cNvPr id="585" name="Google Shape;585;g3958b3a9d51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bebc3ce2e9_0_11"/>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592" name="Google Shape;592;g3bebc3ce2e9_0_11"/>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Add function calling (search and database retrieval)</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FAISS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read ShardMemo</a:t>
            </a:r>
            <a:endParaRPr sz="1900">
              <a:solidFill>
                <a:schemeClr val="dk1"/>
              </a:solidFill>
              <a:latin typeface="Roboto Mono"/>
              <a:ea typeface="Roboto Mono"/>
              <a:cs typeface="Roboto Mono"/>
              <a:sym typeface="Roboto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958b3a9d51_0_16"/>
          <p:cNvSpPr txBox="1"/>
          <p:nvPr/>
        </p:nvSpPr>
        <p:spPr>
          <a:xfrm>
            <a:off x="685800" y="3792270"/>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Plan</a:t>
            </a:r>
            <a:endParaRPr sz="900"/>
          </a:p>
        </p:txBody>
      </p:sp>
      <p:sp>
        <p:nvSpPr>
          <p:cNvPr id="602" name="Google Shape;602;g3958b3a9d51_0_16"/>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603" name="Google Shape;603;g3958b3a9d51_0_16"/>
          <p:cNvGrpSpPr/>
          <p:nvPr/>
        </p:nvGrpSpPr>
        <p:grpSpPr>
          <a:xfrm rot="-5400000">
            <a:off x="3451093" y="2718650"/>
            <a:ext cx="396240" cy="5955427"/>
            <a:chOff x="0" y="-47625"/>
            <a:chExt cx="660400" cy="9925711"/>
          </a:xfrm>
        </p:grpSpPr>
        <p:sp>
          <p:nvSpPr>
            <p:cNvPr id="604" name="Google Shape;604;g3958b3a9d51_0_16"/>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605" name="Google Shape;605;g3958b3a9d51_0_16"/>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06" name="Google Shape;606;g3958b3a9d51_0_16"/>
          <p:cNvSpPr txBox="1"/>
          <p:nvPr/>
        </p:nvSpPr>
        <p:spPr>
          <a:xfrm>
            <a:off x="685800" y="4860075"/>
            <a:ext cx="10820400" cy="10344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Agentic Voice RAG Pipeline Overview </a:t>
            </a:r>
            <a:endParaRPr sz="1200">
              <a:solidFill>
                <a:schemeClr val="dk1"/>
              </a:solidFill>
            </a:endParaRPr>
          </a:p>
          <a:p>
            <a:pPr indent="0" lvl="0" marL="0" marR="0" rtl="0" algn="l">
              <a:lnSpc>
                <a:spcPct val="124000"/>
              </a:lnSpc>
              <a:spcBef>
                <a:spcPts val="0"/>
              </a:spcBef>
              <a:spcAft>
                <a:spcPts val="0"/>
              </a:spcAft>
              <a:buNone/>
            </a:pPr>
            <a:r>
              <a:t/>
            </a:r>
            <a:endParaRPr b="1" sz="3000">
              <a:solidFill>
                <a:srgbClr val="24314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grpSp>
        <p:nvGrpSpPr>
          <p:cNvPr id="611" name="Google Shape;611;g3bebc3ce2e9_0_17"/>
          <p:cNvGrpSpPr/>
          <p:nvPr/>
        </p:nvGrpSpPr>
        <p:grpSpPr>
          <a:xfrm>
            <a:off x="685800" y="5055056"/>
            <a:ext cx="10820186" cy="1803349"/>
            <a:chOff x="0" y="-47625"/>
            <a:chExt cx="4274726" cy="2214600"/>
          </a:xfrm>
        </p:grpSpPr>
        <p:sp>
          <p:nvSpPr>
            <p:cNvPr id="612" name="Google Shape;612;g3bebc3ce2e9_0_1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13" name="Google Shape;613;g3bebc3ce2e9_0_1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14" name="Google Shape;614;g3bebc3ce2e9_0_17"/>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Design Graph</a:t>
            </a:r>
            <a:endParaRPr sz="1200"/>
          </a:p>
        </p:txBody>
      </p:sp>
      <p:grpSp>
        <p:nvGrpSpPr>
          <p:cNvPr id="615" name="Google Shape;615;g3bebc3ce2e9_0_17"/>
          <p:cNvGrpSpPr/>
          <p:nvPr/>
        </p:nvGrpSpPr>
        <p:grpSpPr>
          <a:xfrm>
            <a:off x="1014750" y="5271450"/>
            <a:ext cx="10309570" cy="1688168"/>
            <a:chOff x="0" y="-47625"/>
            <a:chExt cx="1808189" cy="1790400"/>
          </a:xfrm>
        </p:grpSpPr>
        <p:sp>
          <p:nvSpPr>
            <p:cNvPr id="616" name="Google Shape;616;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17" name="Google Shape;617;g3bebc3ce2e9_0_1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18" name="Google Shape;618;g3bebc3ce2e9_0_17"/>
          <p:cNvSpPr txBox="1"/>
          <p:nvPr/>
        </p:nvSpPr>
        <p:spPr>
          <a:xfrm>
            <a:off x="1234501" y="5449250"/>
            <a:ext cx="9949800" cy="1307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633">
                <a:solidFill>
                  <a:srgbClr val="24314F"/>
                </a:solidFill>
                <a:latin typeface="Inter"/>
                <a:ea typeface="Inter"/>
                <a:cs typeface="Inter"/>
                <a:sym typeface="Inter"/>
              </a:rPr>
              <a:t>Why ?</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Simulates enterprise voice agents handling multi-step reasoning</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Mirrors the architecture of Bank of America's Erica (handling 3B+ interactions via ReAct tool-calling).</a:t>
            </a:r>
            <a:endParaRPr b="1" sz="1633">
              <a:solidFill>
                <a:srgbClr val="24314F"/>
              </a:solidFill>
              <a:latin typeface="Inter"/>
              <a:ea typeface="Inter"/>
              <a:cs typeface="Inter"/>
              <a:sym typeface="Inter"/>
            </a:endParaRPr>
          </a:p>
        </p:txBody>
      </p:sp>
      <p:sp>
        <p:nvSpPr>
          <p:cNvPr id="619" name="Google Shape;619;g3bebc3ce2e9_0_17"/>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grpSp>
        <p:nvGrpSpPr>
          <p:cNvPr id="620" name="Google Shape;620;g3bebc3ce2e9_0_17"/>
          <p:cNvGrpSpPr/>
          <p:nvPr/>
        </p:nvGrpSpPr>
        <p:grpSpPr>
          <a:xfrm>
            <a:off x="850300" y="1545346"/>
            <a:ext cx="1652866" cy="1199747"/>
            <a:chOff x="0" y="-47625"/>
            <a:chExt cx="1808189" cy="1790400"/>
          </a:xfrm>
        </p:grpSpPr>
        <p:sp>
          <p:nvSpPr>
            <p:cNvPr id="621" name="Google Shape;621;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335">
                <a:solidFill>
                  <a:schemeClr val="dk1"/>
                </a:solidFill>
                <a:latin typeface="Arial"/>
                <a:ea typeface="Arial"/>
                <a:cs typeface="Arial"/>
                <a:sym typeface="Arial"/>
              </a:endParaRPr>
            </a:p>
          </p:txBody>
        </p:sp>
        <p:sp>
          <p:nvSpPr>
            <p:cNvPr id="622" name="Google Shape;622;g3bebc3ce2e9_0_17"/>
            <p:cNvSpPr txBox="1"/>
            <p:nvPr/>
          </p:nvSpPr>
          <p:spPr>
            <a:xfrm>
              <a:off x="0" y="-47625"/>
              <a:ext cx="1808100" cy="1790400"/>
            </a:xfrm>
            <a:prstGeom prst="rect">
              <a:avLst/>
            </a:prstGeom>
            <a:solidFill>
              <a:srgbClr val="D9EAD3"/>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482">
                  <a:solidFill>
                    <a:schemeClr val="dk1"/>
                  </a:solidFill>
                </a:rPr>
                <a:t>Input</a:t>
              </a:r>
              <a:endParaRPr sz="1482">
                <a:solidFill>
                  <a:schemeClr val="dk1"/>
                </a:solidFill>
              </a:endParaRPr>
            </a:p>
            <a:p>
              <a:pPr indent="0" lvl="0" marL="0" marR="0" rtl="0" algn="ctr">
                <a:lnSpc>
                  <a:spcPct val="155583"/>
                </a:lnSpc>
                <a:spcBef>
                  <a:spcPts val="0"/>
                </a:spcBef>
                <a:spcAft>
                  <a:spcPts val="0"/>
                </a:spcAft>
                <a:buNone/>
              </a:pPr>
              <a:r>
                <a:rPr lang="en-US" sz="1482">
                  <a:solidFill>
                    <a:schemeClr val="dk1"/>
                  </a:solidFill>
                </a:rPr>
                <a:t>(User Audio)</a:t>
              </a:r>
              <a:endParaRPr sz="1482">
                <a:solidFill>
                  <a:schemeClr val="dk1"/>
                </a:solidFill>
              </a:endParaRPr>
            </a:p>
          </p:txBody>
        </p:sp>
      </p:grpSp>
      <p:grpSp>
        <p:nvGrpSpPr>
          <p:cNvPr id="623" name="Google Shape;623;g3bebc3ce2e9_0_17"/>
          <p:cNvGrpSpPr/>
          <p:nvPr/>
        </p:nvGrpSpPr>
        <p:grpSpPr>
          <a:xfrm>
            <a:off x="2775226" y="1545333"/>
            <a:ext cx="1937435" cy="1199747"/>
            <a:chOff x="-311291" y="-23857"/>
            <a:chExt cx="2119500" cy="1790400"/>
          </a:xfrm>
        </p:grpSpPr>
        <p:sp>
          <p:nvSpPr>
            <p:cNvPr id="624" name="Google Shape;624;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D2E9"/>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335">
                <a:solidFill>
                  <a:schemeClr val="dk1"/>
                </a:solidFill>
                <a:latin typeface="Arial"/>
                <a:ea typeface="Arial"/>
                <a:cs typeface="Arial"/>
                <a:sym typeface="Arial"/>
              </a:endParaRPr>
            </a:p>
          </p:txBody>
        </p:sp>
        <p:sp>
          <p:nvSpPr>
            <p:cNvPr id="625" name="Google Shape;625;g3bebc3ce2e9_0_17"/>
            <p:cNvSpPr txBox="1"/>
            <p:nvPr/>
          </p:nvSpPr>
          <p:spPr>
            <a:xfrm>
              <a:off x="-311291" y="-23857"/>
              <a:ext cx="2119500" cy="1790400"/>
            </a:xfrm>
            <a:prstGeom prst="rect">
              <a:avLst/>
            </a:prstGeom>
            <a:solidFill>
              <a:srgbClr val="D9D2E9"/>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482">
                  <a:solidFill>
                    <a:schemeClr val="dk1"/>
                  </a:solidFill>
                </a:rPr>
                <a:t>Thinker </a:t>
              </a:r>
              <a:endParaRPr sz="1482">
                <a:solidFill>
                  <a:schemeClr val="dk1"/>
                </a:solidFill>
              </a:endParaRPr>
            </a:p>
            <a:p>
              <a:pPr indent="0" lvl="0" marL="0" marR="0" rtl="0" algn="ctr">
                <a:lnSpc>
                  <a:spcPct val="155583"/>
                </a:lnSpc>
                <a:spcBef>
                  <a:spcPts val="0"/>
                </a:spcBef>
                <a:spcAft>
                  <a:spcPts val="0"/>
                </a:spcAft>
                <a:buNone/>
              </a:pPr>
              <a:r>
                <a:rPr lang="en-US" sz="1482">
                  <a:solidFill>
                    <a:schemeClr val="dk1"/>
                  </a:solidFill>
                </a:rPr>
                <a:t>Qwen2.5-Omni-7B</a:t>
              </a:r>
              <a:endParaRPr sz="1482">
                <a:solidFill>
                  <a:schemeClr val="dk1"/>
                </a:solidFill>
              </a:endParaRPr>
            </a:p>
          </p:txBody>
        </p:sp>
      </p:grpSp>
      <p:cxnSp>
        <p:nvCxnSpPr>
          <p:cNvPr id="626" name="Google Shape;626;g3bebc3ce2e9_0_17"/>
          <p:cNvCxnSpPr>
            <a:stCxn id="622" idx="3"/>
            <a:endCxn id="625" idx="1"/>
          </p:cNvCxnSpPr>
          <p:nvPr/>
        </p:nvCxnSpPr>
        <p:spPr>
          <a:xfrm>
            <a:off x="2503084" y="2145220"/>
            <a:ext cx="272100" cy="0"/>
          </a:xfrm>
          <a:prstGeom prst="straightConnector1">
            <a:avLst/>
          </a:prstGeom>
          <a:noFill/>
          <a:ln cap="flat" cmpd="sng" w="9675">
            <a:solidFill>
              <a:schemeClr val="dk2"/>
            </a:solidFill>
            <a:prstDash val="solid"/>
            <a:round/>
            <a:headEnd len="med" w="med" type="none"/>
            <a:tailEnd len="med" w="med" type="triangle"/>
          </a:ln>
        </p:spPr>
      </p:cxnSp>
      <p:cxnSp>
        <p:nvCxnSpPr>
          <p:cNvPr id="627" name="Google Shape;627;g3bebc3ce2e9_0_17"/>
          <p:cNvCxnSpPr>
            <a:stCxn id="625" idx="2"/>
            <a:endCxn id="628" idx="1"/>
          </p:cNvCxnSpPr>
          <p:nvPr/>
        </p:nvCxnSpPr>
        <p:spPr>
          <a:xfrm>
            <a:off x="3743944" y="2745080"/>
            <a:ext cx="839700" cy="1419600"/>
          </a:xfrm>
          <a:prstGeom prst="straightConnector1">
            <a:avLst/>
          </a:prstGeom>
          <a:noFill/>
          <a:ln cap="flat" cmpd="sng" w="9675">
            <a:solidFill>
              <a:schemeClr val="dk2"/>
            </a:solidFill>
            <a:prstDash val="solid"/>
            <a:round/>
            <a:headEnd len="med" w="med" type="none"/>
            <a:tailEnd len="med" w="med" type="triangle"/>
          </a:ln>
        </p:spPr>
      </p:cxnSp>
      <p:sp>
        <p:nvSpPr>
          <p:cNvPr id="628" name="Google Shape;628;g3bebc3ce2e9_0_17"/>
          <p:cNvSpPr txBox="1"/>
          <p:nvPr/>
        </p:nvSpPr>
        <p:spPr>
          <a:xfrm>
            <a:off x="4583583" y="3471155"/>
            <a:ext cx="4516800" cy="1386900"/>
          </a:xfrm>
          <a:prstGeom prst="rect">
            <a:avLst/>
          </a:prstGeom>
          <a:solidFill>
            <a:srgbClr val="D9D2E9"/>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t/>
            </a:r>
            <a:endParaRPr sz="1482">
              <a:solidFill>
                <a:schemeClr val="dk1"/>
              </a:solidFill>
            </a:endParaRPr>
          </a:p>
          <a:p>
            <a:pPr indent="0" lvl="0" marL="0" marR="0" rtl="0" algn="ctr">
              <a:lnSpc>
                <a:spcPct val="155583"/>
              </a:lnSpc>
              <a:spcBef>
                <a:spcPts val="0"/>
              </a:spcBef>
              <a:spcAft>
                <a:spcPts val="0"/>
              </a:spcAft>
              <a:buNone/>
            </a:pPr>
            <a:r>
              <a:rPr lang="en-US" sz="1482">
                <a:solidFill>
                  <a:schemeClr val="dk1"/>
                </a:solidFill>
              </a:rPr>
              <a:t>Tool Executor</a:t>
            </a:r>
            <a:endParaRPr sz="1482">
              <a:solidFill>
                <a:schemeClr val="dk1"/>
              </a:solidFill>
            </a:endParaRPr>
          </a:p>
          <a:p>
            <a:pPr indent="0" lvl="0" marL="0" rtl="0" algn="ctr">
              <a:lnSpc>
                <a:spcPct val="155583"/>
              </a:lnSpc>
              <a:spcBef>
                <a:spcPts val="0"/>
              </a:spcBef>
              <a:spcAft>
                <a:spcPts val="0"/>
              </a:spcAft>
              <a:buClr>
                <a:schemeClr val="dk1"/>
              </a:buClr>
              <a:buSzPts val="1485"/>
              <a:buFont typeface="Arial"/>
              <a:buNone/>
            </a:pPr>
            <a:r>
              <a:rPr b="1" lang="en-US" sz="1485">
                <a:solidFill>
                  <a:schemeClr val="dk1"/>
                </a:solidFill>
              </a:rPr>
              <a:t>Local RAG:</a:t>
            </a:r>
            <a:r>
              <a:rPr lang="en-US" sz="1485">
                <a:solidFill>
                  <a:schemeClr val="dk1"/>
                </a:solidFill>
              </a:rPr>
              <a:t> FAISS Vector DB (Customer lookup)</a:t>
            </a:r>
            <a:endParaRPr sz="1485">
              <a:solidFill>
                <a:schemeClr val="dk1"/>
              </a:solidFill>
            </a:endParaRPr>
          </a:p>
          <a:p>
            <a:pPr indent="0" lvl="0" marL="0" rtl="0" algn="ctr">
              <a:lnSpc>
                <a:spcPct val="155583"/>
              </a:lnSpc>
              <a:spcBef>
                <a:spcPts val="0"/>
              </a:spcBef>
              <a:spcAft>
                <a:spcPts val="0"/>
              </a:spcAft>
              <a:buClr>
                <a:schemeClr val="dk1"/>
              </a:buClr>
              <a:buSzPts val="1485"/>
              <a:buFont typeface="Arial"/>
              <a:buNone/>
            </a:pPr>
            <a:r>
              <a:rPr b="1" lang="en-US" sz="1485">
                <a:solidFill>
                  <a:schemeClr val="dk1"/>
                </a:solidFill>
              </a:rPr>
              <a:t>Online Search:</a:t>
            </a:r>
            <a:r>
              <a:rPr lang="en-US" sz="1485">
                <a:solidFill>
                  <a:schemeClr val="dk1"/>
                </a:solidFill>
              </a:rPr>
              <a:t> Web API (in progress) </a:t>
            </a:r>
            <a:endParaRPr i="1" sz="1485">
              <a:solidFill>
                <a:schemeClr val="dk1"/>
              </a:solidFill>
            </a:endParaRPr>
          </a:p>
          <a:p>
            <a:pPr indent="0" lvl="0" marL="0" marR="0" rtl="0" algn="ctr">
              <a:lnSpc>
                <a:spcPct val="155583"/>
              </a:lnSpc>
              <a:spcBef>
                <a:spcPts val="0"/>
              </a:spcBef>
              <a:spcAft>
                <a:spcPts val="0"/>
              </a:spcAft>
              <a:buNone/>
            </a:pPr>
            <a:r>
              <a:t/>
            </a:r>
            <a:endParaRPr sz="1482">
              <a:solidFill>
                <a:schemeClr val="dk1"/>
              </a:solidFill>
            </a:endParaRPr>
          </a:p>
        </p:txBody>
      </p:sp>
      <p:cxnSp>
        <p:nvCxnSpPr>
          <p:cNvPr id="629" name="Google Shape;629;g3bebc3ce2e9_0_17"/>
          <p:cNvCxnSpPr/>
          <p:nvPr/>
        </p:nvCxnSpPr>
        <p:spPr>
          <a:xfrm rot="10800000">
            <a:off x="3361997" y="2752797"/>
            <a:ext cx="1209000" cy="1836600"/>
          </a:xfrm>
          <a:prstGeom prst="straightConnector1">
            <a:avLst/>
          </a:prstGeom>
          <a:noFill/>
          <a:ln cap="flat" cmpd="sng" w="9675">
            <a:solidFill>
              <a:schemeClr val="dk2"/>
            </a:solidFill>
            <a:prstDash val="solid"/>
            <a:round/>
            <a:headEnd len="med" w="med" type="none"/>
            <a:tailEnd len="med" w="med" type="triangle"/>
          </a:ln>
        </p:spPr>
      </p:cxnSp>
      <p:sp>
        <p:nvSpPr>
          <p:cNvPr id="630" name="Google Shape;630;g3bebc3ce2e9_0_17"/>
          <p:cNvSpPr txBox="1"/>
          <p:nvPr/>
        </p:nvSpPr>
        <p:spPr>
          <a:xfrm>
            <a:off x="4161976" y="2990501"/>
            <a:ext cx="1544400" cy="235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529">
                <a:solidFill>
                  <a:srgbClr val="24314F"/>
                </a:solidFill>
                <a:latin typeface="Inter"/>
                <a:ea typeface="Inter"/>
                <a:cs typeface="Inter"/>
                <a:sym typeface="Inter"/>
              </a:rPr>
              <a:t>If tool needed</a:t>
            </a:r>
            <a:endParaRPr b="1" sz="1529">
              <a:solidFill>
                <a:srgbClr val="24314F"/>
              </a:solidFill>
              <a:latin typeface="Inter"/>
              <a:ea typeface="Inter"/>
              <a:cs typeface="Inter"/>
              <a:sym typeface="Inter"/>
            </a:endParaRPr>
          </a:p>
        </p:txBody>
      </p:sp>
      <p:sp>
        <p:nvSpPr>
          <p:cNvPr id="631" name="Google Shape;631;g3bebc3ce2e9_0_17"/>
          <p:cNvSpPr txBox="1"/>
          <p:nvPr/>
        </p:nvSpPr>
        <p:spPr>
          <a:xfrm>
            <a:off x="2413601" y="3778983"/>
            <a:ext cx="1544400" cy="235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529">
                <a:solidFill>
                  <a:srgbClr val="24314F"/>
                </a:solidFill>
                <a:latin typeface="Inter"/>
                <a:ea typeface="Inter"/>
                <a:cs typeface="Inter"/>
                <a:sym typeface="Inter"/>
              </a:rPr>
              <a:t>Returns context </a:t>
            </a:r>
            <a:endParaRPr b="1" sz="1529">
              <a:solidFill>
                <a:srgbClr val="24314F"/>
              </a:solidFill>
              <a:latin typeface="Inter"/>
              <a:ea typeface="Inter"/>
              <a:cs typeface="Inter"/>
              <a:sym typeface="Inter"/>
            </a:endParaRPr>
          </a:p>
        </p:txBody>
      </p:sp>
      <p:grpSp>
        <p:nvGrpSpPr>
          <p:cNvPr id="632" name="Google Shape;632;g3bebc3ce2e9_0_17"/>
          <p:cNvGrpSpPr/>
          <p:nvPr/>
        </p:nvGrpSpPr>
        <p:grpSpPr>
          <a:xfrm>
            <a:off x="4984855" y="1545333"/>
            <a:ext cx="1937435" cy="1199747"/>
            <a:chOff x="-311291" y="-23857"/>
            <a:chExt cx="2119500" cy="1790400"/>
          </a:xfrm>
        </p:grpSpPr>
        <p:sp>
          <p:nvSpPr>
            <p:cNvPr id="633" name="Google Shape;633;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EAD1DC"/>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335">
                <a:solidFill>
                  <a:schemeClr val="dk1"/>
                </a:solidFill>
                <a:latin typeface="Arial"/>
                <a:ea typeface="Arial"/>
                <a:cs typeface="Arial"/>
                <a:sym typeface="Arial"/>
              </a:endParaRPr>
            </a:p>
          </p:txBody>
        </p:sp>
        <p:sp>
          <p:nvSpPr>
            <p:cNvPr id="634" name="Google Shape;634;g3bebc3ce2e9_0_17"/>
            <p:cNvSpPr txBox="1"/>
            <p:nvPr/>
          </p:nvSpPr>
          <p:spPr>
            <a:xfrm>
              <a:off x="-311291" y="-23857"/>
              <a:ext cx="2119500" cy="1790400"/>
            </a:xfrm>
            <a:prstGeom prst="rect">
              <a:avLst/>
            </a:prstGeom>
            <a:solidFill>
              <a:srgbClr val="EAD1DC"/>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482">
                  <a:solidFill>
                    <a:schemeClr val="dk1"/>
                  </a:solidFill>
                </a:rPr>
                <a:t>Talker </a:t>
              </a:r>
              <a:endParaRPr sz="1482">
                <a:solidFill>
                  <a:schemeClr val="dk1"/>
                </a:solidFill>
              </a:endParaRPr>
            </a:p>
            <a:p>
              <a:pPr indent="0" lvl="0" marL="0" marR="0" rtl="0" algn="ctr">
                <a:lnSpc>
                  <a:spcPct val="155583"/>
                </a:lnSpc>
                <a:spcBef>
                  <a:spcPts val="0"/>
                </a:spcBef>
                <a:spcAft>
                  <a:spcPts val="0"/>
                </a:spcAft>
                <a:buNone/>
              </a:pPr>
              <a:r>
                <a:rPr lang="en-US" sz="1482">
                  <a:solidFill>
                    <a:schemeClr val="dk1"/>
                  </a:solidFill>
                </a:rPr>
                <a:t>(Generates Audio Codec Tokens)</a:t>
              </a:r>
              <a:endParaRPr sz="1482">
                <a:solidFill>
                  <a:schemeClr val="dk1"/>
                </a:solidFill>
              </a:endParaRPr>
            </a:p>
          </p:txBody>
        </p:sp>
      </p:grpSp>
      <p:cxnSp>
        <p:nvCxnSpPr>
          <p:cNvPr id="635" name="Google Shape;635;g3bebc3ce2e9_0_17"/>
          <p:cNvCxnSpPr>
            <a:endCxn id="634" idx="1"/>
          </p:cNvCxnSpPr>
          <p:nvPr/>
        </p:nvCxnSpPr>
        <p:spPr>
          <a:xfrm>
            <a:off x="4712755" y="2145207"/>
            <a:ext cx="272100" cy="0"/>
          </a:xfrm>
          <a:prstGeom prst="straightConnector1">
            <a:avLst/>
          </a:prstGeom>
          <a:noFill/>
          <a:ln cap="flat" cmpd="sng" w="9675">
            <a:solidFill>
              <a:schemeClr val="dk2"/>
            </a:solidFill>
            <a:prstDash val="solid"/>
            <a:round/>
            <a:headEnd len="med" w="med" type="none"/>
            <a:tailEnd len="med" w="med" type="triangle"/>
          </a:ln>
        </p:spPr>
      </p:cxnSp>
      <p:sp>
        <p:nvSpPr>
          <p:cNvPr id="636" name="Google Shape;636;g3bebc3ce2e9_0_17"/>
          <p:cNvSpPr txBox="1"/>
          <p:nvPr/>
        </p:nvSpPr>
        <p:spPr>
          <a:xfrm>
            <a:off x="2792389" y="1224988"/>
            <a:ext cx="1937400" cy="23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529">
                <a:solidFill>
                  <a:srgbClr val="24314F"/>
                </a:solidFill>
                <a:latin typeface="Inter"/>
                <a:ea typeface="Inter"/>
                <a:cs typeface="Inter"/>
                <a:sym typeface="Inter"/>
              </a:rPr>
              <a:t>Intent and Planning</a:t>
            </a:r>
            <a:endParaRPr b="1" sz="1529">
              <a:solidFill>
                <a:srgbClr val="24314F"/>
              </a:solidFill>
              <a:latin typeface="Inter"/>
              <a:ea typeface="Inter"/>
              <a:cs typeface="Inter"/>
              <a:sym typeface="Inter"/>
            </a:endParaRPr>
          </a:p>
        </p:txBody>
      </p:sp>
      <p:sp>
        <p:nvSpPr>
          <p:cNvPr id="637" name="Google Shape;637;g3bebc3ce2e9_0_17"/>
          <p:cNvSpPr txBox="1"/>
          <p:nvPr/>
        </p:nvSpPr>
        <p:spPr>
          <a:xfrm>
            <a:off x="4984876" y="1224988"/>
            <a:ext cx="1937400" cy="23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529">
                <a:solidFill>
                  <a:srgbClr val="24314F"/>
                </a:solidFill>
                <a:latin typeface="Inter"/>
                <a:ea typeface="Inter"/>
                <a:cs typeface="Inter"/>
                <a:sym typeface="Inter"/>
              </a:rPr>
              <a:t>Audio Generation</a:t>
            </a:r>
            <a:endParaRPr b="1" sz="1529">
              <a:solidFill>
                <a:srgbClr val="24314F"/>
              </a:solidFill>
              <a:latin typeface="Inter"/>
              <a:ea typeface="Inter"/>
              <a:cs typeface="Inter"/>
              <a:sym typeface="Inter"/>
            </a:endParaRPr>
          </a:p>
        </p:txBody>
      </p:sp>
      <p:grpSp>
        <p:nvGrpSpPr>
          <p:cNvPr id="638" name="Google Shape;638;g3bebc3ce2e9_0_17"/>
          <p:cNvGrpSpPr/>
          <p:nvPr/>
        </p:nvGrpSpPr>
        <p:grpSpPr>
          <a:xfrm>
            <a:off x="7194451" y="1545333"/>
            <a:ext cx="1937435" cy="1199747"/>
            <a:chOff x="-311291" y="-23857"/>
            <a:chExt cx="2119500" cy="1790400"/>
          </a:xfrm>
        </p:grpSpPr>
        <p:sp>
          <p:nvSpPr>
            <p:cNvPr id="639" name="Google Shape;639;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335">
                <a:solidFill>
                  <a:schemeClr val="dk1"/>
                </a:solidFill>
                <a:latin typeface="Arial"/>
                <a:ea typeface="Arial"/>
                <a:cs typeface="Arial"/>
                <a:sym typeface="Arial"/>
              </a:endParaRPr>
            </a:p>
          </p:txBody>
        </p:sp>
        <p:sp>
          <p:nvSpPr>
            <p:cNvPr id="640" name="Google Shape;640;g3bebc3ce2e9_0_17"/>
            <p:cNvSpPr txBox="1"/>
            <p:nvPr/>
          </p:nvSpPr>
          <p:spPr>
            <a:xfrm>
              <a:off x="-311291" y="-23857"/>
              <a:ext cx="2119500" cy="1790400"/>
            </a:xfrm>
            <a:prstGeom prst="rect">
              <a:avLst/>
            </a:prstGeom>
            <a:solidFill>
              <a:srgbClr val="FCE5CD"/>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482">
                  <a:solidFill>
                    <a:schemeClr val="dk1"/>
                  </a:solidFill>
                </a:rPr>
                <a:t>Token2Wav</a:t>
              </a:r>
              <a:endParaRPr sz="1482">
                <a:solidFill>
                  <a:schemeClr val="dk1"/>
                </a:solidFill>
              </a:endParaRPr>
            </a:p>
            <a:p>
              <a:pPr indent="0" lvl="0" marL="0" marR="0" rtl="0" algn="ctr">
                <a:lnSpc>
                  <a:spcPct val="155583"/>
                </a:lnSpc>
                <a:spcBef>
                  <a:spcPts val="0"/>
                </a:spcBef>
                <a:spcAft>
                  <a:spcPts val="0"/>
                </a:spcAft>
                <a:buNone/>
              </a:pPr>
              <a:r>
                <a:rPr lang="en-US" sz="1482">
                  <a:solidFill>
                    <a:schemeClr val="dk1"/>
                  </a:solidFill>
                </a:rPr>
                <a:t> (Converts Tokens to Audio)</a:t>
              </a:r>
              <a:endParaRPr sz="1482">
                <a:solidFill>
                  <a:schemeClr val="dk1"/>
                </a:solidFill>
              </a:endParaRPr>
            </a:p>
          </p:txBody>
        </p:sp>
      </p:grpSp>
      <p:cxnSp>
        <p:nvCxnSpPr>
          <p:cNvPr id="641" name="Google Shape;641;g3bebc3ce2e9_0_17"/>
          <p:cNvCxnSpPr>
            <a:endCxn id="640" idx="1"/>
          </p:cNvCxnSpPr>
          <p:nvPr/>
        </p:nvCxnSpPr>
        <p:spPr>
          <a:xfrm>
            <a:off x="6922351" y="2145207"/>
            <a:ext cx="272100" cy="0"/>
          </a:xfrm>
          <a:prstGeom prst="straightConnector1">
            <a:avLst/>
          </a:prstGeom>
          <a:noFill/>
          <a:ln cap="flat" cmpd="sng" w="9675">
            <a:solidFill>
              <a:schemeClr val="dk2"/>
            </a:solidFill>
            <a:prstDash val="solid"/>
            <a:round/>
            <a:headEnd len="med" w="med" type="none"/>
            <a:tailEnd len="med" w="med" type="triangle"/>
          </a:ln>
        </p:spPr>
      </p:cxnSp>
      <p:sp>
        <p:nvSpPr>
          <p:cNvPr id="642" name="Google Shape;642;g3bebc3ce2e9_0_17"/>
          <p:cNvSpPr txBox="1"/>
          <p:nvPr/>
        </p:nvSpPr>
        <p:spPr>
          <a:xfrm>
            <a:off x="7177364" y="1224988"/>
            <a:ext cx="1937400" cy="23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529">
                <a:solidFill>
                  <a:srgbClr val="24314F"/>
                </a:solidFill>
                <a:latin typeface="Inter"/>
                <a:ea typeface="Inter"/>
                <a:cs typeface="Inter"/>
                <a:sym typeface="Inter"/>
              </a:rPr>
              <a:t>Decoding</a:t>
            </a:r>
            <a:endParaRPr b="1" sz="1529">
              <a:solidFill>
                <a:srgbClr val="24314F"/>
              </a:solidFill>
              <a:latin typeface="Inter"/>
              <a:ea typeface="Inter"/>
              <a:cs typeface="Inter"/>
              <a:sym typeface="Inter"/>
            </a:endParaRPr>
          </a:p>
        </p:txBody>
      </p:sp>
      <p:grpSp>
        <p:nvGrpSpPr>
          <p:cNvPr id="643" name="Google Shape;643;g3bebc3ce2e9_0_17"/>
          <p:cNvGrpSpPr/>
          <p:nvPr/>
        </p:nvGrpSpPr>
        <p:grpSpPr>
          <a:xfrm>
            <a:off x="9404046" y="1545333"/>
            <a:ext cx="1937435" cy="1199747"/>
            <a:chOff x="-311291" y="-23857"/>
            <a:chExt cx="2119500" cy="1790400"/>
          </a:xfrm>
        </p:grpSpPr>
        <p:sp>
          <p:nvSpPr>
            <p:cNvPr id="644" name="Google Shape;644;g3bebc3ce2e9_0_1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C9DAF8"/>
            </a:solidFill>
            <a:ln>
              <a:noFill/>
            </a:ln>
          </p:spPr>
          <p:txBody>
            <a:bodyPr anchorCtr="0" anchor="t" bIns="12750" lIns="25500" spcFirstLastPara="1" rIns="25500" wrap="square" tIns="12750">
              <a:noAutofit/>
            </a:bodyPr>
            <a:lstStyle/>
            <a:p>
              <a:pPr indent="0" lvl="0" marL="0" marR="0" rtl="0" algn="l">
                <a:spcBef>
                  <a:spcPts val="0"/>
                </a:spcBef>
                <a:spcAft>
                  <a:spcPts val="0"/>
                </a:spcAft>
                <a:buNone/>
              </a:pPr>
              <a:r>
                <a:t/>
              </a:r>
              <a:endParaRPr sz="335">
                <a:solidFill>
                  <a:schemeClr val="dk1"/>
                </a:solidFill>
                <a:latin typeface="Arial"/>
                <a:ea typeface="Arial"/>
                <a:cs typeface="Arial"/>
                <a:sym typeface="Arial"/>
              </a:endParaRPr>
            </a:p>
          </p:txBody>
        </p:sp>
        <p:sp>
          <p:nvSpPr>
            <p:cNvPr id="645" name="Google Shape;645;g3bebc3ce2e9_0_17"/>
            <p:cNvSpPr txBox="1"/>
            <p:nvPr/>
          </p:nvSpPr>
          <p:spPr>
            <a:xfrm>
              <a:off x="-311291" y="-23857"/>
              <a:ext cx="2119500" cy="1790400"/>
            </a:xfrm>
            <a:prstGeom prst="rect">
              <a:avLst/>
            </a:prstGeom>
            <a:solidFill>
              <a:srgbClr val="C9DAF8"/>
            </a:solidFill>
            <a:ln>
              <a:noFill/>
            </a:ln>
          </p:spPr>
          <p:txBody>
            <a:bodyPr anchorCtr="0" anchor="ctr" bIns="9450" lIns="9450" spcFirstLastPara="1" rIns="9450" wrap="square" tIns="9450">
              <a:noAutofit/>
            </a:bodyPr>
            <a:lstStyle/>
            <a:p>
              <a:pPr indent="0" lvl="0" marL="0" marR="0" rtl="0" algn="ctr">
                <a:lnSpc>
                  <a:spcPct val="155583"/>
                </a:lnSpc>
                <a:spcBef>
                  <a:spcPts val="0"/>
                </a:spcBef>
                <a:spcAft>
                  <a:spcPts val="0"/>
                </a:spcAft>
                <a:buNone/>
              </a:pPr>
              <a:r>
                <a:rPr lang="en-US" sz="1482">
                  <a:solidFill>
                    <a:schemeClr val="dk1"/>
                  </a:solidFill>
                </a:rPr>
                <a:t>Final .wav response and .txt output</a:t>
              </a:r>
              <a:endParaRPr sz="1482">
                <a:solidFill>
                  <a:schemeClr val="dk1"/>
                </a:solidFill>
              </a:endParaRPr>
            </a:p>
          </p:txBody>
        </p:sp>
      </p:grpSp>
      <p:cxnSp>
        <p:nvCxnSpPr>
          <p:cNvPr id="646" name="Google Shape;646;g3bebc3ce2e9_0_17"/>
          <p:cNvCxnSpPr>
            <a:endCxn id="645" idx="1"/>
          </p:cNvCxnSpPr>
          <p:nvPr/>
        </p:nvCxnSpPr>
        <p:spPr>
          <a:xfrm>
            <a:off x="9131946" y="2145207"/>
            <a:ext cx="272100" cy="0"/>
          </a:xfrm>
          <a:prstGeom prst="straightConnector1">
            <a:avLst/>
          </a:prstGeom>
          <a:noFill/>
          <a:ln cap="flat" cmpd="sng" w="9675">
            <a:solidFill>
              <a:schemeClr val="dk2"/>
            </a:solidFill>
            <a:prstDash val="solid"/>
            <a:round/>
            <a:headEnd len="med" w="med" type="none"/>
            <a:tailEnd len="med" w="med" type="triangle"/>
          </a:ln>
        </p:spPr>
      </p:cxnSp>
      <p:sp>
        <p:nvSpPr>
          <p:cNvPr id="647" name="Google Shape;647;g3bebc3ce2e9_0_17"/>
          <p:cNvSpPr txBox="1"/>
          <p:nvPr/>
        </p:nvSpPr>
        <p:spPr>
          <a:xfrm>
            <a:off x="9386960" y="1224988"/>
            <a:ext cx="1937400" cy="23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529">
                <a:solidFill>
                  <a:srgbClr val="24314F"/>
                </a:solidFill>
                <a:latin typeface="Inter"/>
                <a:ea typeface="Inter"/>
                <a:cs typeface="Inter"/>
                <a:sym typeface="Inter"/>
              </a:rPr>
              <a:t>Output</a:t>
            </a:r>
            <a:endParaRPr b="1" sz="1529">
              <a:solidFill>
                <a:srgbClr val="24314F"/>
              </a:solidFill>
              <a:latin typeface="Inter"/>
              <a:ea typeface="Inter"/>
              <a:cs typeface="Inter"/>
              <a:sym typeface="Inter"/>
            </a:endParaRPr>
          </a:p>
        </p:txBody>
      </p:sp>
      <p:pic>
        <p:nvPicPr>
          <p:cNvPr id="648" name="Google Shape;648;g3bebc3ce2e9_0_17"/>
          <p:cNvPicPr preferRelativeResize="0"/>
          <p:nvPr/>
        </p:nvPicPr>
        <p:blipFill>
          <a:blip r:embed="rId3">
            <a:alphaModFix/>
          </a:blip>
          <a:stretch>
            <a:fillRect/>
          </a:stretch>
        </p:blipFill>
        <p:spPr>
          <a:xfrm>
            <a:off x="4820675" y="4287200"/>
            <a:ext cx="431100" cy="431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grpSp>
        <p:nvGrpSpPr>
          <p:cNvPr id="653" name="Google Shape;653;g3958b3a9d51_0_238"/>
          <p:cNvGrpSpPr/>
          <p:nvPr/>
        </p:nvGrpSpPr>
        <p:grpSpPr>
          <a:xfrm>
            <a:off x="685800" y="1838306"/>
            <a:ext cx="10820186" cy="5020055"/>
            <a:chOff x="0" y="-47625"/>
            <a:chExt cx="4274726" cy="2214600"/>
          </a:xfrm>
        </p:grpSpPr>
        <p:sp>
          <p:nvSpPr>
            <p:cNvPr id="654" name="Google Shape;654;g3958b3a9d51_0_23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55" name="Google Shape;655;g3958b3a9d51_0_23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56" name="Google Shape;656;g3958b3a9d51_0_238"/>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Real-World Use Case: Personalized Financial Concierge</a:t>
            </a:r>
            <a:endParaRPr sz="1200"/>
          </a:p>
        </p:txBody>
      </p:sp>
      <p:grpSp>
        <p:nvGrpSpPr>
          <p:cNvPr id="657" name="Google Shape;657;g3958b3a9d51_0_238"/>
          <p:cNvGrpSpPr/>
          <p:nvPr/>
        </p:nvGrpSpPr>
        <p:grpSpPr>
          <a:xfrm>
            <a:off x="1076700" y="2113824"/>
            <a:ext cx="10093130" cy="5020103"/>
            <a:chOff x="0" y="-47625"/>
            <a:chExt cx="1808189" cy="1790400"/>
          </a:xfrm>
        </p:grpSpPr>
        <p:sp>
          <p:nvSpPr>
            <p:cNvPr id="658" name="Google Shape;658;g3958b3a9d51_0_2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59" name="Google Shape;659;g3958b3a9d51_0_2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60" name="Google Shape;660;g3958b3a9d51_0_23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661" name="Google Shape;661;g3958b3a9d51_0_238"/>
          <p:cNvSpPr txBox="1"/>
          <p:nvPr/>
        </p:nvSpPr>
        <p:spPr>
          <a:xfrm>
            <a:off x="685799" y="1211450"/>
            <a:ext cx="10820100" cy="591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Traditional call center IVR (Interactive Voice Response) systems are rigid and frustrating (e.g., "Press 1 for balance"), while human support is expensive and suffers from high wait times.</a:t>
            </a:r>
            <a:endParaRPr b="1" sz="1600">
              <a:solidFill>
                <a:srgbClr val="24314F"/>
              </a:solidFill>
              <a:latin typeface="Inter"/>
              <a:ea typeface="Inter"/>
              <a:cs typeface="Inter"/>
              <a:sym typeface="Inter"/>
            </a:endParaRPr>
          </a:p>
        </p:txBody>
      </p:sp>
      <p:sp>
        <p:nvSpPr>
          <p:cNvPr id="662" name="Google Shape;662;g3958b3a9d51_0_238"/>
          <p:cNvSpPr txBox="1"/>
          <p:nvPr/>
        </p:nvSpPr>
        <p:spPr>
          <a:xfrm>
            <a:off x="1379950" y="2483324"/>
            <a:ext cx="9531300" cy="40656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Solution: A fully autonomous, voice-in/voice-out agent capable of reasoning through complex queries and securely fetching private user data in real-time.</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Zero Hold Times: Instantly handles routine, high-volume tier-1 support tickets.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Data Privacy: Uses local RAG (FAISS) to keep sensitive customer data entirely in-house, rather than leaking it to public models.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Dynamic Context: Moves beyond scripted answers by using real-time database lookups.</a:t>
            </a:r>
            <a:endParaRPr b="1" sz="1633">
              <a:solidFill>
                <a:srgbClr val="24314F"/>
              </a:solidFill>
              <a:latin typeface="Inter"/>
              <a:ea typeface="Inter"/>
              <a:cs typeface="Inter"/>
              <a:sym typeface="Inter"/>
            </a:endParaRPr>
          </a:p>
        </p:txBody>
      </p:sp>
      <p:sp>
        <p:nvSpPr>
          <p:cNvPr id="663" name="Google Shape;663;g3958b3a9d51_0_238"/>
          <p:cNvSpPr txBox="1"/>
          <p:nvPr/>
        </p:nvSpPr>
        <p:spPr>
          <a:xfrm>
            <a:off x="1505125" y="3207224"/>
            <a:ext cx="9531300" cy="846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None/>
            </a:pPr>
            <a:r>
              <a:rPr b="1" lang="en-US" sz="5500">
                <a:solidFill>
                  <a:srgbClr val="24314F"/>
                </a:solidFill>
                <a:latin typeface="Inter"/>
                <a:ea typeface="Inter"/>
                <a:cs typeface="Inter"/>
                <a:sym typeface="Inter"/>
              </a:rPr>
              <a:t>🗣️-&gt; 🧠-&gt; 🔍-&gt;🔊</a:t>
            </a:r>
            <a:endParaRPr b="1" sz="5500">
              <a:solidFill>
                <a:srgbClr val="24314F"/>
              </a:solidFill>
              <a:latin typeface="Inter"/>
              <a:ea typeface="Inter"/>
              <a:cs typeface="Inter"/>
              <a:sym typeface="Inter"/>
            </a:endParaRPr>
          </a:p>
        </p:txBody>
      </p:sp>
      <p:sp>
        <p:nvSpPr>
          <p:cNvPr id="664" name="Google Shape;664;g3958b3a9d51_0_238"/>
          <p:cNvSpPr txBox="1"/>
          <p:nvPr/>
        </p:nvSpPr>
        <p:spPr>
          <a:xfrm>
            <a:off x="1505125" y="4078175"/>
            <a:ext cx="2778300" cy="5754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1200"/>
              </a:spcBef>
              <a:spcAft>
                <a:spcPts val="1200"/>
              </a:spcAft>
              <a:buNone/>
            </a:pPr>
            <a:r>
              <a:rPr b="1" lang="en-US" sz="1133">
                <a:solidFill>
                  <a:srgbClr val="24314F"/>
                </a:solidFill>
                <a:latin typeface="Inter"/>
                <a:ea typeface="Inter"/>
                <a:cs typeface="Inter"/>
                <a:sym typeface="Inter"/>
              </a:rPr>
              <a:t>User Question (Hi, my phone number is +1234567890. Can you check my account balance?)</a:t>
            </a:r>
            <a:endParaRPr b="1" sz="1133">
              <a:solidFill>
                <a:srgbClr val="24314F"/>
              </a:solidFill>
              <a:latin typeface="Inter"/>
              <a:ea typeface="Inter"/>
              <a:cs typeface="Inter"/>
              <a:sym typeface="Inter"/>
            </a:endParaRPr>
          </a:p>
        </p:txBody>
      </p:sp>
      <p:sp>
        <p:nvSpPr>
          <p:cNvPr id="665" name="Google Shape;665;g3958b3a9d51_0_238"/>
          <p:cNvSpPr txBox="1"/>
          <p:nvPr/>
        </p:nvSpPr>
        <p:spPr>
          <a:xfrm>
            <a:off x="4172675" y="4186275"/>
            <a:ext cx="2778300" cy="1743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1200"/>
              </a:spcBef>
              <a:spcAft>
                <a:spcPts val="1200"/>
              </a:spcAft>
              <a:buNone/>
            </a:pPr>
            <a:r>
              <a:rPr b="1" lang="en-US" sz="1133">
                <a:solidFill>
                  <a:srgbClr val="24314F"/>
                </a:solidFill>
                <a:latin typeface="Inter"/>
                <a:ea typeface="Inter"/>
                <a:cs typeface="Inter"/>
                <a:sym typeface="Inter"/>
              </a:rPr>
              <a:t>Agent Reasoning (Thinker)</a:t>
            </a:r>
            <a:endParaRPr b="1" sz="1133">
              <a:solidFill>
                <a:srgbClr val="24314F"/>
              </a:solidFill>
              <a:latin typeface="Inter"/>
              <a:ea typeface="Inter"/>
              <a:cs typeface="Inter"/>
              <a:sym typeface="Inter"/>
            </a:endParaRPr>
          </a:p>
        </p:txBody>
      </p:sp>
      <p:sp>
        <p:nvSpPr>
          <p:cNvPr id="666" name="Google Shape;666;g3958b3a9d51_0_238"/>
          <p:cNvSpPr txBox="1"/>
          <p:nvPr/>
        </p:nvSpPr>
        <p:spPr>
          <a:xfrm>
            <a:off x="6400075" y="4186275"/>
            <a:ext cx="2778300" cy="1743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1200"/>
              </a:spcBef>
              <a:spcAft>
                <a:spcPts val="1200"/>
              </a:spcAft>
              <a:buNone/>
            </a:pPr>
            <a:r>
              <a:rPr b="1" lang="en-US" sz="1133">
                <a:solidFill>
                  <a:srgbClr val="24314F"/>
                </a:solidFill>
                <a:latin typeface="Inter"/>
                <a:ea typeface="Inter"/>
                <a:cs typeface="Inter"/>
                <a:sym typeface="Inter"/>
              </a:rPr>
              <a:t>Secure Retrieval</a:t>
            </a:r>
            <a:endParaRPr b="1" sz="1133">
              <a:solidFill>
                <a:srgbClr val="24314F"/>
              </a:solidFill>
              <a:latin typeface="Inter"/>
              <a:ea typeface="Inter"/>
              <a:cs typeface="Inter"/>
              <a:sym typeface="Inter"/>
            </a:endParaRPr>
          </a:p>
        </p:txBody>
      </p:sp>
      <p:sp>
        <p:nvSpPr>
          <p:cNvPr id="667" name="Google Shape;667;g3958b3a9d51_0_238"/>
          <p:cNvSpPr txBox="1"/>
          <p:nvPr/>
        </p:nvSpPr>
        <p:spPr>
          <a:xfrm>
            <a:off x="8132950" y="4186275"/>
            <a:ext cx="2778300" cy="5754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1200"/>
              </a:spcBef>
              <a:spcAft>
                <a:spcPts val="1200"/>
              </a:spcAft>
              <a:buNone/>
            </a:pPr>
            <a:r>
              <a:rPr b="1" lang="en-US" sz="1133">
                <a:solidFill>
                  <a:srgbClr val="24314F"/>
                </a:solidFill>
                <a:latin typeface="Inter"/>
                <a:ea typeface="Inter"/>
                <a:cs typeface="Inter"/>
                <a:sym typeface="Inter"/>
              </a:rPr>
              <a:t>Agent Response (Hello Esther! You are on the Premium plan and your current balance is $0.00. )</a:t>
            </a:r>
            <a:endParaRPr b="1" sz="1133">
              <a:solidFill>
                <a:srgbClr val="24314F"/>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grpSp>
        <p:nvGrpSpPr>
          <p:cNvPr id="672" name="Google Shape;672;g3958b3a9d51_0_77"/>
          <p:cNvGrpSpPr/>
          <p:nvPr/>
        </p:nvGrpSpPr>
        <p:grpSpPr>
          <a:xfrm>
            <a:off x="685800" y="1838306"/>
            <a:ext cx="10820186" cy="5020055"/>
            <a:chOff x="0" y="-47625"/>
            <a:chExt cx="4274726" cy="2214600"/>
          </a:xfrm>
        </p:grpSpPr>
        <p:sp>
          <p:nvSpPr>
            <p:cNvPr id="673" name="Google Shape;673;g3958b3a9d51_0_7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4" name="Google Shape;674;g3958b3a9d51_0_7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75" name="Google Shape;675;g3958b3a9d51_0_7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Current Status &amp; Technical Roadblock</a:t>
            </a:r>
            <a:endParaRPr sz="1200"/>
          </a:p>
        </p:txBody>
      </p:sp>
      <p:grpSp>
        <p:nvGrpSpPr>
          <p:cNvPr id="676" name="Google Shape;676;g3958b3a9d51_0_77"/>
          <p:cNvGrpSpPr/>
          <p:nvPr/>
        </p:nvGrpSpPr>
        <p:grpSpPr>
          <a:xfrm>
            <a:off x="1076700" y="2113824"/>
            <a:ext cx="10093130" cy="5020103"/>
            <a:chOff x="0" y="-47625"/>
            <a:chExt cx="1808189" cy="1790400"/>
          </a:xfrm>
        </p:grpSpPr>
        <p:sp>
          <p:nvSpPr>
            <p:cNvPr id="677" name="Google Shape;677;g3958b3a9d51_0_7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8" name="Google Shape;678;g3958b3a9d51_0_7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679" name="Google Shape;679;g3958b3a9d51_0_7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680" name="Google Shape;680;g3958b3a9d51_0_77"/>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681" name="Google Shape;681;g3958b3a9d51_0_77"/>
          <p:cNvSpPr txBox="1"/>
          <p:nvPr/>
        </p:nvSpPr>
        <p:spPr>
          <a:xfrm>
            <a:off x="1379950" y="2483324"/>
            <a:ext cx="9531300" cy="34686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Stage 1 successfully transcribed all 105 files and accurately executed FAISS RAG lookups.</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Stage 2/3 (Audio Synthesis) crashed </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Using stochastic sampling (temperature=0.9), the "Talker" module randomly hallucinated an out-of-vocabulary audio token ID.</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"Token2Wav" attempted an embedding lookup for this invalid ID, triggering a CUDA device-side assert (index out of bounds).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This caused the script to hang until the 8 hour PBS walltime killed the job</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Trying to give more GPU access/ change max_model_len</a:t>
            </a:r>
            <a:endParaRPr b="1" sz="1633">
              <a:solidFill>
                <a:srgbClr val="24314F"/>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bebc3ce2e9_0_50"/>
          <p:cNvSpPr txBox="1"/>
          <p:nvPr/>
        </p:nvSpPr>
        <p:spPr>
          <a:xfrm>
            <a:off x="700075" y="2636445"/>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Review</a:t>
            </a:r>
            <a:endParaRPr sz="900"/>
          </a:p>
        </p:txBody>
      </p:sp>
      <p:sp>
        <p:nvSpPr>
          <p:cNvPr id="691" name="Google Shape;691;g3bebc3ce2e9_0_50"/>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692" name="Google Shape;692;g3bebc3ce2e9_0_50"/>
          <p:cNvGrpSpPr/>
          <p:nvPr/>
        </p:nvGrpSpPr>
        <p:grpSpPr>
          <a:xfrm rot="-5400000">
            <a:off x="3451093" y="2718650"/>
            <a:ext cx="396240" cy="5955427"/>
            <a:chOff x="0" y="-47625"/>
            <a:chExt cx="660400" cy="9925711"/>
          </a:xfrm>
        </p:grpSpPr>
        <p:sp>
          <p:nvSpPr>
            <p:cNvPr id="693" name="Google Shape;693;g3bebc3ce2e9_0_50"/>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694" name="Google Shape;694;g3bebc3ce2e9_0_50"/>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695" name="Google Shape;695;g3bebc3ce2e9_0_50"/>
          <p:cNvSpPr txBox="1"/>
          <p:nvPr/>
        </p:nvSpPr>
        <p:spPr>
          <a:xfrm>
            <a:off x="700075" y="3704250"/>
            <a:ext cx="10820400" cy="21033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Literature Review: </a:t>
            </a:r>
            <a:br>
              <a:rPr b="1" lang="en-US" sz="3000">
                <a:solidFill>
                  <a:srgbClr val="24314F"/>
                </a:solidFill>
              </a:rPr>
            </a:br>
            <a:r>
              <a:rPr b="1" lang="en-US" sz="2800">
                <a:solidFill>
                  <a:srgbClr val="24314F"/>
                </a:solidFill>
              </a:rPr>
              <a:t>ShardMemo: Masked MoE Routing for Sharded Agentic LLM Memory</a:t>
            </a:r>
            <a:endParaRPr sz="1200">
              <a:solidFill>
                <a:schemeClr val="dk1"/>
              </a:solidFill>
            </a:endParaRPr>
          </a:p>
          <a:p>
            <a:pPr indent="0" lvl="0" marL="0" marR="0" rtl="0" algn="l">
              <a:lnSpc>
                <a:spcPct val="124000"/>
              </a:lnSpc>
              <a:spcBef>
                <a:spcPts val="0"/>
              </a:spcBef>
              <a:spcAft>
                <a:spcPts val="0"/>
              </a:spcAft>
              <a:buNone/>
            </a:pPr>
            <a:r>
              <a:t/>
            </a:r>
            <a:endParaRPr b="1" sz="3000">
              <a:solidFill>
                <a:srgbClr val="24314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grpSp>
        <p:nvGrpSpPr>
          <p:cNvPr id="700" name="Google Shape;700;g3958b3a9d51_0_104"/>
          <p:cNvGrpSpPr/>
          <p:nvPr/>
        </p:nvGrpSpPr>
        <p:grpSpPr>
          <a:xfrm>
            <a:off x="685800" y="5055056"/>
            <a:ext cx="10820186" cy="1803349"/>
            <a:chOff x="0" y="-47625"/>
            <a:chExt cx="4274726" cy="2214600"/>
          </a:xfrm>
        </p:grpSpPr>
        <p:sp>
          <p:nvSpPr>
            <p:cNvPr id="701" name="Google Shape;701;g3958b3a9d51_0_10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2" name="Google Shape;702;g3958b3a9d51_0_10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03" name="Google Shape;703;g3958b3a9d51_0_104"/>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The Bottleneck</a:t>
            </a:r>
            <a:endParaRPr sz="1200"/>
          </a:p>
        </p:txBody>
      </p:sp>
      <p:grpSp>
        <p:nvGrpSpPr>
          <p:cNvPr id="704" name="Google Shape;704;g3958b3a9d51_0_104"/>
          <p:cNvGrpSpPr/>
          <p:nvPr/>
        </p:nvGrpSpPr>
        <p:grpSpPr>
          <a:xfrm>
            <a:off x="1014750" y="5271450"/>
            <a:ext cx="10309570" cy="1688168"/>
            <a:chOff x="0" y="-47625"/>
            <a:chExt cx="1808189" cy="1790400"/>
          </a:xfrm>
        </p:grpSpPr>
        <p:sp>
          <p:nvSpPr>
            <p:cNvPr id="705" name="Google Shape;705;g3958b3a9d51_0_10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6" name="Google Shape;706;g3958b3a9d51_0_10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07" name="Google Shape;707;g3958b3a9d51_0_104"/>
          <p:cNvSpPr txBox="1"/>
          <p:nvPr/>
        </p:nvSpPr>
        <p:spPr>
          <a:xfrm>
            <a:off x="1234501" y="5449250"/>
            <a:ext cx="9949800" cy="1307100"/>
          </a:xfrm>
          <a:prstGeom prst="rect">
            <a:avLst/>
          </a:prstGeom>
          <a:noFill/>
          <a:ln>
            <a:noFill/>
          </a:ln>
        </p:spPr>
        <p:txBody>
          <a:bodyPr anchorCtr="0" anchor="t" bIns="0" lIns="0" spcFirstLastPara="1" rIns="0" wrap="square" tIns="0">
            <a:spAutoFit/>
          </a:bodyPr>
          <a:lstStyle/>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Long-horizon agents hit a "Memory Wall."</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Central indexes cause latency spikes and locks.</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Sharding solves storage but breaks retrieval.</a:t>
            </a:r>
            <a:endParaRPr b="1" sz="16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t/>
            </a:r>
            <a:endParaRPr b="1" sz="1633">
              <a:solidFill>
                <a:srgbClr val="24314F"/>
              </a:solidFill>
              <a:latin typeface="Inter"/>
              <a:ea typeface="Inter"/>
              <a:cs typeface="Inter"/>
              <a:sym typeface="Inter"/>
            </a:endParaRPr>
          </a:p>
        </p:txBody>
      </p:sp>
      <p:sp>
        <p:nvSpPr>
          <p:cNvPr id="708" name="Google Shape;708;g3958b3a9d51_0_104"/>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pic>
        <p:nvPicPr>
          <p:cNvPr id="709" name="Google Shape;709;g3958b3a9d51_0_104"/>
          <p:cNvPicPr preferRelativeResize="0"/>
          <p:nvPr/>
        </p:nvPicPr>
        <p:blipFill rotWithShape="1">
          <a:blip r:embed="rId3">
            <a:alphaModFix/>
          </a:blip>
          <a:srcRect b="0" l="0" r="0" t="29189"/>
          <a:stretch/>
        </p:blipFill>
        <p:spPr>
          <a:xfrm>
            <a:off x="2530025" y="1358217"/>
            <a:ext cx="7595099" cy="358535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grpSp>
        <p:nvGrpSpPr>
          <p:cNvPr id="714" name="Google Shape;714;g3958b3a9d51_0_145"/>
          <p:cNvGrpSpPr/>
          <p:nvPr/>
        </p:nvGrpSpPr>
        <p:grpSpPr>
          <a:xfrm>
            <a:off x="685800" y="5055056"/>
            <a:ext cx="10820186" cy="1803349"/>
            <a:chOff x="0" y="-47625"/>
            <a:chExt cx="4274726" cy="2214600"/>
          </a:xfrm>
        </p:grpSpPr>
        <p:sp>
          <p:nvSpPr>
            <p:cNvPr id="715" name="Google Shape;715;g3958b3a9d51_0_14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16" name="Google Shape;716;g3958b3a9d51_0_14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17" name="Google Shape;717;g3958b3a9d51_0_145"/>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ShardMemo's 3-Tier Architecture</a:t>
            </a:r>
            <a:endParaRPr sz="1200"/>
          </a:p>
        </p:txBody>
      </p:sp>
      <p:grpSp>
        <p:nvGrpSpPr>
          <p:cNvPr id="718" name="Google Shape;718;g3958b3a9d51_0_145"/>
          <p:cNvGrpSpPr/>
          <p:nvPr/>
        </p:nvGrpSpPr>
        <p:grpSpPr>
          <a:xfrm>
            <a:off x="1014750" y="5271450"/>
            <a:ext cx="10309570" cy="1688168"/>
            <a:chOff x="0" y="-47625"/>
            <a:chExt cx="1808189" cy="1790400"/>
          </a:xfrm>
        </p:grpSpPr>
        <p:sp>
          <p:nvSpPr>
            <p:cNvPr id="719" name="Google Shape;719;g3958b3a9d51_0_14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20" name="Google Shape;720;g3958b3a9d51_0_14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21" name="Google Shape;721;g3958b3a9d51_0_145"/>
          <p:cNvSpPr txBox="1"/>
          <p:nvPr/>
        </p:nvSpPr>
        <p:spPr>
          <a:xfrm>
            <a:off x="1234501" y="5449250"/>
            <a:ext cx="9949800" cy="955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633">
                <a:solidFill>
                  <a:srgbClr val="24314F"/>
                </a:solidFill>
                <a:latin typeface="Inter"/>
                <a:ea typeface="Inter"/>
                <a:cs typeface="Inter"/>
                <a:sym typeface="Inter"/>
              </a:rPr>
              <a:t>Tier A (Working): Fast, short-term context (RAM).</a:t>
            </a:r>
            <a:endParaRPr b="1" sz="16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rPr b="1" lang="en-US" sz="1633">
                <a:solidFill>
                  <a:srgbClr val="24314F"/>
                </a:solidFill>
                <a:latin typeface="Inter"/>
                <a:ea typeface="Inter"/>
                <a:cs typeface="Inter"/>
                <a:sym typeface="Inter"/>
              </a:rPr>
              <a:t>Tier B (Evidence): Sharded logs accessed via Masked MoE routing.</a:t>
            </a:r>
            <a:endParaRPr b="1" sz="16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rPr b="1" lang="en-US" sz="1633">
                <a:solidFill>
                  <a:srgbClr val="24314F"/>
                </a:solidFill>
                <a:latin typeface="Inter"/>
                <a:ea typeface="Inter"/>
                <a:cs typeface="Inter"/>
                <a:sym typeface="Inter"/>
              </a:rPr>
              <a:t>Tier C (Skills): Versioned tool library.</a:t>
            </a:r>
            <a:endParaRPr b="1" sz="1633">
              <a:solidFill>
                <a:srgbClr val="24314F"/>
              </a:solidFill>
              <a:latin typeface="Inter"/>
              <a:ea typeface="Inter"/>
              <a:cs typeface="Inter"/>
              <a:sym typeface="Inter"/>
            </a:endParaRPr>
          </a:p>
        </p:txBody>
      </p:sp>
      <p:sp>
        <p:nvSpPr>
          <p:cNvPr id="722" name="Google Shape;722;g3958b3a9d51_0_145"/>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pic>
        <p:nvPicPr>
          <p:cNvPr id="723" name="Google Shape;723;g3958b3a9d51_0_145"/>
          <p:cNvPicPr preferRelativeResize="0"/>
          <p:nvPr/>
        </p:nvPicPr>
        <p:blipFill>
          <a:blip r:embed="rId3">
            <a:alphaModFix/>
          </a:blip>
          <a:stretch>
            <a:fillRect/>
          </a:stretch>
        </p:blipFill>
        <p:spPr>
          <a:xfrm>
            <a:off x="2348951" y="1085825"/>
            <a:ext cx="7042744" cy="372225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grpSp>
        <p:nvGrpSpPr>
          <p:cNvPr id="728" name="Google Shape;728;g3958b3a9d51_0_159"/>
          <p:cNvGrpSpPr/>
          <p:nvPr/>
        </p:nvGrpSpPr>
        <p:grpSpPr>
          <a:xfrm>
            <a:off x="685800" y="1838306"/>
            <a:ext cx="10820186" cy="5020055"/>
            <a:chOff x="0" y="-47625"/>
            <a:chExt cx="4274726" cy="2214600"/>
          </a:xfrm>
        </p:grpSpPr>
        <p:sp>
          <p:nvSpPr>
            <p:cNvPr id="729" name="Google Shape;729;g3958b3a9d51_0_15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30" name="Google Shape;730;g3958b3a9d51_0_15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31" name="Google Shape;731;g3958b3a9d51_0_159"/>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Key Mechanisms</a:t>
            </a:r>
            <a:endParaRPr sz="1200"/>
          </a:p>
        </p:txBody>
      </p:sp>
      <p:grpSp>
        <p:nvGrpSpPr>
          <p:cNvPr id="732" name="Google Shape;732;g3958b3a9d51_0_159"/>
          <p:cNvGrpSpPr/>
          <p:nvPr/>
        </p:nvGrpSpPr>
        <p:grpSpPr>
          <a:xfrm>
            <a:off x="1295625" y="2430950"/>
            <a:ext cx="9836187" cy="4162030"/>
            <a:chOff x="0" y="-47625"/>
            <a:chExt cx="1808189" cy="1538700"/>
          </a:xfrm>
        </p:grpSpPr>
        <p:sp>
          <p:nvSpPr>
            <p:cNvPr id="733" name="Google Shape;733;g3958b3a9d51_0_159"/>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34" name="Google Shape;734;g3958b3a9d51_0_159"/>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35" name="Google Shape;735;g3958b3a9d51_0_159"/>
          <p:cNvSpPr txBox="1"/>
          <p:nvPr/>
        </p:nvSpPr>
        <p:spPr>
          <a:xfrm>
            <a:off x="1546950" y="2626013"/>
            <a:ext cx="9098100" cy="37719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633">
                <a:solidFill>
                  <a:srgbClr val="24314F"/>
                </a:solidFill>
                <a:latin typeface="Inter"/>
                <a:ea typeface="Inter"/>
                <a:cs typeface="Inter"/>
                <a:sym typeface="Inter"/>
              </a:rPr>
              <a:t>ShardMemo introduces specific mechanisms to optimize retrieval accuracy and cost, particularly within Tier B:</a:t>
            </a:r>
            <a:endParaRPr b="1" sz="16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332296" lvl="0" marL="457200" marR="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Scope Before-Routing: Enforces eligibility constraints (tenant, permissions) before shard search.</a:t>
            </a:r>
            <a:endParaRPr b="1" sz="1633">
              <a:solidFill>
                <a:srgbClr val="24314F"/>
              </a:solidFill>
              <a:latin typeface="Inter"/>
              <a:ea typeface="Inter"/>
              <a:cs typeface="Inter"/>
              <a:sym typeface="Inter"/>
            </a:endParaRPr>
          </a:p>
          <a:p>
            <a:pPr indent="-332296" lvl="0" marL="457200" marR="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Cost-Aware Gating: Organizes memory into cost-heterogeneous shard families (profiles, observations, sessions). The router prioritizes cheaper shards (e.g., profiles) and only accesses expensive episodic shards when required.</a:t>
            </a:r>
            <a:endParaRPr b="1" sz="1633">
              <a:solidFill>
                <a:srgbClr val="24314F"/>
              </a:solidFill>
              <a:latin typeface="Inter"/>
              <a:ea typeface="Inter"/>
              <a:cs typeface="Inter"/>
              <a:sym typeface="Inter"/>
            </a:endParaRPr>
          </a:p>
          <a:p>
            <a:pPr indent="-332296" lvl="0" marL="457200" marR="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Supervised Router Training: When evidence-to-shard labels are available, the router is trained using a multi-positive set-likelihood objective to improve selection accuracy.</a:t>
            </a:r>
            <a:endParaRPr b="1" sz="1633">
              <a:solidFill>
                <a:srgbClr val="24314F"/>
              </a:solidFill>
              <a:latin typeface="Inter"/>
              <a:ea typeface="Inter"/>
              <a:cs typeface="Inter"/>
              <a:sym typeface="Inter"/>
            </a:endParaRPr>
          </a:p>
        </p:txBody>
      </p:sp>
      <p:sp>
        <p:nvSpPr>
          <p:cNvPr id="736" name="Google Shape;736;g3958b3a9d51_0_159"/>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grpSp>
        <p:nvGrpSpPr>
          <p:cNvPr id="741" name="Google Shape;741;g3958b3a9d51_0_183"/>
          <p:cNvGrpSpPr/>
          <p:nvPr/>
        </p:nvGrpSpPr>
        <p:grpSpPr>
          <a:xfrm>
            <a:off x="685800" y="5055056"/>
            <a:ext cx="10820186" cy="1803349"/>
            <a:chOff x="0" y="-47625"/>
            <a:chExt cx="4274726" cy="2214600"/>
          </a:xfrm>
        </p:grpSpPr>
        <p:sp>
          <p:nvSpPr>
            <p:cNvPr id="742" name="Google Shape;742;g3958b3a9d51_0_18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3" name="Google Shape;743;g3958b3a9d51_0_18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44" name="Google Shape;744;g3958b3a9d51_0_183"/>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Performance Results</a:t>
            </a:r>
            <a:endParaRPr b="1" sz="2800">
              <a:solidFill>
                <a:srgbClr val="24314F"/>
              </a:solidFill>
            </a:endParaRPr>
          </a:p>
        </p:txBody>
      </p:sp>
      <p:grpSp>
        <p:nvGrpSpPr>
          <p:cNvPr id="745" name="Google Shape;745;g3958b3a9d51_0_183"/>
          <p:cNvGrpSpPr/>
          <p:nvPr/>
        </p:nvGrpSpPr>
        <p:grpSpPr>
          <a:xfrm>
            <a:off x="1014750" y="5271450"/>
            <a:ext cx="10309570" cy="1688168"/>
            <a:chOff x="0" y="-47625"/>
            <a:chExt cx="1808189" cy="1790400"/>
          </a:xfrm>
        </p:grpSpPr>
        <p:sp>
          <p:nvSpPr>
            <p:cNvPr id="746" name="Google Shape;746;g3958b3a9d51_0_18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7" name="Google Shape;747;g3958b3a9d51_0_18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48" name="Google Shape;748;g3958b3a9d51_0_183"/>
          <p:cNvSpPr txBox="1"/>
          <p:nvPr/>
        </p:nvSpPr>
        <p:spPr>
          <a:xfrm>
            <a:off x="1234501" y="5449250"/>
            <a:ext cx="9949800" cy="955200"/>
          </a:xfrm>
          <a:prstGeom prst="rect">
            <a:avLst/>
          </a:prstGeom>
          <a:noFill/>
          <a:ln>
            <a:noFill/>
          </a:ln>
        </p:spPr>
        <p:txBody>
          <a:bodyPr anchorCtr="0" anchor="t" bIns="0" lIns="0" spcFirstLastPara="1" rIns="0" wrap="square" tIns="0">
            <a:spAutoFit/>
          </a:bodyPr>
          <a:lstStyle/>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+6.82 F1 score improvement on LoCoMo.</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Retrieval work reduced by 20.5%.</a:t>
            </a:r>
            <a:endParaRPr b="1" sz="1633">
              <a:solidFill>
                <a:srgbClr val="24314F"/>
              </a:solidFill>
              <a:latin typeface="Inter"/>
              <a:ea typeface="Inter"/>
              <a:cs typeface="Inter"/>
              <a:sym typeface="Inter"/>
            </a:endParaRPr>
          </a:p>
          <a:p>
            <a:pPr indent="-332296" lvl="0" marL="457200" marR="0" rtl="0" algn="just">
              <a:lnSpc>
                <a:spcPct val="140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Latency dropped from 95ms to 76ms.</a:t>
            </a:r>
            <a:endParaRPr b="1" sz="1633">
              <a:solidFill>
                <a:srgbClr val="24314F"/>
              </a:solidFill>
              <a:latin typeface="Inter"/>
              <a:ea typeface="Inter"/>
              <a:cs typeface="Inter"/>
              <a:sym typeface="Inter"/>
            </a:endParaRPr>
          </a:p>
        </p:txBody>
      </p:sp>
      <p:sp>
        <p:nvSpPr>
          <p:cNvPr id="749" name="Google Shape;749;g3958b3a9d51_0_183"/>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pic>
        <p:nvPicPr>
          <p:cNvPr id="750" name="Google Shape;750;g3958b3a9d51_0_183"/>
          <p:cNvPicPr preferRelativeResize="0"/>
          <p:nvPr/>
        </p:nvPicPr>
        <p:blipFill>
          <a:blip r:embed="rId3">
            <a:alphaModFix/>
          </a:blip>
          <a:stretch>
            <a:fillRect/>
          </a:stretch>
        </p:blipFill>
        <p:spPr>
          <a:xfrm>
            <a:off x="3190751" y="1312725"/>
            <a:ext cx="5810250" cy="3457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958b3a9d51_0_1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757" name="Google Shape;757;g3958b3a9d51_0_10"/>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Add function calling (search and database retrieval) using FAISS ( try to fix issue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Integrate the external Online Web Search function alongside the existing FAISS RAG to handle real-time, out-of-database queries.</a:t>
            </a:r>
            <a:endParaRPr sz="1900">
              <a:solidFill>
                <a:schemeClr val="dk1"/>
              </a:solidFill>
              <a:latin typeface="Roboto Mono"/>
              <a:ea typeface="Roboto Mono"/>
              <a:cs typeface="Roboto Mono"/>
              <a:sym typeface="Roboto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1" name="Shape 761"/>
        <p:cNvGrpSpPr/>
        <p:nvPr/>
      </p:nvGrpSpPr>
      <p:grpSpPr>
        <a:xfrm>
          <a:off x="0" y="0"/>
          <a:ext cx="0" cy="0"/>
          <a:chOff x="0" y="0"/>
          <a:chExt cx="0" cy="0"/>
        </a:xfrm>
      </p:grpSpPr>
      <p:grpSp>
        <p:nvGrpSpPr>
          <p:cNvPr id="762" name="Google Shape;762;g3958b3a9d51_0_197"/>
          <p:cNvGrpSpPr/>
          <p:nvPr/>
        </p:nvGrpSpPr>
        <p:grpSpPr>
          <a:xfrm>
            <a:off x="685800" y="1838306"/>
            <a:ext cx="10820186" cy="5020055"/>
            <a:chOff x="0" y="-47625"/>
            <a:chExt cx="4274726" cy="2214600"/>
          </a:xfrm>
        </p:grpSpPr>
        <p:sp>
          <p:nvSpPr>
            <p:cNvPr id="763" name="Google Shape;763;g3958b3a9d51_0_19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64" name="Google Shape;764;g3958b3a9d51_0_19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65" name="Google Shape;765;g3958b3a9d51_0_197"/>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Tiered Memory Architecture</a:t>
            </a:r>
            <a:endParaRPr sz="1200"/>
          </a:p>
        </p:txBody>
      </p:sp>
      <p:grpSp>
        <p:nvGrpSpPr>
          <p:cNvPr id="766" name="Google Shape;766;g3958b3a9d51_0_197"/>
          <p:cNvGrpSpPr/>
          <p:nvPr/>
        </p:nvGrpSpPr>
        <p:grpSpPr>
          <a:xfrm>
            <a:off x="1295625" y="2145001"/>
            <a:ext cx="4577069" cy="2989232"/>
            <a:chOff x="0" y="-47625"/>
            <a:chExt cx="1808189" cy="1538700"/>
          </a:xfrm>
        </p:grpSpPr>
        <p:sp>
          <p:nvSpPr>
            <p:cNvPr id="767" name="Google Shape;767;g3958b3a9d51_0_197"/>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68" name="Google Shape;768;g3958b3a9d51_0_197"/>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69" name="Google Shape;769;g3958b3a9d51_0_197"/>
          <p:cNvSpPr txBox="1"/>
          <p:nvPr/>
        </p:nvSpPr>
        <p:spPr>
          <a:xfrm>
            <a:off x="1652537" y="2517634"/>
            <a:ext cx="3863100" cy="26166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The Problem:</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ShardMemo is a budgeted tiered memory service designed to address scalability and efficiency bottlenecks of external memory in agentic LLM systems.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0" marL="0" rtl="0" algn="just">
              <a:lnSpc>
                <a:spcPct val="140060"/>
              </a:lnSpc>
              <a:spcBef>
                <a:spcPts val="0"/>
              </a:spcBef>
              <a:spcAft>
                <a:spcPts val="0"/>
              </a:spcAft>
              <a:buClr>
                <a:schemeClr val="dk1"/>
              </a:buClr>
              <a:buFont typeface="Arial"/>
              <a:buNone/>
            </a:pPr>
            <a:r>
              <a:rPr b="1" lang="en-US" sz="1133">
                <a:solidFill>
                  <a:srgbClr val="24314F"/>
                </a:solidFill>
                <a:latin typeface="Inter"/>
                <a:ea typeface="Inter"/>
                <a:cs typeface="Inter"/>
                <a:sym typeface="Inter"/>
              </a:rPr>
              <a:t>The solution: </a:t>
            </a:r>
            <a:endParaRPr sz="1200">
              <a:solidFill>
                <a:schemeClr val="dk1"/>
              </a:solidFill>
            </a:endParaRPr>
          </a:p>
          <a:p>
            <a:pPr indent="0" lvl="0" marL="0" rtl="0" algn="just">
              <a:lnSpc>
                <a:spcPct val="140000"/>
              </a:lnSpc>
              <a:spcBef>
                <a:spcPts val="0"/>
              </a:spcBef>
              <a:spcAft>
                <a:spcPts val="0"/>
              </a:spcAft>
              <a:buNone/>
            </a:pPr>
            <a:r>
              <a:rPr b="1" lang="en-US" sz="1133">
                <a:solidFill>
                  <a:srgbClr val="24314F"/>
                </a:solidFill>
                <a:latin typeface="Inter SemiBold"/>
                <a:ea typeface="Inter SemiBold"/>
                <a:cs typeface="Inter SemiBold"/>
                <a:sym typeface="Inter SemiBold"/>
              </a:rPr>
              <a:t>Replace centralized indexes and heuristic partitioning with a structured, cost-aware approach to managing long-horizon state and multi agent execution</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p:txBody>
      </p:sp>
      <p:grpSp>
        <p:nvGrpSpPr>
          <p:cNvPr id="770" name="Google Shape;770;g3958b3a9d51_0_197"/>
          <p:cNvGrpSpPr/>
          <p:nvPr/>
        </p:nvGrpSpPr>
        <p:grpSpPr>
          <a:xfrm>
            <a:off x="6260355" y="2187775"/>
            <a:ext cx="4577069" cy="4532040"/>
            <a:chOff x="0" y="-47625"/>
            <a:chExt cx="1808189" cy="1790400"/>
          </a:xfrm>
        </p:grpSpPr>
        <p:sp>
          <p:nvSpPr>
            <p:cNvPr id="771" name="Google Shape;771;g3958b3a9d51_0_19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72" name="Google Shape;772;g3958b3a9d51_0_19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73" name="Google Shape;773;g3958b3a9d51_0_197"/>
          <p:cNvSpPr txBox="1"/>
          <p:nvPr/>
        </p:nvSpPr>
        <p:spPr>
          <a:xfrm>
            <a:off x="6502737" y="2353370"/>
            <a:ext cx="4092300" cy="4325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133">
                <a:solidFill>
                  <a:srgbClr val="24314F"/>
                </a:solidFill>
                <a:latin typeface="Inter"/>
                <a:ea typeface="Inter"/>
                <a:cs typeface="Inter"/>
                <a:sym typeface="Inter"/>
              </a:rPr>
              <a:t>It is organised into 3 distinct tiers to handle heterogeneousaccess patterns</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rPr b="1" lang="en-US" sz="1133">
                <a:solidFill>
                  <a:srgbClr val="24314F"/>
                </a:solidFill>
                <a:latin typeface="Inter"/>
                <a:ea typeface="Inter"/>
                <a:cs typeface="Inter"/>
                <a:sym typeface="Inter"/>
              </a:rPr>
              <a:t>• Tier A (Working Memory): Stores short-lived, per-agent working state to stabilize short-term context. It operates under a bounded budget (M).</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rPr b="1" lang="en-US" sz="1133">
                <a:solidFill>
                  <a:srgbClr val="24314F"/>
                </a:solidFill>
                <a:latin typeface="Inter"/>
                <a:ea typeface="Inter"/>
                <a:cs typeface="Inter"/>
                <a:sym typeface="Inter"/>
              </a:rPr>
              <a:t>• Tier B (Evidence Memory): Stores persistent declarative evidence partitioned into shards, each with a local Approximate Nearest Neighbor (ANN) index. This tier is designed for scalable retrieval of interaction logs and observations.</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00"/>
              </a:lnSpc>
              <a:spcBef>
                <a:spcPts val="0"/>
              </a:spcBef>
              <a:spcAft>
                <a:spcPts val="0"/>
              </a:spcAft>
              <a:buNone/>
            </a:pPr>
            <a:r>
              <a:rPr b="1" lang="en-US" sz="1133">
                <a:solidFill>
                  <a:srgbClr val="24314F"/>
                </a:solidFill>
                <a:latin typeface="Inter"/>
                <a:ea typeface="Inter"/>
                <a:cs typeface="Inter"/>
                <a:sym typeface="Inter"/>
              </a:rPr>
              <a:t>• Tier C (Skill Library): A library of versioned, reusable skills (procedures). It allows agents to retrieve and execute previously successful tool-use procedures under a budget (R). If a skill is inapplicable or execution fails, the system falls back to Tier B.</a:t>
            </a:r>
            <a:endParaRPr b="1" sz="1133">
              <a:solidFill>
                <a:srgbClr val="24314F"/>
              </a:solidFill>
              <a:latin typeface="Inter"/>
              <a:ea typeface="Inter"/>
              <a:cs typeface="Inter"/>
              <a:sym typeface="Inter"/>
            </a:endParaRPr>
          </a:p>
        </p:txBody>
      </p:sp>
      <p:sp>
        <p:nvSpPr>
          <p:cNvPr id="774" name="Google Shape;774;g3958b3a9d51_0_197"/>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8" name="Shape 778"/>
        <p:cNvGrpSpPr/>
        <p:nvPr/>
      </p:nvGrpSpPr>
      <p:grpSpPr>
        <a:xfrm>
          <a:off x="0" y="0"/>
          <a:ext cx="0" cy="0"/>
          <a:chOff x="0" y="0"/>
          <a:chExt cx="0" cy="0"/>
        </a:xfrm>
      </p:grpSpPr>
      <p:grpSp>
        <p:nvGrpSpPr>
          <p:cNvPr id="779" name="Google Shape;779;g3958b3a9d51_0_213"/>
          <p:cNvGrpSpPr/>
          <p:nvPr/>
        </p:nvGrpSpPr>
        <p:grpSpPr>
          <a:xfrm>
            <a:off x="685800" y="1838306"/>
            <a:ext cx="10820186" cy="5020055"/>
            <a:chOff x="0" y="-47625"/>
            <a:chExt cx="4274726" cy="2214600"/>
          </a:xfrm>
        </p:grpSpPr>
        <p:sp>
          <p:nvSpPr>
            <p:cNvPr id="780" name="Google Shape;780;g3958b3a9d51_0_21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81" name="Google Shape;781;g3958b3a9d51_0_21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82" name="Google Shape;782;g3958b3a9d51_0_213"/>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Key Mechanisms</a:t>
            </a:r>
            <a:endParaRPr sz="1200"/>
          </a:p>
        </p:txBody>
      </p:sp>
      <p:grpSp>
        <p:nvGrpSpPr>
          <p:cNvPr id="783" name="Google Shape;783;g3958b3a9d51_0_213"/>
          <p:cNvGrpSpPr/>
          <p:nvPr/>
        </p:nvGrpSpPr>
        <p:grpSpPr>
          <a:xfrm>
            <a:off x="1295625" y="2430950"/>
            <a:ext cx="9836187" cy="4162030"/>
            <a:chOff x="0" y="-47625"/>
            <a:chExt cx="1808189" cy="1538700"/>
          </a:xfrm>
        </p:grpSpPr>
        <p:sp>
          <p:nvSpPr>
            <p:cNvPr id="784" name="Google Shape;784;g3958b3a9d51_0_213"/>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85" name="Google Shape;785;g3958b3a9d51_0_213"/>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86" name="Google Shape;786;g3958b3a9d51_0_213"/>
          <p:cNvSpPr txBox="1"/>
          <p:nvPr/>
        </p:nvSpPr>
        <p:spPr>
          <a:xfrm>
            <a:off x="1652625" y="2865775"/>
            <a:ext cx="9098100" cy="26169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ShardMemo introduces specific mechanisms to optimize retrieval accuracy and cost, particularly within Tier B:</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Scope-Before-Routing: Instead of searching all shards, ShardMemo enforces structured eligibility constraints (e.g., tenant, permissions) before routing.</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Cost-Aware Gating: The system organizes memory into heterogeneous shard families (e.g., profiles, observations, sessions) with different access costs. The router uses cost-aware gating to prioritize cheaper shards (like profiles) and only escalates to expensive episodic shards when necessary.</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Supervised Router Training: When evidence-to-shard labels are available, the router is trained using a multi-positive set-likelihood objective to improve selection accuracy.</a:t>
            </a:r>
            <a:endParaRPr b="1" sz="1133">
              <a:solidFill>
                <a:srgbClr val="24314F"/>
              </a:solidFill>
              <a:latin typeface="Inter"/>
              <a:ea typeface="Inter"/>
              <a:cs typeface="Inter"/>
              <a:sym typeface="Inter"/>
            </a:endParaRPr>
          </a:p>
        </p:txBody>
      </p:sp>
      <p:sp>
        <p:nvSpPr>
          <p:cNvPr id="787" name="Google Shape;787;g3958b3a9d51_0_213"/>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1" name="Shape 791"/>
        <p:cNvGrpSpPr/>
        <p:nvPr/>
      </p:nvGrpSpPr>
      <p:grpSpPr>
        <a:xfrm>
          <a:off x="0" y="0"/>
          <a:ext cx="0" cy="0"/>
          <a:chOff x="0" y="0"/>
          <a:chExt cx="0" cy="0"/>
        </a:xfrm>
      </p:grpSpPr>
      <p:grpSp>
        <p:nvGrpSpPr>
          <p:cNvPr id="792" name="Google Shape;792;g3958b3a9d51_0_225"/>
          <p:cNvGrpSpPr/>
          <p:nvPr/>
        </p:nvGrpSpPr>
        <p:grpSpPr>
          <a:xfrm>
            <a:off x="685800" y="1838306"/>
            <a:ext cx="10820186" cy="5020055"/>
            <a:chOff x="0" y="-47625"/>
            <a:chExt cx="4274726" cy="2214600"/>
          </a:xfrm>
        </p:grpSpPr>
        <p:sp>
          <p:nvSpPr>
            <p:cNvPr id="793" name="Google Shape;793;g3958b3a9d51_0_22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94" name="Google Shape;794;g3958b3a9d51_0_22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95" name="Google Shape;795;g3958b3a9d51_0_225"/>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Performance Results</a:t>
            </a:r>
            <a:endParaRPr sz="1200"/>
          </a:p>
        </p:txBody>
      </p:sp>
      <p:grpSp>
        <p:nvGrpSpPr>
          <p:cNvPr id="796" name="Google Shape;796;g3958b3a9d51_0_225"/>
          <p:cNvGrpSpPr/>
          <p:nvPr/>
        </p:nvGrpSpPr>
        <p:grpSpPr>
          <a:xfrm>
            <a:off x="1295625" y="2430950"/>
            <a:ext cx="9836187" cy="4162030"/>
            <a:chOff x="0" y="-47625"/>
            <a:chExt cx="1808189" cy="1538700"/>
          </a:xfrm>
        </p:grpSpPr>
        <p:sp>
          <p:nvSpPr>
            <p:cNvPr id="797" name="Google Shape;797;g3958b3a9d51_0_225"/>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98" name="Google Shape;798;g3958b3a9d51_0_225"/>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799" name="Google Shape;799;g3958b3a9d51_0_225"/>
          <p:cNvSpPr txBox="1"/>
          <p:nvPr/>
        </p:nvSpPr>
        <p:spPr>
          <a:xfrm>
            <a:off x="1652625" y="2865775"/>
            <a:ext cx="9098100" cy="28611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ShardMemo demonstrates significant improvements over existing baselines (such as GAM and standard RAG) in diverse benchmarks: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LoCoMo: It improved F1 scores by +5.11 to +6.82 across question categories compared to the strongest baseline. With a fixed routing budget, it increased F1 by +6.87 while reducing retrieval work (vectors scanned) by 20.5% and p95 latency from 95ms to 76ms.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HotpotQA: It maintained strong performance on long-context tasks, achieving high F1 scores even as context lengths grew from 56K to 448K tokens.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ToolBench: The Tier C skill library achieved 0.97 Precision@3 and improved step reduction by +7.2% compared to embedding-similarity retrieval, indicating high reliability in skill reuse.</a:t>
            </a:r>
            <a:endParaRPr b="1" sz="1133">
              <a:solidFill>
                <a:srgbClr val="24314F"/>
              </a:solidFill>
              <a:latin typeface="Inter"/>
              <a:ea typeface="Inter"/>
              <a:cs typeface="Inter"/>
              <a:sym typeface="Inter"/>
            </a:endParaRPr>
          </a:p>
        </p:txBody>
      </p:sp>
      <p:sp>
        <p:nvSpPr>
          <p:cNvPr id="800" name="Google Shape;800;g3958b3a9d51_0_225"/>
          <p:cNvSpPr txBox="1"/>
          <p:nvPr/>
        </p:nvSpPr>
        <p:spPr>
          <a:xfrm>
            <a:off x="7643020"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sz="1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c68a7f1252_0_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Feb 24</a:t>
            </a:r>
            <a:r>
              <a:rPr lang="en-US">
                <a:solidFill>
                  <a:srgbClr val="FF0000"/>
                </a:solidFill>
                <a:latin typeface="ADLaM Display"/>
                <a:ea typeface="ADLaM Display"/>
                <a:cs typeface="ADLaM Display"/>
                <a:sym typeface="ADLaM Display"/>
              </a:rPr>
              <a:t>, 2026</a:t>
            </a:r>
            <a:endParaRPr>
              <a:solidFill>
                <a:srgbClr val="FF0000"/>
              </a:solidFill>
              <a:latin typeface="ADLaM Display"/>
              <a:ea typeface="ADLaM Display"/>
              <a:cs typeface="ADLaM Display"/>
              <a:sym typeface="ADLaM Display"/>
            </a:endParaRPr>
          </a:p>
        </p:txBody>
      </p:sp>
      <p:sp>
        <p:nvSpPr>
          <p:cNvPr id="806" name="Google Shape;806;g3c68a7f1252_0_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studying for a mid term paper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958b3a9d51_0_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Feb 17, 2026</a:t>
            </a:r>
            <a:endParaRPr>
              <a:solidFill>
                <a:srgbClr val="FF0000"/>
              </a:solidFill>
              <a:latin typeface="ADLaM Display"/>
              <a:ea typeface="ADLaM Display"/>
              <a:cs typeface="ADLaM Display"/>
              <a:sym typeface="ADLaM Display"/>
            </a:endParaRPr>
          </a:p>
        </p:txBody>
      </p:sp>
      <p:sp>
        <p:nvSpPr>
          <p:cNvPr id="812" name="Google Shape;812;g3958b3a9d51_0_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CNY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c48a6a6cc2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Feb 10, 2026</a:t>
            </a:r>
            <a:endParaRPr>
              <a:solidFill>
                <a:srgbClr val="FF0000"/>
              </a:solidFill>
              <a:latin typeface="ADLaM Display"/>
              <a:ea typeface="ADLaM Display"/>
              <a:cs typeface="ADLaM Display"/>
              <a:sym typeface="ADLaM Display"/>
            </a:endParaRPr>
          </a:p>
        </p:txBody>
      </p:sp>
      <p:sp>
        <p:nvSpPr>
          <p:cNvPr id="818" name="Google Shape;818;g3c48a6a6cc2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g3bebc3ce2e9_0_5"/>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825" name="Google Shape;825;g3bebc3ce2e9_0_5"/>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current AI project from a multi-server setup to a Single, offline Python Script using Qwen2,5-Omni and vLLM-Omni 0.11.0 to handle audio-to-text-tool-use natively on the GPU (on-going)</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write vllm omni guide</a:t>
            </a:r>
            <a:endParaRPr sz="1900">
              <a:solidFill>
                <a:schemeClr val="dk1"/>
              </a:solidFill>
              <a:latin typeface="Roboto Mono"/>
              <a:ea typeface="Roboto Mono"/>
              <a:cs typeface="Roboto Mono"/>
              <a:sym typeface="Roboto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grpSp>
        <p:nvGrpSpPr>
          <p:cNvPr id="830" name="Google Shape;830;g3c68a7f1252_0_10"/>
          <p:cNvGrpSpPr/>
          <p:nvPr/>
        </p:nvGrpSpPr>
        <p:grpSpPr>
          <a:xfrm>
            <a:off x="685800" y="1838306"/>
            <a:ext cx="10820186" cy="5020055"/>
            <a:chOff x="0" y="-47625"/>
            <a:chExt cx="4274726" cy="2214600"/>
          </a:xfrm>
        </p:grpSpPr>
        <p:sp>
          <p:nvSpPr>
            <p:cNvPr id="831" name="Google Shape;831;g3c68a7f1252_0_1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32" name="Google Shape;832;g3c68a7f1252_0_1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33" name="Google Shape;833;g3c68a7f1252_0_1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Objective and Architecture</a:t>
            </a:r>
            <a:endParaRPr sz="1200"/>
          </a:p>
        </p:txBody>
      </p:sp>
      <p:grpSp>
        <p:nvGrpSpPr>
          <p:cNvPr id="834" name="Google Shape;834;g3c68a7f1252_0_10"/>
          <p:cNvGrpSpPr/>
          <p:nvPr/>
        </p:nvGrpSpPr>
        <p:grpSpPr>
          <a:xfrm>
            <a:off x="1076700" y="2113824"/>
            <a:ext cx="10093130" cy="5020103"/>
            <a:chOff x="0" y="-47625"/>
            <a:chExt cx="1808189" cy="1790400"/>
          </a:xfrm>
        </p:grpSpPr>
        <p:sp>
          <p:nvSpPr>
            <p:cNvPr id="835" name="Google Shape;835;g3c68a7f1252_0_1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36" name="Google Shape;836;g3c68a7f1252_0_1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37" name="Google Shape;837;g3c68a7f1252_0_1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838" name="Google Shape;838;g3c68a7f1252_0_10"/>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839" name="Google Shape;839;g3c68a7f1252_0_10"/>
          <p:cNvSpPr txBox="1"/>
          <p:nvPr/>
        </p:nvSpPr>
        <p:spPr>
          <a:xfrm>
            <a:off x="1379950" y="2483324"/>
            <a:ext cx="9531300" cy="31794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Evaluate the throughput efficiency of Qwen2.5-Omni multimodal model </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Processed over 100 (105)  concurrent audio inputs to simulate a high-traffic inference request queue</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length of audio files</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Clr>
                <a:schemeClr val="dk1"/>
              </a:buClr>
              <a:buSzPts val="1100"/>
              <a:buFont typeface="Arial"/>
              <a:buNone/>
            </a:pPr>
            <a:r>
              <a:rPr b="1" lang="en-US" sz="1633">
                <a:solidFill>
                  <a:srgbClr val="24314F"/>
                </a:solidFill>
                <a:latin typeface="Inter"/>
                <a:ea typeface="Inter"/>
                <a:cs typeface="Inter"/>
                <a:sym typeface="Inter"/>
              </a:rPr>
              <a:t>Count: 105, Average Duration: 2.82 seconds,  Min: 1.51s | Max: 8.21s</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Used Qwen2.5-Omni-7B</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Inference Backend : vLLM-Omni</a:t>
            </a:r>
            <a:endParaRPr b="1" sz="1633">
              <a:solidFill>
                <a:srgbClr val="24314F"/>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grpSp>
        <p:nvGrpSpPr>
          <p:cNvPr id="844" name="Google Shape;844;g3c68a7f1252_0_23"/>
          <p:cNvGrpSpPr/>
          <p:nvPr/>
        </p:nvGrpSpPr>
        <p:grpSpPr>
          <a:xfrm>
            <a:off x="685800" y="1838306"/>
            <a:ext cx="10820186" cy="5020055"/>
            <a:chOff x="0" y="-47625"/>
            <a:chExt cx="4274726" cy="2214600"/>
          </a:xfrm>
        </p:grpSpPr>
        <p:sp>
          <p:nvSpPr>
            <p:cNvPr id="845" name="Google Shape;845;g3c68a7f1252_0_2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46" name="Google Shape;846;g3c68a7f1252_0_2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47" name="Google Shape;847;g3c68a7f1252_0_23"/>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Output Token Count</a:t>
            </a:r>
            <a:endParaRPr sz="1200"/>
          </a:p>
        </p:txBody>
      </p:sp>
      <p:grpSp>
        <p:nvGrpSpPr>
          <p:cNvPr id="848" name="Google Shape;848;g3c68a7f1252_0_23"/>
          <p:cNvGrpSpPr/>
          <p:nvPr/>
        </p:nvGrpSpPr>
        <p:grpSpPr>
          <a:xfrm>
            <a:off x="1076700" y="2113824"/>
            <a:ext cx="10093130" cy="5020103"/>
            <a:chOff x="0" y="-47625"/>
            <a:chExt cx="1808189" cy="1790400"/>
          </a:xfrm>
        </p:grpSpPr>
        <p:sp>
          <p:nvSpPr>
            <p:cNvPr id="849" name="Google Shape;849;g3c68a7f1252_0_2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50" name="Google Shape;850;g3c68a7f1252_0_2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51" name="Google Shape;851;g3c68a7f1252_0_23"/>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852" name="Google Shape;852;g3c68a7f1252_0_23"/>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The number of text tokens (words/sub-words) the model generated in response to the audio prompt.</a:t>
            </a:r>
            <a:endParaRPr b="1" sz="1600">
              <a:solidFill>
                <a:srgbClr val="24314F"/>
              </a:solidFill>
              <a:latin typeface="Inter"/>
              <a:ea typeface="Inter"/>
              <a:cs typeface="Inter"/>
              <a:sym typeface="Inter"/>
            </a:endParaRPr>
          </a:p>
        </p:txBody>
      </p:sp>
      <p:sp>
        <p:nvSpPr>
          <p:cNvPr id="853" name="Google Shape;853;g3c68a7f1252_0_23"/>
          <p:cNvSpPr txBox="1"/>
          <p:nvPr/>
        </p:nvSpPr>
        <p:spPr>
          <a:xfrm>
            <a:off x="1357613" y="5670224"/>
            <a:ext cx="9531300" cy="8295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Average</a:t>
            </a:r>
            <a:r>
              <a:rPr b="1" lang="en-US" sz="1633">
                <a:solidFill>
                  <a:srgbClr val="24314F"/>
                </a:solidFill>
                <a:latin typeface="Inter"/>
                <a:ea typeface="Inter"/>
                <a:cs typeface="Inter"/>
                <a:sym typeface="Inter"/>
              </a:rPr>
              <a:t> Output:~45 tokens per request</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Maximum Output : 407 tokens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Despite Request 85 demanding 10x the compute, the batch did not fail. </a:t>
            </a:r>
            <a:endParaRPr b="1" sz="1633">
              <a:solidFill>
                <a:srgbClr val="24314F"/>
              </a:solidFill>
              <a:latin typeface="Inter"/>
              <a:ea typeface="Inter"/>
              <a:cs typeface="Inter"/>
              <a:sym typeface="Inter"/>
            </a:endParaRPr>
          </a:p>
        </p:txBody>
      </p:sp>
      <p:pic>
        <p:nvPicPr>
          <p:cNvPr id="854" name="Google Shape;854;g3c68a7f1252_0_23"/>
          <p:cNvPicPr preferRelativeResize="0"/>
          <p:nvPr/>
        </p:nvPicPr>
        <p:blipFill rotWithShape="1">
          <a:blip r:embed="rId3">
            <a:alphaModFix/>
          </a:blip>
          <a:srcRect b="49950" l="0" r="0" t="0"/>
          <a:stretch/>
        </p:blipFill>
        <p:spPr>
          <a:xfrm>
            <a:off x="1204800" y="2455925"/>
            <a:ext cx="9531300" cy="272531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grpSp>
        <p:nvGrpSpPr>
          <p:cNvPr id="859" name="Google Shape;859;g3c68a7f1252_0_37"/>
          <p:cNvGrpSpPr/>
          <p:nvPr/>
        </p:nvGrpSpPr>
        <p:grpSpPr>
          <a:xfrm>
            <a:off x="685800" y="1838306"/>
            <a:ext cx="10820186" cy="5020055"/>
            <a:chOff x="0" y="-47625"/>
            <a:chExt cx="4274726" cy="2214600"/>
          </a:xfrm>
        </p:grpSpPr>
        <p:sp>
          <p:nvSpPr>
            <p:cNvPr id="860" name="Google Shape;860;g3c68a7f1252_0_3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1" name="Google Shape;861;g3c68a7f1252_0_3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62" name="Google Shape;862;g3c68a7f1252_0_3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Latency Per Request</a:t>
            </a:r>
            <a:endParaRPr sz="1200"/>
          </a:p>
        </p:txBody>
      </p:sp>
      <p:grpSp>
        <p:nvGrpSpPr>
          <p:cNvPr id="863" name="Google Shape;863;g3c68a7f1252_0_37"/>
          <p:cNvGrpSpPr/>
          <p:nvPr/>
        </p:nvGrpSpPr>
        <p:grpSpPr>
          <a:xfrm>
            <a:off x="1076700" y="2113824"/>
            <a:ext cx="10093130" cy="5020103"/>
            <a:chOff x="0" y="-47625"/>
            <a:chExt cx="1808189" cy="1790400"/>
          </a:xfrm>
        </p:grpSpPr>
        <p:sp>
          <p:nvSpPr>
            <p:cNvPr id="864" name="Google Shape;864;g3c68a7f1252_0_3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5" name="Google Shape;865;g3c68a7f1252_0_3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66" name="Google Shape;866;g3c68a7f1252_0_3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867" name="Google Shape;867;g3c68a7f1252_0_37"/>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The wall-clock time from the start of the batch until the specific request was saved to disk.</a:t>
            </a:r>
            <a:endParaRPr b="1" sz="1600">
              <a:solidFill>
                <a:srgbClr val="24314F"/>
              </a:solidFill>
              <a:latin typeface="Inter"/>
              <a:ea typeface="Inter"/>
              <a:cs typeface="Inter"/>
              <a:sym typeface="Inter"/>
            </a:endParaRPr>
          </a:p>
        </p:txBody>
      </p:sp>
      <p:sp>
        <p:nvSpPr>
          <p:cNvPr id="868" name="Google Shape;868;g3c68a7f1252_0_37"/>
          <p:cNvSpPr txBox="1"/>
          <p:nvPr/>
        </p:nvSpPr>
        <p:spPr>
          <a:xfrm>
            <a:off x="1357613" y="5670224"/>
            <a:ext cx="9531300" cy="11184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It took ~1.6 seconds to loop through and save 100 files. </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Total Batch Time:~958 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Total Req:105 </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Effective Latency = 9.1 seconds per req</a:t>
            </a:r>
            <a:endParaRPr b="1" sz="1633">
              <a:solidFill>
                <a:srgbClr val="24314F"/>
              </a:solidFill>
              <a:latin typeface="Inter"/>
              <a:ea typeface="Inter"/>
              <a:cs typeface="Inter"/>
              <a:sym typeface="Inter"/>
            </a:endParaRPr>
          </a:p>
        </p:txBody>
      </p:sp>
      <p:pic>
        <p:nvPicPr>
          <p:cNvPr id="869" name="Google Shape;869;g3c68a7f1252_0_37"/>
          <p:cNvPicPr preferRelativeResize="0"/>
          <p:nvPr/>
        </p:nvPicPr>
        <p:blipFill rotWithShape="1">
          <a:blip r:embed="rId3">
            <a:alphaModFix/>
          </a:blip>
          <a:srcRect b="0" l="0" r="0" t="50050"/>
          <a:stretch/>
        </p:blipFill>
        <p:spPr>
          <a:xfrm>
            <a:off x="1204800" y="2379925"/>
            <a:ext cx="9811850" cy="279985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grpSp>
        <p:nvGrpSpPr>
          <p:cNvPr id="874" name="Google Shape;874;g3c68a7f1252_0_53"/>
          <p:cNvGrpSpPr/>
          <p:nvPr/>
        </p:nvGrpSpPr>
        <p:grpSpPr>
          <a:xfrm>
            <a:off x="685800" y="1838306"/>
            <a:ext cx="10820186" cy="5020055"/>
            <a:chOff x="0" y="-47625"/>
            <a:chExt cx="4274726" cy="2214600"/>
          </a:xfrm>
        </p:grpSpPr>
        <p:sp>
          <p:nvSpPr>
            <p:cNvPr id="875" name="Google Shape;875;g3c68a7f1252_0_5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76" name="Google Shape;876;g3c68a7f1252_0_5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77" name="Google Shape;877;g3c68a7f1252_0_53"/>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Conclusion</a:t>
            </a:r>
            <a:endParaRPr sz="1200"/>
          </a:p>
        </p:txBody>
      </p:sp>
      <p:grpSp>
        <p:nvGrpSpPr>
          <p:cNvPr id="878" name="Google Shape;878;g3c68a7f1252_0_53"/>
          <p:cNvGrpSpPr/>
          <p:nvPr/>
        </p:nvGrpSpPr>
        <p:grpSpPr>
          <a:xfrm>
            <a:off x="1076700" y="2275699"/>
            <a:ext cx="10093130" cy="1853601"/>
            <a:chOff x="0" y="-47625"/>
            <a:chExt cx="1808189" cy="1790400"/>
          </a:xfrm>
        </p:grpSpPr>
        <p:sp>
          <p:nvSpPr>
            <p:cNvPr id="879" name="Google Shape;879;g3c68a7f1252_0_5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80" name="Google Shape;880;g3c68a7f1252_0_5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81" name="Google Shape;881;g3c68a7f1252_0_53"/>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882" name="Google Shape;882;g3c68a7f1252_0_53"/>
          <p:cNvSpPr txBox="1"/>
          <p:nvPr/>
        </p:nvSpPr>
        <p:spPr>
          <a:xfrm>
            <a:off x="1493100" y="2629500"/>
            <a:ext cx="9113100" cy="6033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The vLLM-Omni architecture successfully managed high-concurrency loads (N=100) without memory degradation.</a:t>
            </a:r>
            <a:endParaRPr b="1" sz="1633">
              <a:solidFill>
                <a:srgbClr val="24314F"/>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grpSp>
        <p:nvGrpSpPr>
          <p:cNvPr id="887" name="Google Shape;887;g3bd8de7fc03_0_0"/>
          <p:cNvGrpSpPr/>
          <p:nvPr/>
        </p:nvGrpSpPr>
        <p:grpSpPr>
          <a:xfrm>
            <a:off x="685800" y="1838306"/>
            <a:ext cx="10820186" cy="5020055"/>
            <a:chOff x="0" y="-47625"/>
            <a:chExt cx="4274726" cy="2214600"/>
          </a:xfrm>
        </p:grpSpPr>
        <p:sp>
          <p:nvSpPr>
            <p:cNvPr id="888" name="Google Shape;888;g3bd8de7fc03_0_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89" name="Google Shape;889;g3bd8de7fc03_0_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90" name="Google Shape;890;g3bd8de7fc03_0_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vLLM-Omni </a:t>
            </a:r>
            <a:r>
              <a:rPr b="1" lang="en-US" sz="2800">
                <a:solidFill>
                  <a:srgbClr val="24314F"/>
                </a:solidFill>
              </a:rPr>
              <a:t>Guide</a:t>
            </a:r>
            <a:endParaRPr sz="1200"/>
          </a:p>
        </p:txBody>
      </p:sp>
      <p:grpSp>
        <p:nvGrpSpPr>
          <p:cNvPr id="891" name="Google Shape;891;g3bd8de7fc03_0_0"/>
          <p:cNvGrpSpPr/>
          <p:nvPr/>
        </p:nvGrpSpPr>
        <p:grpSpPr>
          <a:xfrm>
            <a:off x="867000" y="2187775"/>
            <a:ext cx="10336693" cy="4370216"/>
            <a:chOff x="0" y="-47625"/>
            <a:chExt cx="1808189" cy="1538700"/>
          </a:xfrm>
        </p:grpSpPr>
        <p:sp>
          <p:nvSpPr>
            <p:cNvPr id="892" name="Google Shape;892;g3bd8de7fc03_0_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93" name="Google Shape;893;g3bd8de7fc03_0_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894" name="Google Shape;894;g3bd8de7fc03_0_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200">
                <a:solidFill>
                  <a:srgbClr val="24314F"/>
                </a:solidFill>
                <a:latin typeface="Inter"/>
                <a:ea typeface="Inter"/>
                <a:cs typeface="Inter"/>
                <a:sym typeface="Inter"/>
              </a:rPr>
              <a:t>Access it through the link</a:t>
            </a:r>
            <a:endParaRPr b="1" sz="1200">
              <a:solidFill>
                <a:srgbClr val="24314F"/>
              </a:solidFill>
              <a:latin typeface="Inter"/>
              <a:ea typeface="Inter"/>
              <a:cs typeface="Inter"/>
              <a:sym typeface="Inter"/>
            </a:endParaRPr>
          </a:p>
        </p:txBody>
      </p:sp>
      <p:pic>
        <p:nvPicPr>
          <p:cNvPr id="895" name="Google Shape;895;g3bd8de7fc03_0_0"/>
          <p:cNvPicPr preferRelativeResize="0"/>
          <p:nvPr/>
        </p:nvPicPr>
        <p:blipFill>
          <a:blip r:embed="rId3">
            <a:alphaModFix/>
          </a:blip>
          <a:stretch>
            <a:fillRect/>
          </a:stretch>
        </p:blipFill>
        <p:spPr>
          <a:xfrm>
            <a:off x="2021033" y="2434972"/>
            <a:ext cx="8149698" cy="3875825"/>
          </a:xfrm>
          <a:prstGeom prst="rect">
            <a:avLst/>
          </a:prstGeom>
          <a:noFill/>
          <a:ln>
            <a:noFill/>
          </a:ln>
        </p:spPr>
      </p:pic>
      <p:sp>
        <p:nvSpPr>
          <p:cNvPr id="896" name="Google Shape;896;g3bd8de7fc03_0_0"/>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u="sng">
                <a:solidFill>
                  <a:schemeClr val="hlink"/>
                </a:solidFill>
                <a:latin typeface="Inter"/>
                <a:ea typeface="Inter"/>
                <a:cs typeface="Inter"/>
                <a:sym typeface="Inter"/>
                <a:hlinkClick r:id="rId4"/>
              </a:rPr>
              <a:t>https://github.com/hyscale-lab/ai-commons/wiki/vLLM%E2%80%90Omni-Guide</a:t>
            </a:r>
            <a:r>
              <a:rPr b="1" lang="en-US" sz="1600">
                <a:solidFill>
                  <a:srgbClr val="24314F"/>
                </a:solidFill>
                <a:latin typeface="Inter"/>
                <a:ea typeface="Inter"/>
                <a:cs typeface="Inter"/>
                <a:sym typeface="Inter"/>
              </a:rPr>
              <a:t> </a:t>
            </a:r>
            <a:endParaRPr b="1" sz="1600">
              <a:solidFill>
                <a:srgbClr val="24314F"/>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c68a7f1252_0_67"/>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903" name="Google Shape;903;g3c68a7f1252_0_67"/>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Add function calling (</a:t>
            </a:r>
            <a:r>
              <a:rPr lang="en-US" sz="1900">
                <a:solidFill>
                  <a:schemeClr val="dk1"/>
                </a:solidFill>
                <a:latin typeface="Roboto Mono"/>
                <a:ea typeface="Roboto Mono"/>
                <a:cs typeface="Roboto Mono"/>
                <a:sym typeface="Roboto Mono"/>
              </a:rPr>
              <a:t>search</a:t>
            </a:r>
            <a:r>
              <a:rPr lang="en-US" sz="1900">
                <a:solidFill>
                  <a:schemeClr val="dk1"/>
                </a:solidFill>
                <a:latin typeface="Roboto Mono"/>
                <a:ea typeface="Roboto Mono"/>
                <a:cs typeface="Roboto Mono"/>
                <a:sym typeface="Roboto Mono"/>
              </a:rPr>
              <a:t> and database retrieval)</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FAISS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read ShardMemo</a:t>
            </a:r>
            <a:endParaRPr sz="1900">
              <a:solidFill>
                <a:schemeClr val="dk1"/>
              </a:solidFill>
              <a:latin typeface="Roboto Mono"/>
              <a:ea typeface="Roboto Mono"/>
              <a:cs typeface="Roboto Mono"/>
              <a:sym typeface="Roboto Mon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g3b8af7cb24a_0_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Feb 4</a:t>
            </a:r>
            <a:r>
              <a:rPr lang="en-US">
                <a:solidFill>
                  <a:srgbClr val="FF0000"/>
                </a:solidFill>
                <a:latin typeface="ADLaM Display"/>
                <a:ea typeface="ADLaM Display"/>
                <a:cs typeface="ADLaM Display"/>
                <a:sym typeface="ADLaM Display"/>
              </a:rPr>
              <a:t>, 2026</a:t>
            </a:r>
            <a:endParaRPr>
              <a:solidFill>
                <a:srgbClr val="FF0000"/>
              </a:solidFill>
              <a:latin typeface="ADLaM Display"/>
              <a:ea typeface="ADLaM Display"/>
              <a:cs typeface="ADLaM Display"/>
              <a:sym typeface="ADLaM Display"/>
            </a:endParaRPr>
          </a:p>
        </p:txBody>
      </p:sp>
      <p:sp>
        <p:nvSpPr>
          <p:cNvPr id="909" name="Google Shape;909;g3b8af7cb24a_0_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caught a viral infection, sick.</a:t>
            </a:r>
            <a:endParaRPr/>
          </a:p>
          <a:p>
            <a:pPr indent="0" lvl="0" marL="0" rtl="0" algn="ctr">
              <a:lnSpc>
                <a:spcPct val="90000"/>
              </a:lnSpc>
              <a:spcBef>
                <a:spcPts val="0"/>
              </a:spcBef>
              <a:spcAft>
                <a:spcPts val="0"/>
              </a:spcAft>
              <a:buClr>
                <a:schemeClr val="dk1"/>
              </a:buClr>
              <a:buSzPts val="2400"/>
              <a:buNone/>
            </a:pPr>
            <a:r>
              <a:rPr lang="en-US"/>
              <a:t>VLLM Omni works (Implementing it now)</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c68a7f1252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Jan 28, 2026</a:t>
            </a:r>
            <a:endParaRPr>
              <a:solidFill>
                <a:srgbClr val="FF0000"/>
              </a:solidFill>
              <a:latin typeface="ADLaM Display"/>
              <a:ea typeface="ADLaM Display"/>
              <a:cs typeface="ADLaM Display"/>
              <a:sym typeface="ADLaM Display"/>
            </a:endParaRPr>
          </a:p>
        </p:txBody>
      </p:sp>
      <p:sp>
        <p:nvSpPr>
          <p:cNvPr id="915" name="Google Shape;915;g3c68a7f1252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b8af7cb24a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922" name="Google Shape;922;g3b8af7cb24a_0_0"/>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previous Pipeline with Branch Tracking and Resource Monitoring Tracks execution paths, GPU memory, and detailed timing for reasoning analysis </a:t>
            </a:r>
            <a:endParaRPr sz="29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grpSp>
        <p:nvGrpSpPr>
          <p:cNvPr id="927" name="Google Shape;927;g3b8d40042a9_0_26"/>
          <p:cNvGrpSpPr/>
          <p:nvPr/>
        </p:nvGrpSpPr>
        <p:grpSpPr>
          <a:xfrm>
            <a:off x="685800" y="1838306"/>
            <a:ext cx="10820186" cy="5020055"/>
            <a:chOff x="0" y="-47625"/>
            <a:chExt cx="4274726" cy="2214600"/>
          </a:xfrm>
        </p:grpSpPr>
        <p:sp>
          <p:nvSpPr>
            <p:cNvPr id="928" name="Google Shape;928;g3b8d40042a9_0_2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29" name="Google Shape;929;g3b8d40042a9_0_2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930" name="Google Shape;930;g3b8d40042a9_0_26"/>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Architecture (Compound AI System)</a:t>
            </a:r>
            <a:endParaRPr sz="1200"/>
          </a:p>
        </p:txBody>
      </p:sp>
      <p:grpSp>
        <p:nvGrpSpPr>
          <p:cNvPr id="931" name="Google Shape;931;g3b8d40042a9_0_26"/>
          <p:cNvGrpSpPr/>
          <p:nvPr/>
        </p:nvGrpSpPr>
        <p:grpSpPr>
          <a:xfrm>
            <a:off x="1076700" y="2113824"/>
            <a:ext cx="10093130" cy="5020103"/>
            <a:chOff x="0" y="-47625"/>
            <a:chExt cx="1808189" cy="1790400"/>
          </a:xfrm>
        </p:grpSpPr>
        <p:sp>
          <p:nvSpPr>
            <p:cNvPr id="932" name="Google Shape;932;g3b8d40042a9_0_2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33" name="Google Shape;933;g3b8d40042a9_0_26"/>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934" name="Google Shape;934;g3b8d40042a9_0_26"/>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935" name="Google Shape;935;g3b8d40042a9_0_26"/>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936" name="Google Shape;936;g3b8d40042a9_0_26"/>
          <p:cNvSpPr txBox="1"/>
          <p:nvPr/>
        </p:nvSpPr>
        <p:spPr>
          <a:xfrm>
            <a:off x="1379950" y="2483324"/>
            <a:ext cx="9531300" cy="37389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Perception: whisper-large-v3 (Port 8000)</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Audio-to-Text.</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Reasoning: gpt-oss (Port 8001)</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Text-to-Text &amp; Function Calling.</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Synthesis: Google TTS (with local Wav fallback) </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Text-to-Audio.</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Why this approach?</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Since GPT-OSS is a text-only model, it cannot run as a native Omni model (like Llama-3.1-Omni).</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This modular wrapper gives GPT-OSS "hearing and speaking" capabilities.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It allows us to isolate specific reasoning latency.</a:t>
            </a:r>
            <a:endParaRPr b="1" sz="1633">
              <a:solidFill>
                <a:srgbClr val="24314F"/>
              </a:solidFill>
              <a:latin typeface="Inter"/>
              <a:ea typeface="Inter"/>
              <a:cs typeface="Inter"/>
              <a:sym typeface="Inte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grpSp>
        <p:nvGrpSpPr>
          <p:cNvPr id="941" name="Google Shape;941;g3b8d40042a9_0_39"/>
          <p:cNvGrpSpPr/>
          <p:nvPr/>
        </p:nvGrpSpPr>
        <p:grpSpPr>
          <a:xfrm>
            <a:off x="685800" y="1838306"/>
            <a:ext cx="10820186" cy="5020055"/>
            <a:chOff x="0" y="-47625"/>
            <a:chExt cx="4274726" cy="2214600"/>
          </a:xfrm>
        </p:grpSpPr>
        <p:sp>
          <p:nvSpPr>
            <p:cNvPr id="942" name="Google Shape;942;g3b8d40042a9_0_3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43" name="Google Shape;943;g3b8d40042a9_0_3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944" name="Google Shape;944;g3b8d40042a9_0_39"/>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Experimental Setup</a:t>
            </a:r>
            <a:endParaRPr sz="1200"/>
          </a:p>
        </p:txBody>
      </p:sp>
      <p:grpSp>
        <p:nvGrpSpPr>
          <p:cNvPr id="945" name="Google Shape;945;g3b8d40042a9_0_39"/>
          <p:cNvGrpSpPr/>
          <p:nvPr/>
        </p:nvGrpSpPr>
        <p:grpSpPr>
          <a:xfrm>
            <a:off x="1076700" y="2113824"/>
            <a:ext cx="10093130" cy="5020103"/>
            <a:chOff x="0" y="-47625"/>
            <a:chExt cx="1808189" cy="1790400"/>
          </a:xfrm>
        </p:grpSpPr>
        <p:sp>
          <p:nvSpPr>
            <p:cNvPr id="946" name="Google Shape;946;g3b8d40042a9_0_39"/>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47" name="Google Shape;947;g3b8d40042a9_0_39"/>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948" name="Google Shape;948;g3b8d40042a9_0_39"/>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949" name="Google Shape;949;g3b8d40042a9_0_39"/>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u="sng">
                <a:solidFill>
                  <a:schemeClr val="hlink"/>
                </a:solidFill>
                <a:latin typeface="Inter"/>
                <a:ea typeface="Inter"/>
                <a:cs typeface="Inter"/>
                <a:sym typeface="Inter"/>
                <a:hlinkClick r:id="rId3"/>
              </a:rPr>
              <a:t>https://huggingface.co/datasets/PolyAI/banking77</a:t>
            </a:r>
            <a:r>
              <a:rPr b="1" lang="en-US" sz="1600">
                <a:solidFill>
                  <a:srgbClr val="24314F"/>
                </a:solidFill>
                <a:latin typeface="Inter"/>
                <a:ea typeface="Inter"/>
                <a:cs typeface="Inter"/>
                <a:sym typeface="Inter"/>
              </a:rPr>
              <a:t> </a:t>
            </a:r>
            <a:endParaRPr b="1" sz="1600">
              <a:solidFill>
                <a:srgbClr val="24314F"/>
              </a:solidFill>
              <a:latin typeface="Inter"/>
              <a:ea typeface="Inter"/>
              <a:cs typeface="Inter"/>
              <a:sym typeface="Inter"/>
            </a:endParaRPr>
          </a:p>
        </p:txBody>
      </p:sp>
      <p:sp>
        <p:nvSpPr>
          <p:cNvPr id="950" name="Google Shape;950;g3b8d40042a9_0_39"/>
          <p:cNvSpPr txBox="1"/>
          <p:nvPr/>
        </p:nvSpPr>
        <p:spPr>
          <a:xfrm>
            <a:off x="1379950" y="2483324"/>
            <a:ext cx="9531300" cy="362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Synthetic Dataset Generation: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Total Samples: 100 Audio Files.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20% Tool Use: "Phone Number Lookups" (Requires precise parameter extraction).</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80% General Chat: "Jokes," "Exchange Rates" (Requires creative text generation). (PolyAI/banking77)</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Infrastructure (HPC Node):</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Hardware: Single GPU Node (110GB RAM).</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Optimization: Implemented Sequential Loading logic (Whisper First then GPT-OSS)</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1200"/>
              </a:spcAft>
              <a:buNone/>
            </a:pPr>
            <a:r>
              <a:t/>
            </a:r>
            <a:endParaRPr b="1" sz="1633">
              <a:solidFill>
                <a:srgbClr val="24314F"/>
              </a:solidFill>
              <a:latin typeface="Inter"/>
              <a:ea typeface="Inter"/>
              <a:cs typeface="Inter"/>
              <a:sym typeface="Inte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g3b8d40042a9_0_52"/>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The Bimodal behaviour</a:t>
            </a:r>
            <a:endParaRPr sz="1200"/>
          </a:p>
        </p:txBody>
      </p:sp>
      <p:sp>
        <p:nvSpPr>
          <p:cNvPr id="956" name="Google Shape;956;g3b8d40042a9_0_52"/>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957" name="Google Shape;957;g3b8d40042a9_0_52"/>
          <p:cNvSpPr txBox="1"/>
          <p:nvPr/>
        </p:nvSpPr>
        <p:spPr>
          <a:xfrm>
            <a:off x="685799" y="2013792"/>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pic>
        <p:nvPicPr>
          <p:cNvPr id="958" name="Google Shape;958;g3b8d40042a9_0_52"/>
          <p:cNvPicPr preferRelativeResize="0"/>
          <p:nvPr/>
        </p:nvPicPr>
        <p:blipFill>
          <a:blip r:embed="rId3">
            <a:alphaModFix/>
          </a:blip>
          <a:stretch>
            <a:fillRect/>
          </a:stretch>
        </p:blipFill>
        <p:spPr>
          <a:xfrm>
            <a:off x="366475" y="2013792"/>
            <a:ext cx="5410033" cy="3246554"/>
          </a:xfrm>
          <a:prstGeom prst="rect">
            <a:avLst/>
          </a:prstGeom>
          <a:noFill/>
          <a:ln>
            <a:noFill/>
          </a:ln>
        </p:spPr>
      </p:pic>
      <p:pic>
        <p:nvPicPr>
          <p:cNvPr id="959" name="Google Shape;959;g3b8d40042a9_0_52"/>
          <p:cNvPicPr preferRelativeResize="0"/>
          <p:nvPr/>
        </p:nvPicPr>
        <p:blipFill>
          <a:blip r:embed="rId4">
            <a:alphaModFix/>
          </a:blip>
          <a:stretch>
            <a:fillRect/>
          </a:stretch>
        </p:blipFill>
        <p:spPr>
          <a:xfrm>
            <a:off x="5776512" y="2013793"/>
            <a:ext cx="5410058" cy="3246554"/>
          </a:xfrm>
          <a:prstGeom prst="rect">
            <a:avLst/>
          </a:prstGeom>
          <a:noFill/>
          <a:ln>
            <a:noFill/>
          </a:ln>
        </p:spPr>
      </p:pic>
      <p:sp>
        <p:nvSpPr>
          <p:cNvPr id="960" name="Google Shape;960;g3b8d40042a9_0_52"/>
          <p:cNvSpPr txBox="1"/>
          <p:nvPr/>
        </p:nvSpPr>
        <p:spPr>
          <a:xfrm>
            <a:off x="685800" y="5443792"/>
            <a:ext cx="10500900" cy="7542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76% of simple queries are handled in an “Instinctive” mode with zero thinking tokens and below 5 second latency. However, complex tasks trigger a “Deliberate state that generates ~400 reasoning </a:t>
            </a:r>
            <a:r>
              <a:rPr b="1" lang="en-US" sz="1633">
                <a:solidFill>
                  <a:srgbClr val="24314F"/>
                </a:solidFill>
                <a:latin typeface="Inter"/>
                <a:ea typeface="Inter"/>
                <a:cs typeface="Inter"/>
                <a:sym typeface="Inter"/>
              </a:rPr>
              <a:t>tokens driving a 3.6x spike in response time to ~18 s.</a:t>
            </a:r>
            <a:endParaRPr b="1" sz="1633">
              <a:solidFill>
                <a:srgbClr val="24314F"/>
              </a:solidFill>
              <a:latin typeface="Inter"/>
              <a:ea typeface="Inter"/>
              <a:cs typeface="Inter"/>
              <a:sym typeface="Inter"/>
            </a:endParaRPr>
          </a:p>
        </p:txBody>
      </p:sp>
      <p:sp>
        <p:nvSpPr>
          <p:cNvPr id="961" name="Google Shape;961;g3b8d40042a9_0_52"/>
          <p:cNvSpPr/>
          <p:nvPr/>
        </p:nvSpPr>
        <p:spPr>
          <a:xfrm>
            <a:off x="772450" y="2117342"/>
            <a:ext cx="1226400" cy="2544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2" name="Google Shape;962;g3b8d40042a9_0_52"/>
          <p:cNvSpPr/>
          <p:nvPr/>
        </p:nvSpPr>
        <p:spPr>
          <a:xfrm>
            <a:off x="6039650" y="2013792"/>
            <a:ext cx="1700400" cy="2544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3" name="Google Shape;963;g3b8d40042a9_0_52"/>
          <p:cNvSpPr/>
          <p:nvPr/>
        </p:nvSpPr>
        <p:spPr>
          <a:xfrm>
            <a:off x="8150975" y="2013792"/>
            <a:ext cx="2664300" cy="2544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4" name="Google Shape;964;g3b8d40042a9_0_52"/>
          <p:cNvSpPr/>
          <p:nvPr/>
        </p:nvSpPr>
        <p:spPr>
          <a:xfrm>
            <a:off x="2336775" y="2117342"/>
            <a:ext cx="2954100" cy="2544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g3b8d40042a9_0_52"/>
          <p:cNvSpPr txBox="1"/>
          <p:nvPr/>
        </p:nvSpPr>
        <p:spPr>
          <a:xfrm>
            <a:off x="366475" y="1830342"/>
            <a:ext cx="1789200" cy="251400"/>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chemeClr val="accent6"/>
                </a:solidFill>
                <a:latin typeface="Inter"/>
                <a:ea typeface="Inter"/>
                <a:cs typeface="Inter"/>
                <a:sym typeface="Inter"/>
              </a:rPr>
              <a:t>Instinctive</a:t>
            </a:r>
            <a:endParaRPr b="1" sz="1633">
              <a:solidFill>
                <a:schemeClr val="accent6"/>
              </a:solidFill>
              <a:latin typeface="Inter"/>
              <a:ea typeface="Inter"/>
              <a:cs typeface="Inter"/>
              <a:sym typeface="Inter"/>
            </a:endParaRPr>
          </a:p>
        </p:txBody>
      </p:sp>
      <p:sp>
        <p:nvSpPr>
          <p:cNvPr id="966" name="Google Shape;966;g3b8d40042a9_0_52"/>
          <p:cNvSpPr txBox="1"/>
          <p:nvPr/>
        </p:nvSpPr>
        <p:spPr>
          <a:xfrm>
            <a:off x="2919225" y="1848142"/>
            <a:ext cx="1789200" cy="251400"/>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rgbClr val="FF0000"/>
                </a:solidFill>
                <a:latin typeface="Inter"/>
                <a:ea typeface="Inter"/>
                <a:cs typeface="Inter"/>
                <a:sym typeface="Inter"/>
              </a:rPr>
              <a:t>Deliberate</a:t>
            </a:r>
            <a:endParaRPr b="1" sz="1633">
              <a:solidFill>
                <a:srgbClr val="FF0000"/>
              </a:solidFill>
              <a:latin typeface="Inter"/>
              <a:ea typeface="Inter"/>
              <a:cs typeface="Inter"/>
              <a:sym typeface="Inter"/>
            </a:endParaRPr>
          </a:p>
        </p:txBody>
      </p:sp>
      <p:sp>
        <p:nvSpPr>
          <p:cNvPr id="967" name="Google Shape;967;g3b8d40042a9_0_52"/>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Performance is bimodal, not uniform. The model switches between two distinct cognitive states.</a:t>
            </a:r>
            <a:endParaRPr b="1" sz="1600">
              <a:solidFill>
                <a:srgbClr val="24314F"/>
              </a:solidFill>
              <a:latin typeface="Inter"/>
              <a:ea typeface="Inter"/>
              <a:cs typeface="Inter"/>
              <a:sym typeface="Inte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bb7d475605_0_2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Cost of Complexity</a:t>
            </a:r>
            <a:endParaRPr sz="1200"/>
          </a:p>
        </p:txBody>
      </p:sp>
      <p:sp>
        <p:nvSpPr>
          <p:cNvPr id="973" name="Google Shape;973;g3bb7d475605_0_2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974" name="Google Shape;974;g3bb7d475605_0_20"/>
          <p:cNvSpPr txBox="1"/>
          <p:nvPr/>
        </p:nvSpPr>
        <p:spPr>
          <a:xfrm>
            <a:off x="337931" y="2162810"/>
            <a:ext cx="11450700" cy="2607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93">
              <a:solidFill>
                <a:srgbClr val="24314F"/>
              </a:solidFill>
              <a:latin typeface="Inter"/>
              <a:ea typeface="Inter"/>
              <a:cs typeface="Inter"/>
              <a:sym typeface="Inter"/>
            </a:endParaRPr>
          </a:p>
        </p:txBody>
      </p:sp>
      <p:sp>
        <p:nvSpPr>
          <p:cNvPr id="975" name="Google Shape;975;g3bb7d475605_0_20"/>
          <p:cNvSpPr txBox="1"/>
          <p:nvPr/>
        </p:nvSpPr>
        <p:spPr>
          <a:xfrm>
            <a:off x="685800" y="5443792"/>
            <a:ext cx="10500900" cy="7542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Each additional logical step (branch) costs ~60 tokens of thought and adds ~2.5 seconds to the user wait time.</a:t>
            </a:r>
            <a:endParaRPr b="1" sz="1633">
              <a:solidFill>
                <a:srgbClr val="24314F"/>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This shows that it is compute bound. The 18s delay is the price of building a 6-step reasoning tree</a:t>
            </a:r>
            <a:endParaRPr b="1" sz="1633">
              <a:solidFill>
                <a:srgbClr val="24314F"/>
              </a:solidFill>
              <a:latin typeface="Inter"/>
              <a:ea typeface="Inter"/>
              <a:cs typeface="Inter"/>
              <a:sym typeface="Inter"/>
            </a:endParaRPr>
          </a:p>
        </p:txBody>
      </p:sp>
      <p:sp>
        <p:nvSpPr>
          <p:cNvPr id="976" name="Google Shape;976;g3bb7d475605_0_20"/>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Latency is the direct cost of structural reasoning.</a:t>
            </a:r>
            <a:endParaRPr b="1" sz="1600">
              <a:solidFill>
                <a:srgbClr val="24314F"/>
              </a:solidFill>
              <a:latin typeface="Inter"/>
              <a:ea typeface="Inter"/>
              <a:cs typeface="Inter"/>
              <a:sym typeface="Inter"/>
            </a:endParaRPr>
          </a:p>
        </p:txBody>
      </p:sp>
      <p:pic>
        <p:nvPicPr>
          <p:cNvPr id="977" name="Google Shape;977;g3bb7d475605_0_20"/>
          <p:cNvPicPr preferRelativeResize="0"/>
          <p:nvPr/>
        </p:nvPicPr>
        <p:blipFill>
          <a:blip r:embed="rId3">
            <a:alphaModFix/>
          </a:blip>
          <a:stretch>
            <a:fillRect/>
          </a:stretch>
        </p:blipFill>
        <p:spPr>
          <a:xfrm>
            <a:off x="0" y="1691454"/>
            <a:ext cx="4001075" cy="2401033"/>
          </a:xfrm>
          <a:prstGeom prst="rect">
            <a:avLst/>
          </a:prstGeom>
          <a:noFill/>
          <a:ln>
            <a:noFill/>
          </a:ln>
        </p:spPr>
      </p:pic>
      <p:pic>
        <p:nvPicPr>
          <p:cNvPr id="978" name="Google Shape;978;g3bb7d475605_0_20"/>
          <p:cNvPicPr preferRelativeResize="0"/>
          <p:nvPr/>
        </p:nvPicPr>
        <p:blipFill>
          <a:blip r:embed="rId4">
            <a:alphaModFix/>
          </a:blip>
          <a:stretch>
            <a:fillRect/>
          </a:stretch>
        </p:blipFill>
        <p:spPr>
          <a:xfrm>
            <a:off x="3774999" y="1641200"/>
            <a:ext cx="4227180" cy="2536714"/>
          </a:xfrm>
          <a:prstGeom prst="rect">
            <a:avLst/>
          </a:prstGeom>
          <a:noFill/>
          <a:ln>
            <a:noFill/>
          </a:ln>
        </p:spPr>
      </p:pic>
      <p:pic>
        <p:nvPicPr>
          <p:cNvPr id="979" name="Google Shape;979;g3bb7d475605_0_20"/>
          <p:cNvPicPr preferRelativeResize="0"/>
          <p:nvPr/>
        </p:nvPicPr>
        <p:blipFill>
          <a:blip r:embed="rId5">
            <a:alphaModFix/>
          </a:blip>
          <a:stretch>
            <a:fillRect/>
          </a:stretch>
        </p:blipFill>
        <p:spPr>
          <a:xfrm>
            <a:off x="8002187" y="1768501"/>
            <a:ext cx="4189804" cy="2514291"/>
          </a:xfrm>
          <a:prstGeom prst="rect">
            <a:avLst/>
          </a:prstGeom>
          <a:noFill/>
          <a:ln>
            <a:noFill/>
          </a:ln>
        </p:spPr>
      </p:pic>
      <p:cxnSp>
        <p:nvCxnSpPr>
          <p:cNvPr id="980" name="Google Shape;980;g3bb7d475605_0_20"/>
          <p:cNvCxnSpPr/>
          <p:nvPr/>
        </p:nvCxnSpPr>
        <p:spPr>
          <a:xfrm flipH="1" rot="10800000">
            <a:off x="679050" y="2107700"/>
            <a:ext cx="2688600" cy="1736100"/>
          </a:xfrm>
          <a:prstGeom prst="straightConnector1">
            <a:avLst/>
          </a:prstGeom>
          <a:noFill/>
          <a:ln cap="flat" cmpd="sng" w="19050">
            <a:solidFill>
              <a:schemeClr val="accent6"/>
            </a:solidFill>
            <a:prstDash val="solid"/>
            <a:round/>
            <a:headEnd len="med" w="med" type="none"/>
            <a:tailEnd len="med" w="med" type="triangle"/>
          </a:ln>
        </p:spPr>
      </p:cxnSp>
      <p:sp>
        <p:nvSpPr>
          <p:cNvPr id="981" name="Google Shape;981;g3bb7d475605_0_20"/>
          <p:cNvSpPr txBox="1"/>
          <p:nvPr/>
        </p:nvSpPr>
        <p:spPr>
          <a:xfrm rot="-1938092">
            <a:off x="1106006" y="2850043"/>
            <a:ext cx="2688562" cy="251351"/>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chemeClr val="accent6"/>
                </a:solidFill>
                <a:latin typeface="Inter"/>
                <a:ea typeface="Inter"/>
                <a:cs typeface="Inter"/>
                <a:sym typeface="Inter"/>
              </a:rPr>
              <a:t>+2.5s per Branch</a:t>
            </a:r>
            <a:endParaRPr b="1" sz="1633">
              <a:solidFill>
                <a:schemeClr val="accent6"/>
              </a:solidFill>
              <a:latin typeface="Inter"/>
              <a:ea typeface="Inter"/>
              <a:cs typeface="Inter"/>
              <a:sym typeface="Inter"/>
            </a:endParaRPr>
          </a:p>
        </p:txBody>
      </p:sp>
      <p:sp>
        <p:nvSpPr>
          <p:cNvPr id="982" name="Google Shape;982;g3bb7d475605_0_20"/>
          <p:cNvSpPr/>
          <p:nvPr/>
        </p:nvSpPr>
        <p:spPr>
          <a:xfrm>
            <a:off x="7060275" y="1898625"/>
            <a:ext cx="461700" cy="3345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3" name="Google Shape;983;g3bb7d475605_0_20"/>
          <p:cNvSpPr txBox="1"/>
          <p:nvPr/>
        </p:nvSpPr>
        <p:spPr>
          <a:xfrm>
            <a:off x="5869700" y="2233117"/>
            <a:ext cx="1789200" cy="754200"/>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chemeClr val="accent6"/>
                </a:solidFill>
                <a:latin typeface="Inter"/>
                <a:ea typeface="Inter"/>
                <a:cs typeface="Inter"/>
                <a:sym typeface="Inter"/>
              </a:rPr>
              <a:t>Reasoning Tree Construction</a:t>
            </a:r>
            <a:endParaRPr b="1" sz="1633">
              <a:solidFill>
                <a:schemeClr val="accent6"/>
              </a:solidFill>
              <a:latin typeface="Inter"/>
              <a:ea typeface="Inter"/>
              <a:cs typeface="Inter"/>
              <a:sym typeface="Inte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bb7d475605_0_6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Operational Impact</a:t>
            </a:r>
            <a:endParaRPr sz="1200"/>
          </a:p>
        </p:txBody>
      </p:sp>
      <p:sp>
        <p:nvSpPr>
          <p:cNvPr id="989" name="Google Shape;989;g3bb7d475605_0_6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990" name="Google Shape;990;g3bb7d475605_0_60"/>
          <p:cNvSpPr txBox="1"/>
          <p:nvPr/>
        </p:nvSpPr>
        <p:spPr>
          <a:xfrm>
            <a:off x="337931" y="2162810"/>
            <a:ext cx="11450700" cy="2607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93">
              <a:solidFill>
                <a:srgbClr val="24314F"/>
              </a:solidFill>
              <a:latin typeface="Inter"/>
              <a:ea typeface="Inter"/>
              <a:cs typeface="Inter"/>
              <a:sym typeface="Inter"/>
            </a:endParaRPr>
          </a:p>
        </p:txBody>
      </p:sp>
      <p:sp>
        <p:nvSpPr>
          <p:cNvPr id="991" name="Google Shape;991;g3bb7d475605_0_60"/>
          <p:cNvSpPr txBox="1"/>
          <p:nvPr/>
        </p:nvSpPr>
        <p:spPr>
          <a:xfrm>
            <a:off x="685800" y="5443792"/>
            <a:ext cx="10500900" cy="7542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Memory usage is static (reserved at 38GB), but time usage is highly volatile.</a:t>
            </a:r>
            <a:endParaRPr b="1" sz="1633">
              <a:solidFill>
                <a:srgbClr val="24314F"/>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Complex reasoning comes with a 50% speed penalty.</a:t>
            </a:r>
            <a:endParaRPr b="1" sz="1633">
              <a:solidFill>
                <a:srgbClr val="24314F"/>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Simple Queries take ~120 tokens/sec and Complex Queries ~60 tokens/sec</a:t>
            </a:r>
            <a:endParaRPr b="1" sz="1633">
              <a:solidFill>
                <a:srgbClr val="24314F"/>
              </a:solidFill>
              <a:latin typeface="Inter"/>
              <a:ea typeface="Inter"/>
              <a:cs typeface="Inter"/>
              <a:sym typeface="Inter"/>
            </a:endParaRPr>
          </a:p>
        </p:txBody>
      </p:sp>
      <p:sp>
        <p:nvSpPr>
          <p:cNvPr id="992" name="Google Shape;992;g3bb7d475605_0_60"/>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Latency is not random overhead; it is the direct cost of structural reasoning.</a:t>
            </a:r>
            <a:endParaRPr b="1" sz="1600">
              <a:solidFill>
                <a:srgbClr val="24314F"/>
              </a:solidFill>
              <a:latin typeface="Inter"/>
              <a:ea typeface="Inter"/>
              <a:cs typeface="Inter"/>
              <a:sym typeface="Inter"/>
            </a:endParaRPr>
          </a:p>
        </p:txBody>
      </p:sp>
      <p:pic>
        <p:nvPicPr>
          <p:cNvPr id="993" name="Google Shape;993;g3bb7d475605_0_60"/>
          <p:cNvPicPr preferRelativeResize="0"/>
          <p:nvPr/>
        </p:nvPicPr>
        <p:blipFill>
          <a:blip r:embed="rId3">
            <a:alphaModFix/>
          </a:blip>
          <a:stretch>
            <a:fillRect/>
          </a:stretch>
        </p:blipFill>
        <p:spPr>
          <a:xfrm>
            <a:off x="0" y="1691454"/>
            <a:ext cx="4001075" cy="2401033"/>
          </a:xfrm>
          <a:prstGeom prst="rect">
            <a:avLst/>
          </a:prstGeom>
          <a:noFill/>
          <a:ln>
            <a:noFill/>
          </a:ln>
        </p:spPr>
      </p:pic>
      <p:pic>
        <p:nvPicPr>
          <p:cNvPr id="994" name="Google Shape;994;g3bb7d475605_0_60"/>
          <p:cNvPicPr preferRelativeResize="0"/>
          <p:nvPr/>
        </p:nvPicPr>
        <p:blipFill>
          <a:blip r:embed="rId4">
            <a:alphaModFix/>
          </a:blip>
          <a:stretch>
            <a:fillRect/>
          </a:stretch>
        </p:blipFill>
        <p:spPr>
          <a:xfrm>
            <a:off x="121800" y="1641200"/>
            <a:ext cx="4098673" cy="2598601"/>
          </a:xfrm>
          <a:prstGeom prst="rect">
            <a:avLst/>
          </a:prstGeom>
          <a:noFill/>
          <a:ln>
            <a:noFill/>
          </a:ln>
        </p:spPr>
      </p:pic>
      <p:pic>
        <p:nvPicPr>
          <p:cNvPr id="995" name="Google Shape;995;g3bb7d475605_0_60"/>
          <p:cNvPicPr preferRelativeResize="0"/>
          <p:nvPr/>
        </p:nvPicPr>
        <p:blipFill>
          <a:blip r:embed="rId5">
            <a:alphaModFix/>
          </a:blip>
          <a:stretch>
            <a:fillRect/>
          </a:stretch>
        </p:blipFill>
        <p:spPr>
          <a:xfrm>
            <a:off x="4167839" y="1829126"/>
            <a:ext cx="4098678" cy="2459607"/>
          </a:xfrm>
          <a:prstGeom prst="rect">
            <a:avLst/>
          </a:prstGeom>
          <a:noFill/>
          <a:ln>
            <a:noFill/>
          </a:ln>
        </p:spPr>
      </p:pic>
      <p:pic>
        <p:nvPicPr>
          <p:cNvPr id="996" name="Google Shape;996;g3bb7d475605_0_60"/>
          <p:cNvPicPr preferRelativeResize="0"/>
          <p:nvPr/>
        </p:nvPicPr>
        <p:blipFill>
          <a:blip r:embed="rId6">
            <a:alphaModFix/>
          </a:blip>
          <a:stretch>
            <a:fillRect/>
          </a:stretch>
        </p:blipFill>
        <p:spPr>
          <a:xfrm>
            <a:off x="8373208" y="1829136"/>
            <a:ext cx="3708970" cy="2781727"/>
          </a:xfrm>
          <a:prstGeom prst="rect">
            <a:avLst/>
          </a:prstGeom>
          <a:noFill/>
          <a:ln>
            <a:noFill/>
          </a:ln>
        </p:spPr>
      </p:pic>
      <p:sp>
        <p:nvSpPr>
          <p:cNvPr id="997" name="Google Shape;997;g3bb7d475605_0_60"/>
          <p:cNvSpPr txBox="1"/>
          <p:nvPr/>
        </p:nvSpPr>
        <p:spPr>
          <a:xfrm>
            <a:off x="337925" y="4326175"/>
            <a:ext cx="3519600" cy="502800"/>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chemeClr val="accent6"/>
                </a:solidFill>
                <a:latin typeface="Inter"/>
                <a:ea typeface="Inter"/>
                <a:cs typeface="Inter"/>
                <a:sym typeface="Inter"/>
              </a:rPr>
              <a:t>Static Memory Footprint (38GB)</a:t>
            </a:r>
            <a:endParaRPr b="1" sz="1633">
              <a:solidFill>
                <a:schemeClr val="accent6"/>
              </a:solidFill>
              <a:latin typeface="Inter"/>
              <a:ea typeface="Inter"/>
              <a:cs typeface="Inter"/>
              <a:sym typeface="Inter"/>
            </a:endParaRPr>
          </a:p>
        </p:txBody>
      </p:sp>
      <p:cxnSp>
        <p:nvCxnSpPr>
          <p:cNvPr id="998" name="Google Shape;998;g3bb7d475605_0_60"/>
          <p:cNvCxnSpPr/>
          <p:nvPr/>
        </p:nvCxnSpPr>
        <p:spPr>
          <a:xfrm flipH="1">
            <a:off x="6359050" y="2192650"/>
            <a:ext cx="1504800" cy="352500"/>
          </a:xfrm>
          <a:prstGeom prst="straightConnector1">
            <a:avLst/>
          </a:prstGeom>
          <a:noFill/>
          <a:ln cap="flat" cmpd="sng" w="19050">
            <a:solidFill>
              <a:schemeClr val="accent6"/>
            </a:solidFill>
            <a:prstDash val="solid"/>
            <a:round/>
            <a:headEnd len="med" w="med" type="none"/>
            <a:tailEnd len="med" w="med" type="triangle"/>
          </a:ln>
        </p:spPr>
      </p:cxnSp>
      <p:sp>
        <p:nvSpPr>
          <p:cNvPr id="999" name="Google Shape;999;g3bb7d475605_0_60"/>
          <p:cNvSpPr txBox="1"/>
          <p:nvPr/>
        </p:nvSpPr>
        <p:spPr>
          <a:xfrm>
            <a:off x="4722500" y="4326175"/>
            <a:ext cx="3463800" cy="251400"/>
          </a:xfrm>
          <a:prstGeom prst="rect">
            <a:avLst/>
          </a:prstGeom>
          <a:noFill/>
          <a:ln>
            <a:noFill/>
          </a:ln>
        </p:spPr>
        <p:txBody>
          <a:bodyPr anchorCtr="0" anchor="t" bIns="0" lIns="0" spcFirstLastPara="1" rIns="0" wrap="square" tIns="0">
            <a:spAutoFit/>
          </a:bodyPr>
          <a:lstStyle/>
          <a:p>
            <a:pPr indent="0" lvl="0" marL="457200" rtl="0" algn="l">
              <a:spcBef>
                <a:spcPts val="1200"/>
              </a:spcBef>
              <a:spcAft>
                <a:spcPts val="1200"/>
              </a:spcAft>
              <a:buNone/>
            </a:pPr>
            <a:r>
              <a:rPr b="1" lang="en-US" sz="1633">
                <a:solidFill>
                  <a:schemeClr val="accent6"/>
                </a:solidFill>
                <a:latin typeface="Inter"/>
                <a:ea typeface="Inter"/>
                <a:cs typeface="Inter"/>
                <a:sym typeface="Inter"/>
              </a:rPr>
              <a:t>50% Throughput Drop</a:t>
            </a:r>
            <a:endParaRPr b="1" sz="1633">
              <a:solidFill>
                <a:schemeClr val="accent6"/>
              </a:solidFill>
              <a:latin typeface="Inter"/>
              <a:ea typeface="Inter"/>
              <a:cs typeface="Inter"/>
              <a:sym typeface="Inte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grpSp>
        <p:nvGrpSpPr>
          <p:cNvPr id="1004" name="Google Shape;1004;g3bb7d475605_0_42"/>
          <p:cNvGrpSpPr/>
          <p:nvPr/>
        </p:nvGrpSpPr>
        <p:grpSpPr>
          <a:xfrm>
            <a:off x="685800" y="1838306"/>
            <a:ext cx="10820186" cy="5020055"/>
            <a:chOff x="0" y="-47625"/>
            <a:chExt cx="4274726" cy="2214600"/>
          </a:xfrm>
        </p:grpSpPr>
        <p:sp>
          <p:nvSpPr>
            <p:cNvPr id="1005" name="Google Shape;1005;g3bb7d475605_0_42"/>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06" name="Google Shape;1006;g3bb7d475605_0_42"/>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07" name="Google Shape;1007;g3bb7d475605_0_42"/>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Conclusion</a:t>
            </a:r>
            <a:endParaRPr sz="1200"/>
          </a:p>
        </p:txBody>
      </p:sp>
      <p:grpSp>
        <p:nvGrpSpPr>
          <p:cNvPr id="1008" name="Google Shape;1008;g3bb7d475605_0_42"/>
          <p:cNvGrpSpPr/>
          <p:nvPr/>
        </p:nvGrpSpPr>
        <p:grpSpPr>
          <a:xfrm>
            <a:off x="1076700" y="2275699"/>
            <a:ext cx="10093130" cy="1853601"/>
            <a:chOff x="0" y="-47625"/>
            <a:chExt cx="1808189" cy="1790400"/>
          </a:xfrm>
        </p:grpSpPr>
        <p:sp>
          <p:nvSpPr>
            <p:cNvPr id="1009" name="Google Shape;1009;g3bb7d475605_0_42"/>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10" name="Google Shape;1010;g3bb7d475605_0_42"/>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11" name="Google Shape;1011;g3bb7d475605_0_42"/>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012" name="Google Shape;1012;g3bb7d475605_0_42"/>
          <p:cNvSpPr txBox="1"/>
          <p:nvPr/>
        </p:nvSpPr>
        <p:spPr>
          <a:xfrm>
            <a:off x="1493100" y="2629500"/>
            <a:ext cx="9113100" cy="9555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results</a:t>
            </a:r>
            <a:r>
              <a:rPr b="1" lang="en-US" sz="1633">
                <a:solidFill>
                  <a:srgbClr val="24314F"/>
                </a:solidFill>
                <a:latin typeface="Inter"/>
                <a:ea typeface="Inter"/>
                <a:cs typeface="Inter"/>
                <a:sym typeface="Inter"/>
              </a:rPr>
              <a:t> show that latency and throughput degradation are not incidental, but an inherent cost of structured reasoning. This highlights the need for systems-level strategies that selectively invoke or amortize expensive reasoning paths.</a:t>
            </a:r>
            <a:endParaRPr b="1" sz="1633">
              <a:solidFill>
                <a:srgbClr val="24314F"/>
              </a:solidFill>
              <a:latin typeface="Inter"/>
              <a:ea typeface="Inter"/>
              <a:cs typeface="Inter"/>
              <a:sym typeface="Inte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bfbc9654a3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1019" name="Google Shape;1019;g3bfbc9654a3_0_0"/>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current AI project from a multi-server setup to a Single, offline Python Script using Qwen2,5-Omni and vLLM-Omni 0.11.0 to handle audio-to-text-tool-use natively on the GPU (on-going)</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measure accuracy vs branch number, ttft, tbt</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write vllm omni guide</a:t>
            </a:r>
            <a:endParaRPr sz="1900">
              <a:solidFill>
                <a:schemeClr val="dk1"/>
              </a:solidFill>
              <a:latin typeface="Roboto Mono"/>
              <a:ea typeface="Roboto Mono"/>
              <a:cs typeface="Roboto Mono"/>
              <a:sym typeface="Roboto Mon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g3bb7d475605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Jan 21, 2026</a:t>
            </a:r>
            <a:endParaRPr>
              <a:solidFill>
                <a:srgbClr val="FF0000"/>
              </a:solidFill>
              <a:latin typeface="ADLaM Display"/>
              <a:ea typeface="ADLaM Display"/>
              <a:cs typeface="ADLaM Display"/>
              <a:sym typeface="ADLaM Display"/>
            </a:endParaRPr>
          </a:p>
        </p:txBody>
      </p:sp>
      <p:sp>
        <p:nvSpPr>
          <p:cNvPr id="1025" name="Google Shape;1025;g3bb7d475605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Not feeling well</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aaef876a32_1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Jan 14, 2026</a:t>
            </a:r>
            <a:endParaRPr>
              <a:solidFill>
                <a:srgbClr val="FF0000"/>
              </a:solidFill>
              <a:latin typeface="ADLaM Display"/>
              <a:ea typeface="ADLaM Display"/>
              <a:cs typeface="ADLaM Display"/>
              <a:sym typeface="ADLaM Display"/>
            </a:endParaRPr>
          </a:p>
        </p:txBody>
      </p:sp>
      <p:sp>
        <p:nvSpPr>
          <p:cNvPr id="1031" name="Google Shape;1031;g3aaef876a32_1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b2749457dd_0_5"/>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038" name="Google Shape;1038;g3b2749457dd_0_5"/>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previous Pipeline with Branch Tracking and Resource Monitoring Tracks execution paths, GPU memory, and detailed timing for reasoning analysis (on-going)</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Read the paper of New Trends for Modern Machine Translation with Large Reasoning Models</a:t>
            </a:r>
            <a:endParaRPr sz="2900">
              <a:solidFill>
                <a:schemeClr val="dk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b71ecd82ea_0_54"/>
          <p:cNvSpPr txBox="1"/>
          <p:nvPr/>
        </p:nvSpPr>
        <p:spPr>
          <a:xfrm>
            <a:off x="685800" y="3878225"/>
            <a:ext cx="10374600" cy="7080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4600">
                <a:solidFill>
                  <a:srgbClr val="0A4619"/>
                </a:solidFill>
              </a:rPr>
              <a:t>Implement Monitoring Infrastructure</a:t>
            </a:r>
            <a:endParaRPr sz="100"/>
          </a:p>
        </p:txBody>
      </p:sp>
      <p:sp>
        <p:nvSpPr>
          <p:cNvPr id="1048" name="Google Shape;1048;g3b71ecd82ea_0_54"/>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1049" name="Google Shape;1049;g3b71ecd82ea_0_54"/>
          <p:cNvGrpSpPr/>
          <p:nvPr/>
        </p:nvGrpSpPr>
        <p:grpSpPr>
          <a:xfrm rot="-5400000">
            <a:off x="3451093" y="2718650"/>
            <a:ext cx="396240" cy="5955427"/>
            <a:chOff x="0" y="-47625"/>
            <a:chExt cx="660400" cy="9925711"/>
          </a:xfrm>
        </p:grpSpPr>
        <p:sp>
          <p:nvSpPr>
            <p:cNvPr id="1050" name="Google Shape;1050;g3b71ecd82ea_0_54"/>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051" name="Google Shape;1051;g3b71ecd82ea_0_54"/>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052" name="Google Shape;1052;g3b71ecd82ea_0_54"/>
          <p:cNvSpPr txBox="1"/>
          <p:nvPr/>
        </p:nvSpPr>
        <p:spPr>
          <a:xfrm>
            <a:off x="685800" y="4586231"/>
            <a:ext cx="10820400" cy="7242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2100">
                <a:solidFill>
                  <a:srgbClr val="24314F"/>
                </a:solidFill>
              </a:rPr>
              <a:t>Upgrade the pipeline with Branch Tracking and Resource Monitoring to log execution paths, GPU memory usage, and detailed timing for reasoning analysis. (On-going)</a:t>
            </a:r>
            <a:endParaRPr sz="100"/>
          </a:p>
        </p:txBody>
      </p:sp>
      <p:sp>
        <p:nvSpPr>
          <p:cNvPr id="1053" name="Google Shape;1053;g3b71ecd82ea_0_54"/>
          <p:cNvSpPr txBox="1"/>
          <p:nvPr/>
        </p:nvSpPr>
        <p:spPr>
          <a:xfrm>
            <a:off x="349075" y="323600"/>
            <a:ext cx="10374600" cy="7080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4600">
                <a:solidFill>
                  <a:srgbClr val="0A4619"/>
                </a:solidFill>
              </a:rPr>
              <a:t>On-going</a:t>
            </a:r>
            <a:endParaRPr sz="1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b71ecd82ea_0_70"/>
          <p:cNvSpPr txBox="1"/>
          <p:nvPr/>
        </p:nvSpPr>
        <p:spPr>
          <a:xfrm>
            <a:off x="700075" y="2636445"/>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Review</a:t>
            </a:r>
            <a:endParaRPr sz="900"/>
          </a:p>
        </p:txBody>
      </p:sp>
      <p:sp>
        <p:nvSpPr>
          <p:cNvPr id="1063" name="Google Shape;1063;g3b71ecd82ea_0_70"/>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1064" name="Google Shape;1064;g3b71ecd82ea_0_70"/>
          <p:cNvGrpSpPr/>
          <p:nvPr/>
        </p:nvGrpSpPr>
        <p:grpSpPr>
          <a:xfrm rot="-5400000">
            <a:off x="3451093" y="2718650"/>
            <a:ext cx="396240" cy="5955427"/>
            <a:chOff x="0" y="-47625"/>
            <a:chExt cx="660400" cy="9925711"/>
          </a:xfrm>
        </p:grpSpPr>
        <p:sp>
          <p:nvSpPr>
            <p:cNvPr id="1065" name="Google Shape;1065;g3b71ecd82ea_0_70"/>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066" name="Google Shape;1066;g3b71ecd82ea_0_70"/>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067" name="Google Shape;1067;g3b71ecd82ea_0_70"/>
          <p:cNvSpPr txBox="1"/>
          <p:nvPr/>
        </p:nvSpPr>
        <p:spPr>
          <a:xfrm>
            <a:off x="700075" y="3704250"/>
            <a:ext cx="10820400" cy="16071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Literature Review: Large Reasoning Models (LRMs) "New Trends for Modern Machine Translation with Large Reasoning Models"</a:t>
            </a:r>
            <a:endParaRPr sz="9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grpSp>
        <p:nvGrpSpPr>
          <p:cNvPr id="1072" name="Google Shape;1072;g3b6ccba0dd5_0_11"/>
          <p:cNvGrpSpPr/>
          <p:nvPr/>
        </p:nvGrpSpPr>
        <p:grpSpPr>
          <a:xfrm>
            <a:off x="685800" y="1838306"/>
            <a:ext cx="10820186" cy="5020055"/>
            <a:chOff x="0" y="-47625"/>
            <a:chExt cx="4274726" cy="2214600"/>
          </a:xfrm>
        </p:grpSpPr>
        <p:sp>
          <p:nvSpPr>
            <p:cNvPr id="1073" name="Google Shape;1073;g3b6ccba0dd5_0_1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4" name="Google Shape;1074;g3b6ccba0dd5_0_1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75" name="Google Shape;1075;g3b6ccba0dd5_0_1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Introduction/Motivation</a:t>
            </a:r>
            <a:endParaRPr sz="1200"/>
          </a:p>
        </p:txBody>
      </p:sp>
      <p:grpSp>
        <p:nvGrpSpPr>
          <p:cNvPr id="1076" name="Google Shape;1076;g3b6ccba0dd5_0_11"/>
          <p:cNvGrpSpPr/>
          <p:nvPr/>
        </p:nvGrpSpPr>
        <p:grpSpPr>
          <a:xfrm>
            <a:off x="1076700" y="2113824"/>
            <a:ext cx="10093130" cy="5020103"/>
            <a:chOff x="0" y="-47625"/>
            <a:chExt cx="1808189" cy="1790400"/>
          </a:xfrm>
        </p:grpSpPr>
        <p:sp>
          <p:nvSpPr>
            <p:cNvPr id="1077" name="Google Shape;1077;g3b6ccba0dd5_0_1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8" name="Google Shape;1078;g3b6ccba0dd5_0_1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79" name="Google Shape;1079;g3b6ccba0dd5_0_1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080" name="Google Shape;1080;g3b6ccba0dd5_0_11"/>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081" name="Google Shape;1081;g3b6ccba0dd5_0_11"/>
          <p:cNvSpPr txBox="1"/>
          <p:nvPr/>
        </p:nvSpPr>
        <p:spPr>
          <a:xfrm>
            <a:off x="1379950" y="2483324"/>
            <a:ext cx="9531300" cy="3283200"/>
          </a:xfrm>
          <a:prstGeom prst="rect">
            <a:avLst/>
          </a:prstGeom>
          <a:noFill/>
          <a:ln>
            <a:noFill/>
          </a:ln>
        </p:spPr>
        <p:txBody>
          <a:bodyPr anchorCtr="0" anchor="t" bIns="0" lIns="0" spcFirstLastPara="1" rIns="0" wrap="square" tIns="0">
            <a:spAutoFit/>
          </a:bodyPr>
          <a:lstStyle/>
          <a:p>
            <a:pPr indent="-228600" lvl="0" marL="457200" rtl="0" algn="l">
              <a:spcBef>
                <a:spcPts val="1200"/>
              </a:spcBef>
              <a:spcAft>
                <a:spcPts val="0"/>
              </a:spcAft>
              <a:buNone/>
            </a:pPr>
            <a:r>
              <a:rPr b="1" lang="en-US" sz="1633">
                <a:solidFill>
                  <a:srgbClr val="1155CC"/>
                </a:solidFill>
                <a:latin typeface="Inter"/>
                <a:ea typeface="Inter"/>
                <a:cs typeface="Inter"/>
                <a:sym typeface="Inter"/>
              </a:rPr>
              <a:t>Machine Translation (MT) is shifting from Neural MT (NMT) and standard LLMs to Large Reasoning Models (LRMs).</a:t>
            </a:r>
            <a:endParaRPr b="1" sz="1633">
              <a:solidFill>
                <a:srgbClr val="1155CC"/>
              </a:solidFill>
              <a:latin typeface="Inter"/>
              <a:ea typeface="Inter"/>
              <a:cs typeface="Inter"/>
              <a:sym typeface="Inter"/>
            </a:endParaRPr>
          </a:p>
          <a:p>
            <a:pPr indent="-22860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228600" lvl="0" marL="457200" rtl="0" algn="l">
              <a:spcBef>
                <a:spcPts val="1200"/>
              </a:spcBef>
              <a:spcAft>
                <a:spcPts val="0"/>
              </a:spcAft>
              <a:buNone/>
            </a:pPr>
            <a:r>
              <a:rPr b="1" lang="en-US" sz="1633">
                <a:solidFill>
                  <a:srgbClr val="24314F"/>
                </a:solidFill>
                <a:latin typeface="Inter"/>
                <a:ea typeface="Inter"/>
                <a:cs typeface="Inter"/>
                <a:sym typeface="Inter"/>
              </a:rPr>
              <a:t>Problem/Gap</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Traditional models view translation as </a:t>
            </a:r>
            <a:r>
              <a:rPr b="1" lang="en-US" sz="1633">
                <a:solidFill>
                  <a:srgbClr val="1155CC"/>
                </a:solidFill>
                <a:latin typeface="Inter"/>
                <a:ea typeface="Inter"/>
                <a:cs typeface="Inter"/>
                <a:sym typeface="Inter"/>
              </a:rPr>
              <a:t>simple text-to-text mapping (X-&gt;Y)</a:t>
            </a:r>
            <a:r>
              <a:rPr b="1" lang="en-US" sz="1633">
                <a:solidFill>
                  <a:srgbClr val="24314F"/>
                </a:solidFill>
                <a:latin typeface="Inter"/>
                <a:ea typeface="Inter"/>
                <a:cs typeface="Inter"/>
                <a:sym typeface="Inter"/>
              </a:rPr>
              <a:t> and </a:t>
            </a:r>
            <a:r>
              <a:rPr b="1" lang="en-US" sz="1633">
                <a:solidFill>
                  <a:srgbClr val="1155CC"/>
                </a:solidFill>
                <a:latin typeface="Inter"/>
                <a:ea typeface="Inter"/>
                <a:cs typeface="Inter"/>
                <a:sym typeface="Inter"/>
              </a:rPr>
              <a:t>struggle with deep context, cultural nuances, and discourse</a:t>
            </a:r>
            <a:r>
              <a:rPr b="1" lang="en-US" sz="1633">
                <a:solidFill>
                  <a:srgbClr val="24314F"/>
                </a:solidFill>
                <a:latin typeface="Inter"/>
                <a:ea typeface="Inter"/>
                <a:cs typeface="Inter"/>
                <a:sym typeface="Inter"/>
              </a:rPr>
              <a:t> due to a lack of explicit reasoning.</a:t>
            </a:r>
            <a:endParaRPr b="1" sz="1633">
              <a:solidFill>
                <a:srgbClr val="24314F"/>
              </a:solidFill>
              <a:latin typeface="Inter"/>
              <a:ea typeface="Inter"/>
              <a:cs typeface="Inter"/>
              <a:sym typeface="Inter"/>
            </a:endParaRPr>
          </a:p>
          <a:p>
            <a:pPr indent="0" lvl="0" marL="0" rtl="0" algn="l">
              <a:spcBef>
                <a:spcPts val="1200"/>
              </a:spcBef>
              <a:spcAft>
                <a:spcPts val="0"/>
              </a:spcAft>
              <a:buNone/>
            </a:pPr>
            <a:r>
              <a:rPr b="1" lang="en-US" sz="1633">
                <a:solidFill>
                  <a:srgbClr val="24314F"/>
                </a:solidFill>
                <a:latin typeface="Inter"/>
                <a:ea typeface="Inter"/>
                <a:cs typeface="Inter"/>
                <a:sym typeface="Inter"/>
              </a:rPr>
              <a:t>The Thesis:</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LRMs (OpenAI-o1, DeepSeek-R1)</a:t>
            </a:r>
            <a:r>
              <a:rPr b="1" lang="en-US" sz="1633">
                <a:solidFill>
                  <a:srgbClr val="1155CC"/>
                </a:solidFill>
                <a:latin typeface="Inter"/>
                <a:ea typeface="Inter"/>
                <a:cs typeface="Inter"/>
                <a:sym typeface="Inter"/>
              </a:rPr>
              <a:t> redefine translation as a dynamic reasoning task.</a:t>
            </a:r>
            <a:endParaRPr b="1" sz="1633">
              <a:solidFill>
                <a:srgbClr val="1155CC"/>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Using Chain-of-Thought (CoT), </a:t>
            </a:r>
            <a:r>
              <a:rPr b="1" lang="en-US" sz="1633">
                <a:solidFill>
                  <a:srgbClr val="1155CC"/>
                </a:solidFill>
                <a:latin typeface="Inter"/>
                <a:ea typeface="Inter"/>
                <a:cs typeface="Inter"/>
                <a:sym typeface="Inter"/>
              </a:rPr>
              <a:t>LRMs act as multilingual cognitive agents,</a:t>
            </a:r>
            <a:r>
              <a:rPr b="1" lang="en-US" sz="1633">
                <a:solidFill>
                  <a:srgbClr val="24314F"/>
                </a:solidFill>
                <a:latin typeface="Inter"/>
                <a:ea typeface="Inter"/>
                <a:cs typeface="Inter"/>
                <a:sym typeface="Inter"/>
              </a:rPr>
              <a:t> not just text converters.</a:t>
            </a:r>
            <a:endParaRPr b="1" sz="1633">
              <a:solidFill>
                <a:srgbClr val="24314F"/>
              </a:solidFill>
              <a:latin typeface="Inter"/>
              <a:ea typeface="Inter"/>
              <a:cs typeface="Inter"/>
              <a:sym typeface="Inte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grpSp>
        <p:nvGrpSpPr>
          <p:cNvPr id="1086" name="Google Shape;1086;g3b6ccba0dd5_0_25"/>
          <p:cNvGrpSpPr/>
          <p:nvPr/>
        </p:nvGrpSpPr>
        <p:grpSpPr>
          <a:xfrm>
            <a:off x="685900" y="1211450"/>
            <a:ext cx="10820186" cy="5646566"/>
            <a:chOff x="0" y="-47625"/>
            <a:chExt cx="4274726" cy="2214600"/>
          </a:xfrm>
        </p:grpSpPr>
        <p:sp>
          <p:nvSpPr>
            <p:cNvPr id="1087" name="Google Shape;1087;g3b6ccba0dd5_0_2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88" name="Google Shape;1088;g3b6ccba0dd5_0_2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89" name="Google Shape;1089;g3b6ccba0dd5_0_25"/>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Background</a:t>
            </a:r>
            <a:endParaRPr sz="1200"/>
          </a:p>
        </p:txBody>
      </p:sp>
      <p:grpSp>
        <p:nvGrpSpPr>
          <p:cNvPr id="1090" name="Google Shape;1090;g3b6ccba0dd5_0_25"/>
          <p:cNvGrpSpPr/>
          <p:nvPr/>
        </p:nvGrpSpPr>
        <p:grpSpPr>
          <a:xfrm>
            <a:off x="1076800" y="1486975"/>
            <a:ext cx="10093130" cy="5512463"/>
            <a:chOff x="0" y="-47625"/>
            <a:chExt cx="1808189" cy="1790400"/>
          </a:xfrm>
        </p:grpSpPr>
        <p:sp>
          <p:nvSpPr>
            <p:cNvPr id="1091" name="Google Shape;1091;g3b6ccba0dd5_0_2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92" name="Google Shape;1092;g3b6ccba0dd5_0_2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093" name="Google Shape;1093;g3b6ccba0dd5_0_25"/>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094" name="Google Shape;1094;g3b6ccba0dd5_0_25"/>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095" name="Google Shape;1095;g3b6ccba0dd5_0_25"/>
          <p:cNvSpPr txBox="1"/>
          <p:nvPr/>
        </p:nvSpPr>
        <p:spPr>
          <a:xfrm>
            <a:off x="1380050" y="1856474"/>
            <a:ext cx="9531300" cy="46191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Neural Machine Translation (NMT)</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Uses </a:t>
            </a:r>
            <a:r>
              <a:rPr b="1" lang="en-US" sz="1633">
                <a:solidFill>
                  <a:srgbClr val="1155CC"/>
                </a:solidFill>
                <a:latin typeface="Inter"/>
                <a:ea typeface="Inter"/>
                <a:cs typeface="Inter"/>
                <a:sym typeface="Inter"/>
              </a:rPr>
              <a:t>deep learning to capture </a:t>
            </a:r>
            <a:r>
              <a:rPr b="1" lang="en-US" sz="1633">
                <a:solidFill>
                  <a:srgbClr val="1155CC"/>
                </a:solidFill>
                <a:latin typeface="Inter"/>
                <a:ea typeface="Inter"/>
                <a:cs typeface="Inter"/>
                <a:sym typeface="Inter"/>
              </a:rPr>
              <a:t>linguistic</a:t>
            </a:r>
            <a:r>
              <a:rPr b="1" lang="en-US" sz="1633">
                <a:solidFill>
                  <a:srgbClr val="1155CC"/>
                </a:solidFill>
                <a:latin typeface="Inter"/>
                <a:ea typeface="Inter"/>
                <a:cs typeface="Inter"/>
                <a:sym typeface="Inter"/>
              </a:rPr>
              <a:t> patterns</a:t>
            </a:r>
            <a:endParaRPr b="1" sz="1633">
              <a:solidFill>
                <a:srgbClr val="1155CC"/>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Limitations: </a:t>
            </a:r>
            <a:r>
              <a:rPr b="1" lang="en-US" sz="1633">
                <a:solidFill>
                  <a:srgbClr val="1155CC"/>
                </a:solidFill>
                <a:latin typeface="Inter"/>
                <a:ea typeface="Inter"/>
                <a:cs typeface="Inter"/>
                <a:sym typeface="Inter"/>
              </a:rPr>
              <a:t>Struggled with idiomatic expressions, low-resource languages, and document-level coherence</a:t>
            </a:r>
            <a:endParaRPr b="1" sz="1633">
              <a:solidFill>
                <a:srgbClr val="1155CC"/>
              </a:solidFill>
              <a:latin typeface="Inter"/>
              <a:ea typeface="Inter"/>
              <a:cs typeface="Inter"/>
              <a:sym typeface="Inter"/>
            </a:endParaRPr>
          </a:p>
          <a:p>
            <a:pPr indent="0" lvl="0" marL="914400" rtl="0" algn="l">
              <a:lnSpc>
                <a:spcPct val="115000"/>
              </a:lnSpc>
              <a:spcBef>
                <a:spcPts val="1200"/>
              </a:spcBef>
              <a:spcAft>
                <a:spcPts val="0"/>
              </a:spcAft>
              <a:buNone/>
            </a:pPr>
            <a:r>
              <a:t/>
            </a:r>
            <a:endParaRPr b="1" sz="800">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Large Language Models (LLMs)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We </a:t>
            </a:r>
            <a:r>
              <a:rPr b="1" lang="en-US" sz="1633">
                <a:solidFill>
                  <a:srgbClr val="1155CC"/>
                </a:solidFill>
                <a:latin typeface="Inter"/>
                <a:ea typeface="Inter"/>
                <a:cs typeface="Inter"/>
                <a:sym typeface="Inter"/>
              </a:rPr>
              <a:t>stopped needing to build specialized translation engines</a:t>
            </a:r>
            <a:r>
              <a:rPr b="1" lang="en-US" sz="1633">
                <a:solidFill>
                  <a:srgbClr val="24314F"/>
                </a:solidFill>
                <a:latin typeface="Inter"/>
                <a:ea typeface="Inter"/>
                <a:cs typeface="Inter"/>
                <a:sym typeface="Inter"/>
              </a:rPr>
              <a:t> for every language , one AI can now learn to </a:t>
            </a:r>
            <a:r>
              <a:rPr b="1" lang="en-US" sz="1633">
                <a:solidFill>
                  <a:srgbClr val="1155CC"/>
                </a:solidFill>
                <a:latin typeface="Inter"/>
                <a:ea typeface="Inter"/>
                <a:cs typeface="Inter"/>
                <a:sym typeface="Inter"/>
              </a:rPr>
              <a:t>translate instantly</a:t>
            </a:r>
            <a:r>
              <a:rPr b="1" lang="en-US" sz="1633">
                <a:solidFill>
                  <a:srgbClr val="24314F"/>
                </a:solidFill>
                <a:latin typeface="Inter"/>
                <a:ea typeface="Inter"/>
                <a:cs typeface="Inter"/>
                <a:sym typeface="Inter"/>
              </a:rPr>
              <a:t> just by seeing a couple of examples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Limitations: </a:t>
            </a:r>
            <a:r>
              <a:rPr b="1" lang="en-US" sz="1633">
                <a:solidFill>
                  <a:srgbClr val="1155CC"/>
                </a:solidFill>
                <a:latin typeface="Inter"/>
                <a:ea typeface="Inter"/>
                <a:cs typeface="Inter"/>
                <a:sym typeface="Inter"/>
              </a:rPr>
              <a:t>Performance inconsistencies in zero-shot style</a:t>
            </a:r>
            <a:r>
              <a:rPr b="1" lang="en-US" sz="1633">
                <a:solidFill>
                  <a:srgbClr val="24314F"/>
                </a:solidFill>
                <a:latin typeface="Inter"/>
                <a:ea typeface="Inter"/>
                <a:cs typeface="Inter"/>
                <a:sym typeface="Inter"/>
              </a:rPr>
              <a:t> transfer and lack of interpretability in decision-making</a:t>
            </a:r>
            <a:endParaRPr b="1" sz="1633">
              <a:solidFill>
                <a:srgbClr val="24314F"/>
              </a:solidFill>
              <a:latin typeface="Inter"/>
              <a:ea typeface="Inter"/>
              <a:cs typeface="Inter"/>
              <a:sym typeface="Inter"/>
            </a:endParaRPr>
          </a:p>
          <a:p>
            <a:pPr indent="0" lvl="0" marL="914400" rtl="0" algn="l">
              <a:lnSpc>
                <a:spcPct val="115000"/>
              </a:lnSpc>
              <a:spcBef>
                <a:spcPts val="1200"/>
              </a:spcBef>
              <a:spcAft>
                <a:spcPts val="0"/>
              </a:spcAft>
              <a:buNone/>
            </a:pPr>
            <a:r>
              <a:t/>
            </a:r>
            <a:endParaRPr b="1" sz="800">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Evolution to LRMs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This paper</a:t>
            </a:r>
            <a:r>
              <a:rPr b="1" lang="en-US" sz="1633">
                <a:solidFill>
                  <a:srgbClr val="1155CC"/>
                </a:solidFill>
                <a:latin typeface="Inter"/>
                <a:ea typeface="Inter"/>
                <a:cs typeface="Inter"/>
                <a:sym typeface="Inter"/>
              </a:rPr>
              <a:t> builds on the emergence of Reasoning Models </a:t>
            </a:r>
            <a:r>
              <a:rPr b="1" lang="en-US" sz="1633">
                <a:solidFill>
                  <a:srgbClr val="24314F"/>
                </a:solidFill>
                <a:latin typeface="Inter"/>
                <a:ea typeface="Inter"/>
                <a:cs typeface="Inter"/>
                <a:sym typeface="Inter"/>
              </a:rPr>
              <a:t>that generate "thought tokens" (reasoning traces) before producing the final output,</a:t>
            </a:r>
            <a:r>
              <a:rPr b="1" lang="en-US" sz="1633">
                <a:solidFill>
                  <a:srgbClr val="1155CC"/>
                </a:solidFill>
                <a:latin typeface="Inter"/>
                <a:ea typeface="Inter"/>
                <a:cs typeface="Inter"/>
                <a:sym typeface="Inter"/>
              </a:rPr>
              <a:t> allowing for self-correction and deeper linguistic analysis.</a:t>
            </a:r>
            <a:endParaRPr b="1" sz="1633">
              <a:solidFill>
                <a:srgbClr val="1155CC"/>
              </a:solidFill>
              <a:latin typeface="Inter"/>
              <a:ea typeface="Inter"/>
              <a:cs typeface="Inter"/>
              <a:sym typeface="Inte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grpSp>
        <p:nvGrpSpPr>
          <p:cNvPr id="1100" name="Google Shape;1100;g3b71ecd82ea_0_3"/>
          <p:cNvGrpSpPr/>
          <p:nvPr/>
        </p:nvGrpSpPr>
        <p:grpSpPr>
          <a:xfrm>
            <a:off x="685900" y="1211450"/>
            <a:ext cx="10820186" cy="5646566"/>
            <a:chOff x="0" y="-47625"/>
            <a:chExt cx="4274726" cy="2214600"/>
          </a:xfrm>
        </p:grpSpPr>
        <p:sp>
          <p:nvSpPr>
            <p:cNvPr id="1101" name="Google Shape;1101;g3b71ecd82ea_0_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02" name="Google Shape;1102;g3b71ecd82ea_0_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03" name="Google Shape;1103;g3b71ecd82ea_0_3"/>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US" sz="2800">
                <a:solidFill>
                  <a:srgbClr val="24314F"/>
                </a:solidFill>
              </a:rPr>
              <a:t>Methods/Approach</a:t>
            </a:r>
            <a:endParaRPr b="1" sz="2800">
              <a:solidFill>
                <a:srgbClr val="24314F"/>
              </a:solidFill>
            </a:endParaRPr>
          </a:p>
        </p:txBody>
      </p:sp>
      <p:grpSp>
        <p:nvGrpSpPr>
          <p:cNvPr id="1104" name="Google Shape;1104;g3b71ecd82ea_0_3"/>
          <p:cNvGrpSpPr/>
          <p:nvPr/>
        </p:nvGrpSpPr>
        <p:grpSpPr>
          <a:xfrm>
            <a:off x="1076800" y="1486975"/>
            <a:ext cx="10093130" cy="5512463"/>
            <a:chOff x="0" y="-47625"/>
            <a:chExt cx="1808189" cy="1790400"/>
          </a:xfrm>
        </p:grpSpPr>
        <p:sp>
          <p:nvSpPr>
            <p:cNvPr id="1105" name="Google Shape;1105;g3b71ecd82ea_0_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06" name="Google Shape;1106;g3b71ecd82ea_0_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07" name="Google Shape;1107;g3b71ecd82ea_0_3"/>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08" name="Google Shape;1108;g3b71ecd82ea_0_3"/>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09" name="Google Shape;1109;g3b71ecd82ea_0_3"/>
          <p:cNvSpPr txBox="1"/>
          <p:nvPr/>
        </p:nvSpPr>
        <p:spPr>
          <a:xfrm>
            <a:off x="1380050" y="1804988"/>
            <a:ext cx="9531300" cy="49935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LRMs utilize Chain-of-Thought (CoT) reasoning to</a:t>
            </a:r>
            <a:r>
              <a:rPr b="1" lang="en-US" sz="1633">
                <a:solidFill>
                  <a:srgbClr val="1155CC"/>
                </a:solidFill>
                <a:latin typeface="Inter"/>
                <a:ea typeface="Inter"/>
                <a:cs typeface="Inter"/>
                <a:sym typeface="Inter"/>
              </a:rPr>
              <a:t> break translation into interpretable sub-problems</a:t>
            </a:r>
            <a:r>
              <a:rPr b="1" lang="en-US" sz="1633">
                <a:solidFill>
                  <a:srgbClr val="24314F"/>
                </a:solidFill>
                <a:latin typeface="Inter"/>
                <a:ea typeface="Inter"/>
                <a:cs typeface="Inter"/>
                <a:sym typeface="Inter"/>
              </a:rPr>
              <a:t>: Plan -&gt; Draft -&gt; Critique -&gt;  Finalize.</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authors </a:t>
            </a:r>
            <a:r>
              <a:rPr b="1" lang="en-US" sz="1633">
                <a:solidFill>
                  <a:srgbClr val="1155CC"/>
                </a:solidFill>
                <a:latin typeface="Inter"/>
                <a:ea typeface="Inter"/>
                <a:cs typeface="Inter"/>
                <a:sym typeface="Inter"/>
              </a:rPr>
              <a:t>analyze the behavior of LRMs</a:t>
            </a:r>
            <a:r>
              <a:rPr b="1" lang="en-US" sz="1633">
                <a:solidFill>
                  <a:srgbClr val="24314F"/>
                </a:solidFill>
                <a:latin typeface="Inter"/>
                <a:ea typeface="Inter"/>
                <a:cs typeface="Inter"/>
                <a:sym typeface="Inter"/>
              </a:rPr>
              <a:t> in complex translation scenarios: Stylized Translation, Document-Level Translation, and Multimodal Translation.</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00">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3 Foundational Shifts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Contextual Coherence: </a:t>
            </a:r>
            <a:r>
              <a:rPr b="1" lang="en-US" sz="1633">
                <a:solidFill>
                  <a:srgbClr val="1155CC"/>
                </a:solidFill>
                <a:latin typeface="Inter"/>
                <a:ea typeface="Inter"/>
                <a:cs typeface="Inter"/>
                <a:sym typeface="Inter"/>
              </a:rPr>
              <a:t>Explicit reasoning over cross-sentence contexts</a:t>
            </a:r>
            <a:r>
              <a:rPr b="1" lang="en-US" sz="1633">
                <a:solidFill>
                  <a:srgbClr val="24314F"/>
                </a:solidFill>
                <a:latin typeface="Inter"/>
                <a:ea typeface="Inter"/>
                <a:cs typeface="Inter"/>
                <a:sym typeface="Inter"/>
              </a:rPr>
              <a:t> to resolve ambiguities.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Cultural Intentionality:</a:t>
            </a:r>
            <a:r>
              <a:rPr b="1" lang="en-US" sz="1633">
                <a:solidFill>
                  <a:srgbClr val="1155CC"/>
                </a:solidFill>
                <a:latin typeface="Inter"/>
                <a:ea typeface="Inter"/>
                <a:cs typeface="Inter"/>
                <a:sym typeface="Inter"/>
              </a:rPr>
              <a:t> Inferring speaker intent</a:t>
            </a:r>
            <a:r>
              <a:rPr b="1" lang="en-US" sz="1633">
                <a:solidFill>
                  <a:srgbClr val="24314F"/>
                </a:solidFill>
                <a:latin typeface="Inter"/>
                <a:ea typeface="Inter"/>
                <a:cs typeface="Inter"/>
                <a:sym typeface="Inter"/>
              </a:rPr>
              <a:t> (e.g., "Is this sarcastic?") to adapt tone.</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Self-Reflection: </a:t>
            </a:r>
            <a:r>
              <a:rPr b="1" lang="en-US" sz="1633">
                <a:solidFill>
                  <a:srgbClr val="1155CC"/>
                </a:solidFill>
                <a:latin typeface="Inter"/>
                <a:ea typeface="Inter"/>
                <a:cs typeface="Inter"/>
                <a:sym typeface="Inter"/>
              </a:rPr>
              <a:t>Iterative self-correction</a:t>
            </a:r>
            <a:r>
              <a:rPr b="1" lang="en-US" sz="1633">
                <a:solidFill>
                  <a:srgbClr val="24314F"/>
                </a:solidFill>
                <a:latin typeface="Inter"/>
                <a:ea typeface="Inter"/>
                <a:cs typeface="Inter"/>
                <a:sym typeface="Inter"/>
              </a:rPr>
              <a:t> (e.g., Fixing "The hunter is the one who hunts" to "The one who captures is the hunter").</a:t>
            </a:r>
            <a:endParaRPr b="1" sz="1633">
              <a:solidFill>
                <a:srgbClr val="24314F"/>
              </a:solidFill>
              <a:latin typeface="Inter"/>
              <a:ea typeface="Inter"/>
              <a:cs typeface="Inter"/>
              <a:sym typeface="Inter"/>
            </a:endParaRPr>
          </a:p>
          <a:p>
            <a:pPr indent="0" lvl="0" marL="914400" rtl="0" algn="l">
              <a:lnSpc>
                <a:spcPct val="115000"/>
              </a:lnSpc>
              <a:spcBef>
                <a:spcPts val="1200"/>
              </a:spcBef>
              <a:spcAft>
                <a:spcPts val="0"/>
              </a:spcAft>
              <a:buNone/>
            </a:pPr>
            <a:r>
              <a:t/>
            </a:r>
            <a:endParaRPr b="1" sz="100">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Experiments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Tested on Japanese Haikus &amp; Spanish Poetry</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Evaluated consistency in long-form text</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Used visual inputs (e.g., Sign Language images) to resolve textual ambiguity.</a:t>
            </a:r>
            <a:endParaRPr b="1" sz="1633">
              <a:solidFill>
                <a:srgbClr val="24314F"/>
              </a:solidFill>
              <a:latin typeface="Inter"/>
              <a:ea typeface="Inter"/>
              <a:cs typeface="Inter"/>
              <a:sym typeface="Inte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grpSp>
        <p:nvGrpSpPr>
          <p:cNvPr id="1114" name="Google Shape;1114;g3b6ccba0dd5_0_38"/>
          <p:cNvGrpSpPr/>
          <p:nvPr/>
        </p:nvGrpSpPr>
        <p:grpSpPr>
          <a:xfrm>
            <a:off x="685800" y="1575176"/>
            <a:ext cx="10820186" cy="5424220"/>
            <a:chOff x="0" y="-47625"/>
            <a:chExt cx="4274726" cy="2214600"/>
          </a:xfrm>
        </p:grpSpPr>
        <p:sp>
          <p:nvSpPr>
            <p:cNvPr id="1115" name="Google Shape;1115;g3b6ccba0dd5_0_3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16" name="Google Shape;1116;g3b6ccba0dd5_0_3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17" name="Google Shape;1117;g3b6ccba0dd5_0_38"/>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Results/Findings</a:t>
            </a:r>
            <a:endParaRPr sz="1200"/>
          </a:p>
        </p:txBody>
      </p:sp>
      <p:grpSp>
        <p:nvGrpSpPr>
          <p:cNvPr id="1118" name="Google Shape;1118;g3b6ccba0dd5_0_38"/>
          <p:cNvGrpSpPr/>
          <p:nvPr/>
        </p:nvGrpSpPr>
        <p:grpSpPr>
          <a:xfrm>
            <a:off x="1076700" y="1850676"/>
            <a:ext cx="10093130" cy="5424196"/>
            <a:chOff x="0" y="-47625"/>
            <a:chExt cx="1808189" cy="1790400"/>
          </a:xfrm>
        </p:grpSpPr>
        <p:sp>
          <p:nvSpPr>
            <p:cNvPr id="1119" name="Google Shape;1119;g3b6ccba0dd5_0_3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20" name="Google Shape;1120;g3b6ccba0dd5_0_3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21" name="Google Shape;1121;g3b6ccba0dd5_0_3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22" name="Google Shape;1122;g3b6ccba0dd5_0_38"/>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23" name="Google Shape;1123;g3b6ccba0dd5_0_38"/>
          <p:cNvSpPr txBox="1"/>
          <p:nvPr/>
        </p:nvSpPr>
        <p:spPr>
          <a:xfrm>
            <a:off x="1357625" y="2184025"/>
            <a:ext cx="9531300" cy="4596600"/>
          </a:xfrm>
          <a:prstGeom prst="rect">
            <a:avLst/>
          </a:prstGeom>
          <a:noFill/>
          <a:ln>
            <a:noFill/>
          </a:ln>
        </p:spPr>
        <p:txBody>
          <a:bodyPr anchorCtr="0" anchor="t" bIns="0" lIns="0" spcFirstLastPara="1" rIns="0" wrap="square" tIns="0">
            <a:spAutoFit/>
          </a:bodyPr>
          <a:lstStyle/>
          <a:p>
            <a:pPr indent="-228600" lvl="0" marL="457200" rtl="0" algn="l">
              <a:spcBef>
                <a:spcPts val="1200"/>
              </a:spcBef>
              <a:spcAft>
                <a:spcPts val="0"/>
              </a:spcAft>
              <a:buNone/>
            </a:pPr>
            <a:r>
              <a:rPr b="1" lang="en-US" sz="1633">
                <a:solidFill>
                  <a:srgbClr val="24314F"/>
                </a:solidFill>
                <a:latin typeface="Inter"/>
                <a:ea typeface="Inter"/>
                <a:cs typeface="Inter"/>
                <a:sym typeface="Inter"/>
              </a:rPr>
              <a:t>Stylized Translation:</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1155CC"/>
              </a:buClr>
              <a:buSzPts val="1633"/>
              <a:buFont typeface="Inter"/>
              <a:buChar char="●"/>
            </a:pPr>
            <a:r>
              <a:rPr b="1" lang="en-US" sz="1633">
                <a:solidFill>
                  <a:srgbClr val="1155CC"/>
                </a:solidFill>
                <a:latin typeface="Inter"/>
                <a:ea typeface="Inter"/>
                <a:cs typeface="Inter"/>
                <a:sym typeface="Inter"/>
              </a:rPr>
              <a:t>LRMs excel at scenario-based word choice.</a:t>
            </a:r>
            <a:endParaRPr b="1" sz="1633">
              <a:solidFill>
                <a:srgbClr val="1155CC"/>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Trade-off:</a:t>
            </a:r>
            <a:r>
              <a:rPr b="1" lang="en-US" sz="1633">
                <a:solidFill>
                  <a:srgbClr val="1155CC"/>
                </a:solidFill>
                <a:latin typeface="Inter"/>
                <a:ea typeface="Inter"/>
                <a:cs typeface="Inter"/>
                <a:sym typeface="Inter"/>
              </a:rPr>
              <a:t> Risk of "over-localization,"</a:t>
            </a:r>
            <a:r>
              <a:rPr b="1" lang="en-US" sz="1633">
                <a:solidFill>
                  <a:srgbClr val="24314F"/>
                </a:solidFill>
                <a:latin typeface="Inter"/>
                <a:ea typeface="Inter"/>
                <a:cs typeface="Inter"/>
                <a:sym typeface="Inter"/>
              </a:rPr>
              <a:t> prioritizing target language norms over source structure (e.g., Haiku syllable counts ignored for better flow in Chinese).</a:t>
            </a:r>
            <a:endParaRPr b="1" sz="1633">
              <a:solidFill>
                <a:srgbClr val="24314F"/>
              </a:solidFill>
              <a:latin typeface="Inter"/>
              <a:ea typeface="Inter"/>
              <a:cs typeface="Inter"/>
              <a:sym typeface="Inter"/>
            </a:endParaRPr>
          </a:p>
          <a:p>
            <a:pPr indent="0" lvl="0" marL="0" rtl="0" algn="l">
              <a:spcBef>
                <a:spcPts val="1200"/>
              </a:spcBef>
              <a:spcAft>
                <a:spcPts val="0"/>
              </a:spcAft>
              <a:buNone/>
            </a:pPr>
            <a:r>
              <a:rPr b="1" lang="en-US" sz="1633">
                <a:solidFill>
                  <a:srgbClr val="24314F"/>
                </a:solidFill>
                <a:latin typeface="Inter"/>
                <a:ea typeface="Inter"/>
                <a:cs typeface="Inter"/>
                <a:sym typeface="Inter"/>
              </a:rPr>
              <a:t>Document-Level Translation:</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1155CC"/>
                </a:solidFill>
                <a:latin typeface="Inter"/>
                <a:ea typeface="Inter"/>
                <a:cs typeface="Inter"/>
                <a:sym typeface="Inter"/>
              </a:rPr>
              <a:t>Superior in maintaining terminology and tone consistency</a:t>
            </a:r>
            <a:r>
              <a:rPr b="1" lang="en-US" sz="1633">
                <a:solidFill>
                  <a:srgbClr val="24314F"/>
                </a:solidFill>
                <a:latin typeface="Inter"/>
                <a:ea typeface="Inter"/>
                <a:cs typeface="Inter"/>
                <a:sym typeface="Inter"/>
              </a:rPr>
              <a:t> in long scientific abstracts compared to non-reasoning models.</a:t>
            </a:r>
            <a:endParaRPr b="1" sz="1633">
              <a:solidFill>
                <a:srgbClr val="24314F"/>
              </a:solidFill>
              <a:latin typeface="Inter"/>
              <a:ea typeface="Inter"/>
              <a:cs typeface="Inter"/>
              <a:sym typeface="Inter"/>
            </a:endParaRPr>
          </a:p>
          <a:p>
            <a:pPr indent="0" lvl="0" marL="0" rtl="0" algn="l">
              <a:spcBef>
                <a:spcPts val="1200"/>
              </a:spcBef>
              <a:spcAft>
                <a:spcPts val="0"/>
              </a:spcAft>
              <a:buNone/>
            </a:pPr>
            <a:r>
              <a:rPr b="1" lang="en-US" sz="1633">
                <a:solidFill>
                  <a:srgbClr val="24314F"/>
                </a:solidFill>
                <a:latin typeface="Inter"/>
                <a:ea typeface="Inter"/>
                <a:cs typeface="Inter"/>
                <a:sym typeface="Inter"/>
              </a:rPr>
              <a:t>Multi-Modal Reasoning:</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1155CC"/>
                </a:solidFill>
                <a:latin typeface="Inter"/>
                <a:ea typeface="Inter"/>
                <a:cs typeface="Inter"/>
                <a:sym typeface="Inter"/>
              </a:rPr>
              <a:t>Successfully uses visual context (images) to disambiguate text </a:t>
            </a:r>
            <a:r>
              <a:rPr b="1" lang="en-US" sz="1633">
                <a:solidFill>
                  <a:srgbClr val="24314F"/>
                </a:solidFill>
                <a:latin typeface="Inter"/>
                <a:ea typeface="Inter"/>
                <a:cs typeface="Inter"/>
                <a:sym typeface="Inter"/>
              </a:rPr>
              <a:t>(e.g., identifying a "hunter" as human or tiger from a photo).</a:t>
            </a:r>
            <a:endParaRPr b="1" sz="1633">
              <a:solidFill>
                <a:srgbClr val="24314F"/>
              </a:solidFill>
              <a:latin typeface="Inter"/>
              <a:ea typeface="Inter"/>
              <a:cs typeface="Inter"/>
              <a:sym typeface="Inter"/>
            </a:endParaRPr>
          </a:p>
          <a:p>
            <a:pPr indent="0" lvl="0" marL="0" rtl="0" algn="l">
              <a:spcBef>
                <a:spcPts val="1200"/>
              </a:spcBef>
              <a:spcAft>
                <a:spcPts val="0"/>
              </a:spcAft>
              <a:buNone/>
            </a:pPr>
            <a:r>
              <a:rPr b="1" lang="en-US" sz="1633">
                <a:solidFill>
                  <a:srgbClr val="24314F"/>
                </a:solidFill>
                <a:latin typeface="Inter"/>
                <a:ea typeface="Inter"/>
                <a:cs typeface="Inter"/>
                <a:sym typeface="Inter"/>
              </a:rPr>
              <a:t>Cryptographic Reasoning:</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Can </a:t>
            </a:r>
            <a:r>
              <a:rPr b="1" lang="en-US" sz="1633">
                <a:solidFill>
                  <a:srgbClr val="1155CC"/>
                </a:solidFill>
                <a:latin typeface="Inter"/>
                <a:ea typeface="Inter"/>
                <a:cs typeface="Inter"/>
                <a:sym typeface="Inter"/>
              </a:rPr>
              <a:t>decipher simple codes </a:t>
            </a:r>
            <a:r>
              <a:rPr b="1" lang="en-US" sz="1633">
                <a:solidFill>
                  <a:srgbClr val="24314F"/>
                </a:solidFill>
                <a:latin typeface="Inter"/>
                <a:ea typeface="Inter"/>
                <a:cs typeface="Inter"/>
                <a:sym typeface="Inter"/>
              </a:rPr>
              <a:t>(Caesar ciphers) by pattern deduction without explicit keys.</a:t>
            </a:r>
            <a:endParaRPr b="1" sz="1633">
              <a:solidFill>
                <a:srgbClr val="24314F"/>
              </a:solidFill>
              <a:latin typeface="Inter"/>
              <a:ea typeface="Inter"/>
              <a:cs typeface="Inter"/>
              <a:sym typeface="Inter"/>
            </a:endParaRPr>
          </a:p>
          <a:p>
            <a:pPr indent="-332296" lvl="0" marL="4572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Failure Case: </a:t>
            </a:r>
            <a:r>
              <a:rPr b="1" lang="en-US" sz="1633">
                <a:solidFill>
                  <a:srgbClr val="1155CC"/>
                </a:solidFill>
                <a:latin typeface="Inter"/>
                <a:ea typeface="Inter"/>
                <a:cs typeface="Inter"/>
                <a:sym typeface="Inter"/>
              </a:rPr>
              <a:t>Struggles with complex ciphers</a:t>
            </a:r>
            <a:r>
              <a:rPr b="1" lang="en-US" sz="1633">
                <a:solidFill>
                  <a:srgbClr val="24314F"/>
                </a:solidFill>
                <a:latin typeface="Inter"/>
                <a:ea typeface="Inter"/>
                <a:cs typeface="Inter"/>
                <a:sym typeface="Inter"/>
              </a:rPr>
              <a:t> (Vigenère) without keys, leading to hallucinated solutions.</a:t>
            </a:r>
            <a:endParaRPr b="1" sz="1633">
              <a:solidFill>
                <a:srgbClr val="24314F"/>
              </a:solidFill>
              <a:latin typeface="Inter"/>
              <a:ea typeface="Inter"/>
              <a:cs typeface="Inter"/>
              <a:sym typeface="Inte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grpSp>
        <p:nvGrpSpPr>
          <p:cNvPr id="1128" name="Google Shape;1128;g3b6ccba0dd5_0_51"/>
          <p:cNvGrpSpPr/>
          <p:nvPr/>
        </p:nvGrpSpPr>
        <p:grpSpPr>
          <a:xfrm>
            <a:off x="685800" y="1838306"/>
            <a:ext cx="10820186" cy="5020055"/>
            <a:chOff x="0" y="-47625"/>
            <a:chExt cx="4274726" cy="2214600"/>
          </a:xfrm>
        </p:grpSpPr>
        <p:sp>
          <p:nvSpPr>
            <p:cNvPr id="1129" name="Google Shape;1129;g3b6ccba0dd5_0_5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30" name="Google Shape;1130;g3b6ccba0dd5_0_5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31" name="Google Shape;1131;g3b6ccba0dd5_0_5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Discussion &amp; Implications</a:t>
            </a:r>
            <a:endParaRPr sz="1200"/>
          </a:p>
        </p:txBody>
      </p:sp>
      <p:grpSp>
        <p:nvGrpSpPr>
          <p:cNvPr id="1132" name="Google Shape;1132;g3b6ccba0dd5_0_51"/>
          <p:cNvGrpSpPr/>
          <p:nvPr/>
        </p:nvGrpSpPr>
        <p:grpSpPr>
          <a:xfrm>
            <a:off x="1076700" y="2113824"/>
            <a:ext cx="10093130" cy="5020103"/>
            <a:chOff x="0" y="-47625"/>
            <a:chExt cx="1808189" cy="1790400"/>
          </a:xfrm>
        </p:grpSpPr>
        <p:sp>
          <p:nvSpPr>
            <p:cNvPr id="1133" name="Google Shape;1133;g3b6ccba0dd5_0_5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34" name="Google Shape;1134;g3b6ccba0dd5_0_5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35" name="Google Shape;1135;g3b6ccba0dd5_0_5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36" name="Google Shape;1136;g3b6ccba0dd5_0_51"/>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37" name="Google Shape;1137;g3b6ccba0dd5_0_51"/>
          <p:cNvSpPr txBox="1"/>
          <p:nvPr/>
        </p:nvSpPr>
        <p:spPr>
          <a:xfrm>
            <a:off x="1379950" y="2483324"/>
            <a:ext cx="9531300" cy="362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Emergent Phenomenon: Auto-Pivot Translation: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LRMs spontaneously </a:t>
            </a:r>
            <a:r>
              <a:rPr b="1" lang="en-US" sz="1633">
                <a:solidFill>
                  <a:srgbClr val="1155CC"/>
                </a:solidFill>
                <a:latin typeface="Inter"/>
                <a:ea typeface="Inter"/>
                <a:cs typeface="Inter"/>
                <a:sym typeface="Inter"/>
              </a:rPr>
              <a:t>use high-resource languages</a:t>
            </a:r>
            <a:r>
              <a:rPr b="1" lang="en-US" sz="1633">
                <a:solidFill>
                  <a:srgbClr val="24314F"/>
                </a:solidFill>
                <a:latin typeface="Inter"/>
                <a:ea typeface="Inter"/>
                <a:cs typeface="Inter"/>
                <a:sym typeface="Inter"/>
              </a:rPr>
              <a:t> (like English) as a "bridge" for low-resource pairs (e.g., Irish → English → Chinese) without instruction</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Improves reasoning but </a:t>
            </a:r>
            <a:r>
              <a:rPr b="1" lang="en-US" sz="1633">
                <a:solidFill>
                  <a:srgbClr val="1155CC"/>
                </a:solidFill>
                <a:latin typeface="Inter"/>
                <a:ea typeface="Inter"/>
                <a:cs typeface="Inter"/>
                <a:sym typeface="Inter"/>
              </a:rPr>
              <a:t>may introduce latency and cultural distortion</a:t>
            </a:r>
            <a:endParaRPr b="1" sz="1633">
              <a:solidFill>
                <a:srgbClr val="1155CC"/>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Evaluation Gap:</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Current metrics (COMET, BLEURT) are insufficient for LRMs. They penalize correct, diverse translations that deviate from rigid reference texts</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Robustness via Self-Reflection: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LRMs show </a:t>
            </a:r>
            <a:r>
              <a:rPr b="1" lang="en-US" sz="1633">
                <a:solidFill>
                  <a:srgbClr val="1155CC"/>
                </a:solidFill>
                <a:latin typeface="Inter"/>
                <a:ea typeface="Inter"/>
                <a:cs typeface="Inter"/>
                <a:sym typeface="Inter"/>
              </a:rPr>
              <a:t>unique resilience against noisy inputs</a:t>
            </a:r>
            <a:r>
              <a:rPr b="1" lang="en-US" sz="1633">
                <a:solidFill>
                  <a:srgbClr val="24314F"/>
                </a:solidFill>
                <a:latin typeface="Inter"/>
                <a:ea typeface="Inter"/>
                <a:cs typeface="Inter"/>
                <a:sym typeface="Inter"/>
              </a:rPr>
              <a:t> (typos/scrambled text) by inferring intended meaning rather than translating literally</a:t>
            </a:r>
            <a:endParaRPr b="1" sz="1633">
              <a:solidFill>
                <a:srgbClr val="24314F"/>
              </a:solidFill>
              <a:latin typeface="Inter"/>
              <a:ea typeface="Inter"/>
              <a:cs typeface="Inter"/>
              <a:sym typeface="Inte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grpSp>
        <p:nvGrpSpPr>
          <p:cNvPr id="1142" name="Google Shape;1142;g3b71ecd82ea_0_22"/>
          <p:cNvGrpSpPr/>
          <p:nvPr/>
        </p:nvGrpSpPr>
        <p:grpSpPr>
          <a:xfrm>
            <a:off x="685925" y="1211451"/>
            <a:ext cx="10820186" cy="5800923"/>
            <a:chOff x="0" y="-47625"/>
            <a:chExt cx="4274726" cy="2214600"/>
          </a:xfrm>
        </p:grpSpPr>
        <p:sp>
          <p:nvSpPr>
            <p:cNvPr id="1143" name="Google Shape;1143;g3b71ecd82ea_0_22"/>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44" name="Google Shape;1144;g3b71ecd82ea_0_22"/>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45" name="Google Shape;1145;g3b71ecd82ea_0_22"/>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Future Research</a:t>
            </a:r>
            <a:endParaRPr sz="1200"/>
          </a:p>
        </p:txBody>
      </p:sp>
      <p:grpSp>
        <p:nvGrpSpPr>
          <p:cNvPr id="1146" name="Google Shape;1146;g3b71ecd82ea_0_22"/>
          <p:cNvGrpSpPr/>
          <p:nvPr/>
        </p:nvGrpSpPr>
        <p:grpSpPr>
          <a:xfrm>
            <a:off x="1076825" y="1486976"/>
            <a:ext cx="10093130" cy="5525353"/>
            <a:chOff x="0" y="-47625"/>
            <a:chExt cx="1808189" cy="1790400"/>
          </a:xfrm>
        </p:grpSpPr>
        <p:sp>
          <p:nvSpPr>
            <p:cNvPr id="1147" name="Google Shape;1147;g3b71ecd82ea_0_22"/>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48" name="Google Shape;1148;g3b71ecd82ea_0_22"/>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49" name="Google Shape;1149;g3b71ecd82ea_0_22"/>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50" name="Google Shape;1150;g3b71ecd82ea_0_22"/>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51" name="Google Shape;1151;g3b71ecd82ea_0_22"/>
          <p:cNvSpPr txBox="1"/>
          <p:nvPr/>
        </p:nvSpPr>
        <p:spPr>
          <a:xfrm>
            <a:off x="1380063" y="1856474"/>
            <a:ext cx="9531300" cy="4797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Inference Efficiency::</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1155CC"/>
                </a:solidFill>
                <a:latin typeface="Inter"/>
                <a:ea typeface="Inter"/>
                <a:cs typeface="Inter"/>
                <a:sym typeface="Inter"/>
              </a:rPr>
              <a:t> Long CoT reasoning chains create high computational overhead and latency</a:t>
            </a:r>
            <a:r>
              <a:rPr b="1" lang="en-US" sz="1633">
                <a:solidFill>
                  <a:srgbClr val="24314F"/>
                </a:solidFill>
                <a:latin typeface="Inter"/>
                <a:ea typeface="Inter"/>
                <a:cs typeface="Inter"/>
                <a:sym typeface="Inter"/>
              </a:rPr>
              <a:t>, preventing real-time application</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Direction: </a:t>
            </a:r>
            <a:r>
              <a:rPr b="1" lang="en-US" sz="1633">
                <a:solidFill>
                  <a:srgbClr val="1155CC"/>
                </a:solidFill>
                <a:latin typeface="Inter"/>
                <a:ea typeface="Inter"/>
                <a:cs typeface="Inter"/>
                <a:sym typeface="Inter"/>
              </a:rPr>
              <a:t>Research into pruning redundant reasoning steps and model compression</a:t>
            </a:r>
            <a:endParaRPr b="1" sz="1633">
              <a:solidFill>
                <a:srgbClr val="1155CC"/>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Addressing Over-Localization: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Finding the balance between </a:t>
            </a:r>
            <a:r>
              <a:rPr b="1" lang="en-US" sz="1633">
                <a:solidFill>
                  <a:srgbClr val="1155CC"/>
                </a:solidFill>
                <a:latin typeface="Inter"/>
                <a:ea typeface="Inter"/>
                <a:cs typeface="Inter"/>
                <a:sym typeface="Inter"/>
              </a:rPr>
              <a:t>preserving source text authenticity</a:t>
            </a:r>
            <a:r>
              <a:rPr b="1" lang="en-US" sz="1633">
                <a:solidFill>
                  <a:srgbClr val="24314F"/>
                </a:solidFill>
                <a:latin typeface="Inter"/>
                <a:ea typeface="Inter"/>
                <a:cs typeface="Inter"/>
                <a:sym typeface="Inter"/>
              </a:rPr>
              <a:t> and a</a:t>
            </a:r>
            <a:r>
              <a:rPr b="1" lang="en-US" sz="1633">
                <a:solidFill>
                  <a:srgbClr val="1155CC"/>
                </a:solidFill>
                <a:latin typeface="Inter"/>
                <a:ea typeface="Inter"/>
                <a:cs typeface="Inter"/>
                <a:sym typeface="Inter"/>
              </a:rPr>
              <a:t>chieving target language fluency</a:t>
            </a:r>
            <a:endParaRPr b="1" sz="1633">
              <a:solidFill>
                <a:srgbClr val="1155CC"/>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Complex Reasoning &amp; Hallucination: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Improving model honesty so they </a:t>
            </a:r>
            <a:r>
              <a:rPr b="1" lang="en-US" sz="1633">
                <a:solidFill>
                  <a:srgbClr val="1155CC"/>
                </a:solidFill>
                <a:latin typeface="Inter"/>
                <a:ea typeface="Inter"/>
                <a:cs typeface="Inter"/>
                <a:sym typeface="Inter"/>
              </a:rPr>
              <a:t>admit uncertainty in complex tasks</a:t>
            </a:r>
            <a:r>
              <a:rPr b="1" lang="en-US" sz="1633">
                <a:solidFill>
                  <a:srgbClr val="24314F"/>
                </a:solidFill>
                <a:latin typeface="Inter"/>
                <a:ea typeface="Inter"/>
                <a:cs typeface="Inter"/>
                <a:sym typeface="Inter"/>
              </a:rPr>
              <a:t> (like cryptography) rather than hallucinating answers</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Specialized Domains</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1155CC"/>
                </a:solidFill>
                <a:latin typeface="Inter"/>
                <a:ea typeface="Inter"/>
                <a:cs typeface="Inter"/>
                <a:sym typeface="Inter"/>
              </a:rPr>
              <a:t>Enhancing multi-modal capabilities for specific tasks </a:t>
            </a:r>
            <a:r>
              <a:rPr b="1" lang="en-US" sz="1633">
                <a:solidFill>
                  <a:srgbClr val="24314F"/>
                </a:solidFill>
                <a:latin typeface="Inter"/>
                <a:ea typeface="Inter"/>
                <a:cs typeface="Inter"/>
                <a:sym typeface="Inter"/>
              </a:rPr>
              <a:t>like Sign Language interpretation, where current models still struggle</a:t>
            </a:r>
            <a:endParaRPr b="1" sz="1633">
              <a:solidFill>
                <a:srgbClr val="24314F"/>
              </a:solidFill>
              <a:latin typeface="Inter"/>
              <a:ea typeface="Inter"/>
              <a:cs typeface="Inter"/>
              <a:sym typeface="Inte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grpSp>
        <p:nvGrpSpPr>
          <p:cNvPr id="1156" name="Google Shape;1156;g3b71ecd82ea_0_35"/>
          <p:cNvGrpSpPr/>
          <p:nvPr/>
        </p:nvGrpSpPr>
        <p:grpSpPr>
          <a:xfrm>
            <a:off x="685800" y="1838306"/>
            <a:ext cx="10820186" cy="5020055"/>
            <a:chOff x="0" y="-47625"/>
            <a:chExt cx="4274726" cy="2214600"/>
          </a:xfrm>
        </p:grpSpPr>
        <p:sp>
          <p:nvSpPr>
            <p:cNvPr id="1157" name="Google Shape;1157;g3b71ecd82ea_0_3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58" name="Google Shape;1158;g3b71ecd82ea_0_3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59" name="Google Shape;1159;g3b71ecd82ea_0_35"/>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Conclusion</a:t>
            </a:r>
            <a:endParaRPr sz="1200"/>
          </a:p>
        </p:txBody>
      </p:sp>
      <p:grpSp>
        <p:nvGrpSpPr>
          <p:cNvPr id="1160" name="Google Shape;1160;g3b71ecd82ea_0_35"/>
          <p:cNvGrpSpPr/>
          <p:nvPr/>
        </p:nvGrpSpPr>
        <p:grpSpPr>
          <a:xfrm>
            <a:off x="1076700" y="2113824"/>
            <a:ext cx="10093130" cy="5020103"/>
            <a:chOff x="0" y="-47625"/>
            <a:chExt cx="1808189" cy="1790400"/>
          </a:xfrm>
        </p:grpSpPr>
        <p:sp>
          <p:nvSpPr>
            <p:cNvPr id="1161" name="Google Shape;1161;g3b71ecd82ea_0_3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2" name="Google Shape;1162;g3b71ecd82ea_0_3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63" name="Google Shape;1163;g3b71ecd82ea_0_35"/>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64" name="Google Shape;1164;g3b71ecd82ea_0_35"/>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65" name="Google Shape;1165;g3b71ecd82ea_0_35"/>
          <p:cNvSpPr txBox="1"/>
          <p:nvPr/>
        </p:nvSpPr>
        <p:spPr>
          <a:xfrm>
            <a:off x="1379950" y="2483324"/>
            <a:ext cx="9531300" cy="28905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Redefining Translation: LRMs represent a paradigm shift, transforming translation systems from text converters into cognitive agents.</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Key Takeaway: By dynamically reasoning about context, culture, and intent, these models open new possibilities for cross-cultural communication.</a:t>
            </a:r>
            <a:endParaRPr b="1" sz="1633">
              <a:solidFill>
                <a:srgbClr val="24314F"/>
              </a:solidFill>
              <a:latin typeface="Inter"/>
              <a:ea typeface="Inter"/>
              <a:cs typeface="Inter"/>
              <a:sym typeface="Inter"/>
            </a:endParaRPr>
          </a:p>
          <a:p>
            <a:pPr indent="0" lvl="0" marL="45720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Final Thought: The future of MT lies in moving beyond linguistic challenges to deeper reasoning tasks, though significant work remains in efficiency and evaluation</a:t>
            </a:r>
            <a:endParaRPr b="1" sz="1633">
              <a:solidFill>
                <a:srgbClr val="24314F"/>
              </a:solidFill>
              <a:latin typeface="Inter"/>
              <a:ea typeface="Inter"/>
              <a:cs typeface="Inter"/>
              <a:sym typeface="Inte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71ecd82ea_0_48"/>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Steps</a:t>
            </a:r>
            <a:endParaRPr sz="3400">
              <a:solidFill>
                <a:srgbClr val="FF0000"/>
              </a:solidFill>
            </a:endParaRPr>
          </a:p>
        </p:txBody>
      </p:sp>
      <p:sp>
        <p:nvSpPr>
          <p:cNvPr id="1172" name="Google Shape;1172;g3b71ecd82ea_0_48"/>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previous Pipeline with Branch Tracking and Resource Monitoring Tracks execution paths, GPU memory, and detailed timing for reasoning analysis (on-going)</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current AI project from a multi-server setup to a Single, offline Python Script using Qwen2,5-Omni and vLLM-Omni 0.11.0 to handle audio-to-text-tool-use natively on the GPU (on-going)</a:t>
            </a:r>
            <a:endParaRPr sz="1900">
              <a:solidFill>
                <a:schemeClr val="dk1"/>
              </a:solidFill>
              <a:latin typeface="Roboto Mono"/>
              <a:ea typeface="Roboto Mono"/>
              <a:cs typeface="Roboto Mono"/>
              <a:sym typeface="Roboto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g3b6ccba0dd5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Jan 7, 2026</a:t>
            </a:r>
            <a:endParaRPr>
              <a:solidFill>
                <a:srgbClr val="FF0000"/>
              </a:solidFill>
              <a:latin typeface="ADLaM Display"/>
              <a:ea typeface="ADLaM Display"/>
              <a:cs typeface="ADLaM Display"/>
              <a:sym typeface="ADLaM Display"/>
            </a:endParaRPr>
          </a:p>
        </p:txBody>
      </p:sp>
      <p:sp>
        <p:nvSpPr>
          <p:cNvPr id="1178" name="Google Shape;1178;g3b6ccba0dd5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g3b6ccba0dd5_0_5"/>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185" name="Google Shape;1185;g3b6ccba0dd5_0_5"/>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1900">
                <a:solidFill>
                  <a:schemeClr val="dk1"/>
                </a:solidFill>
                <a:latin typeface="Roboto Mono"/>
                <a:ea typeface="Roboto Mono"/>
                <a:cs typeface="Roboto Mono"/>
                <a:sym typeface="Roboto Mono"/>
              </a:rPr>
              <a:t>Chain Whisper (perception) and GPT-OSS (reasoning) to simulate an Omni-modal assistant, specifically benchmarking the latency trade-offs between general chat and tool-use capabilities.</a:t>
            </a:r>
            <a:endParaRPr sz="2900">
              <a:solidFill>
                <a:schemeClr val="dk1"/>
              </a:solidFill>
            </a:endParaRPr>
          </a:p>
          <a:p>
            <a:pPr indent="0" lvl="0" marL="457200" rtl="0" algn="l">
              <a:lnSpc>
                <a:spcPct val="150000"/>
              </a:lnSpc>
              <a:spcBef>
                <a:spcPts val="0"/>
              </a:spcBef>
              <a:spcAft>
                <a:spcPts val="0"/>
              </a:spcAft>
              <a:buNone/>
            </a:pPr>
            <a:r>
              <a:t/>
            </a:r>
            <a:endParaRPr sz="2900">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grpSp>
        <p:nvGrpSpPr>
          <p:cNvPr id="1190" name="Google Shape;1190;g3b2749457dd_0_11"/>
          <p:cNvGrpSpPr/>
          <p:nvPr/>
        </p:nvGrpSpPr>
        <p:grpSpPr>
          <a:xfrm>
            <a:off x="685800" y="1838306"/>
            <a:ext cx="10820186" cy="5020055"/>
            <a:chOff x="0" y="-47625"/>
            <a:chExt cx="4274726" cy="2214600"/>
          </a:xfrm>
        </p:grpSpPr>
        <p:sp>
          <p:nvSpPr>
            <p:cNvPr id="1191" name="Google Shape;1191;g3b2749457dd_0_1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92" name="Google Shape;1192;g3b2749457dd_0_1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93" name="Google Shape;1193;g3b2749457dd_0_1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Architecture (Compound AI System)</a:t>
            </a:r>
            <a:endParaRPr sz="1200"/>
          </a:p>
        </p:txBody>
      </p:sp>
      <p:grpSp>
        <p:nvGrpSpPr>
          <p:cNvPr id="1194" name="Google Shape;1194;g3b2749457dd_0_11"/>
          <p:cNvGrpSpPr/>
          <p:nvPr/>
        </p:nvGrpSpPr>
        <p:grpSpPr>
          <a:xfrm>
            <a:off x="1076700" y="2113824"/>
            <a:ext cx="10093130" cy="5020103"/>
            <a:chOff x="0" y="-47625"/>
            <a:chExt cx="1808189" cy="1790400"/>
          </a:xfrm>
        </p:grpSpPr>
        <p:sp>
          <p:nvSpPr>
            <p:cNvPr id="1195" name="Google Shape;1195;g3b2749457dd_0_1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96" name="Google Shape;1196;g3b2749457dd_0_1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197" name="Google Shape;1197;g3b2749457dd_0_1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198" name="Google Shape;1198;g3b2749457dd_0_11"/>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199" name="Google Shape;1199;g3b2749457dd_0_11"/>
          <p:cNvSpPr txBox="1"/>
          <p:nvPr/>
        </p:nvSpPr>
        <p:spPr>
          <a:xfrm>
            <a:off x="1379950" y="2483324"/>
            <a:ext cx="9531300" cy="3738900"/>
          </a:xfrm>
          <a:prstGeom prst="rect">
            <a:avLst/>
          </a:prstGeom>
          <a:noFill/>
          <a:ln>
            <a:noFill/>
          </a:ln>
        </p:spPr>
        <p:txBody>
          <a:bodyPr anchorCtr="0" anchor="t" bIns="0" lIns="0" spcFirstLastPara="1" rIns="0" wrap="square" tIns="0">
            <a:spAutoFit/>
          </a:bodyPr>
          <a:lstStyle/>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Perception: whisper-large-v3 (Port 8000)</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Audio-to-Text.</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Reasoning: gpt-oss (Port 8001)</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Text-to-Text &amp; Function Calling.</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Synthesis: Google TTS (with local Wav fallback) </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Handles Text-to-Audio.</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Why this approach?</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Since GPT-OSS is a text-only model, it cannot run as a native Omni model (like Llama-3.1-Omni).</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This modular wrapper gives GPT-OSS "hearing and speaking" capabilities.</a:t>
            </a:r>
            <a:endParaRPr b="1" sz="1633">
              <a:solidFill>
                <a:srgbClr val="24314F"/>
              </a:solidFill>
              <a:latin typeface="Inter"/>
              <a:ea typeface="Inter"/>
              <a:cs typeface="Inter"/>
              <a:sym typeface="Inter"/>
            </a:endParaRPr>
          </a:p>
          <a:p>
            <a:pPr indent="-332296" lvl="1" marL="9144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It allows us to isolate specific reasoning latency.</a:t>
            </a:r>
            <a:endParaRPr b="1" sz="1633">
              <a:solidFill>
                <a:srgbClr val="24314F"/>
              </a:solidFill>
              <a:latin typeface="Inter"/>
              <a:ea typeface="Inter"/>
              <a:cs typeface="Inter"/>
              <a:sym typeface="Inte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grpSp>
        <p:nvGrpSpPr>
          <p:cNvPr id="1204" name="Google Shape;1204;g3b2749457dd_0_56"/>
          <p:cNvGrpSpPr/>
          <p:nvPr/>
        </p:nvGrpSpPr>
        <p:grpSpPr>
          <a:xfrm>
            <a:off x="685800" y="1838306"/>
            <a:ext cx="10820186" cy="5020055"/>
            <a:chOff x="0" y="-47625"/>
            <a:chExt cx="4274726" cy="2214600"/>
          </a:xfrm>
        </p:grpSpPr>
        <p:sp>
          <p:nvSpPr>
            <p:cNvPr id="1205" name="Google Shape;1205;g3b2749457dd_0_5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06" name="Google Shape;1206;g3b2749457dd_0_5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07" name="Google Shape;1207;g3b2749457dd_0_56"/>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Experimental Setup</a:t>
            </a:r>
            <a:endParaRPr sz="1200"/>
          </a:p>
        </p:txBody>
      </p:sp>
      <p:grpSp>
        <p:nvGrpSpPr>
          <p:cNvPr id="1208" name="Google Shape;1208;g3b2749457dd_0_56"/>
          <p:cNvGrpSpPr/>
          <p:nvPr/>
        </p:nvGrpSpPr>
        <p:grpSpPr>
          <a:xfrm>
            <a:off x="1076700" y="2113824"/>
            <a:ext cx="10093130" cy="5020103"/>
            <a:chOff x="0" y="-47625"/>
            <a:chExt cx="1808189" cy="1790400"/>
          </a:xfrm>
        </p:grpSpPr>
        <p:sp>
          <p:nvSpPr>
            <p:cNvPr id="1209" name="Google Shape;1209;g3b2749457dd_0_5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10" name="Google Shape;1210;g3b2749457dd_0_56"/>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11" name="Google Shape;1211;g3b2749457dd_0_56"/>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212" name="Google Shape;1212;g3b2749457dd_0_56"/>
          <p:cNvSpPr txBox="1"/>
          <p:nvPr/>
        </p:nvSpPr>
        <p:spPr>
          <a:xfrm>
            <a:off x="685799" y="1211450"/>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u="sng">
                <a:solidFill>
                  <a:schemeClr val="hlink"/>
                </a:solidFill>
                <a:latin typeface="Inter"/>
                <a:ea typeface="Inter"/>
                <a:cs typeface="Inter"/>
                <a:sym typeface="Inter"/>
                <a:hlinkClick r:id="rId3"/>
              </a:rPr>
              <a:t>https://huggingface.co/datasets/PolyAI/banking77</a:t>
            </a:r>
            <a:r>
              <a:rPr b="1" lang="en-US" sz="1600">
                <a:solidFill>
                  <a:srgbClr val="24314F"/>
                </a:solidFill>
                <a:latin typeface="Inter"/>
                <a:ea typeface="Inter"/>
                <a:cs typeface="Inter"/>
                <a:sym typeface="Inter"/>
              </a:rPr>
              <a:t> </a:t>
            </a:r>
            <a:endParaRPr b="1" sz="1600">
              <a:solidFill>
                <a:srgbClr val="24314F"/>
              </a:solidFill>
              <a:latin typeface="Inter"/>
              <a:ea typeface="Inter"/>
              <a:cs typeface="Inter"/>
              <a:sym typeface="Inter"/>
            </a:endParaRPr>
          </a:p>
        </p:txBody>
      </p:sp>
      <p:sp>
        <p:nvSpPr>
          <p:cNvPr id="1213" name="Google Shape;1213;g3b2749457dd_0_56"/>
          <p:cNvSpPr txBox="1"/>
          <p:nvPr/>
        </p:nvSpPr>
        <p:spPr>
          <a:xfrm>
            <a:off x="1379950" y="2483324"/>
            <a:ext cx="9531300" cy="362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Synthetic Dataset Generation:</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Total Samples: 100 Audio Files.</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20% Tool Use: "Phone Number Lookups" (Requires precise parameter extraction).</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80% General Chat: "Jokes," "Exchange Rates" (Requires creative text generation). (PolyAI/banking77)</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0"/>
              </a:spcAft>
              <a:buNone/>
            </a:pPr>
            <a:r>
              <a:rPr b="1" lang="en-US" sz="1633">
                <a:solidFill>
                  <a:srgbClr val="24314F"/>
                </a:solidFill>
                <a:latin typeface="Inter"/>
                <a:ea typeface="Inter"/>
                <a:cs typeface="Inter"/>
                <a:sym typeface="Inter"/>
              </a:rPr>
              <a:t>Infrastructure (HPC Node):</a:t>
            </a:r>
            <a:endParaRPr b="1" sz="1633">
              <a:solidFill>
                <a:srgbClr val="24314F"/>
              </a:solidFill>
              <a:latin typeface="Inter"/>
              <a:ea typeface="Inter"/>
              <a:cs typeface="Inter"/>
              <a:sym typeface="Inter"/>
            </a:endParaRPr>
          </a:p>
          <a:p>
            <a:pPr indent="-332296" lvl="0" marL="457200" rtl="0" algn="l">
              <a:lnSpc>
                <a:spcPct val="115000"/>
              </a:lnSpc>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Hardware: Single GPU Node (110GB RAM).</a:t>
            </a:r>
            <a:endParaRPr b="1" sz="1633">
              <a:solidFill>
                <a:srgbClr val="24314F"/>
              </a:solidFill>
              <a:latin typeface="Inter"/>
              <a:ea typeface="Inter"/>
              <a:cs typeface="Inter"/>
              <a:sym typeface="Inter"/>
            </a:endParaRPr>
          </a:p>
          <a:p>
            <a:pPr indent="-332296" lvl="0" marL="457200" rtl="0" algn="l">
              <a:lnSpc>
                <a:spcPct val="11500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Optimization: Implemented Sequential Loading logic (Whisper First then GPT-OSS)</a:t>
            </a:r>
            <a:endParaRPr b="1" sz="1633">
              <a:solidFill>
                <a:srgbClr val="24314F"/>
              </a:solidFill>
              <a:latin typeface="Inter"/>
              <a:ea typeface="Inter"/>
              <a:cs typeface="Inter"/>
              <a:sym typeface="Inter"/>
            </a:endParaRPr>
          </a:p>
          <a:p>
            <a:pPr indent="0" lvl="0" marL="0" rtl="0" algn="l">
              <a:lnSpc>
                <a:spcPct val="115000"/>
              </a:lnSpc>
              <a:spcBef>
                <a:spcPts val="1200"/>
              </a:spcBef>
              <a:spcAft>
                <a:spcPts val="1200"/>
              </a:spcAft>
              <a:buNone/>
            </a:pPr>
            <a:r>
              <a:t/>
            </a:r>
            <a:endParaRPr b="1" sz="1633">
              <a:solidFill>
                <a:srgbClr val="24314F"/>
              </a:solidFill>
              <a:latin typeface="Inter"/>
              <a:ea typeface="Inter"/>
              <a:cs typeface="Inter"/>
              <a:sym typeface="Inte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grpSp>
        <p:nvGrpSpPr>
          <p:cNvPr id="1218" name="Google Shape;1218;g3b2749457dd_0_24"/>
          <p:cNvGrpSpPr/>
          <p:nvPr/>
        </p:nvGrpSpPr>
        <p:grpSpPr>
          <a:xfrm>
            <a:off x="685800" y="1838306"/>
            <a:ext cx="10820186" cy="5020055"/>
            <a:chOff x="0" y="-47625"/>
            <a:chExt cx="4274726" cy="2214600"/>
          </a:xfrm>
        </p:grpSpPr>
        <p:sp>
          <p:nvSpPr>
            <p:cNvPr id="1219" name="Google Shape;1219;g3b2749457dd_0_2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20" name="Google Shape;1220;g3b2749457dd_0_2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21" name="Google Shape;1221;g3b2749457dd_0_24"/>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End-to-End Latency Breakdown</a:t>
            </a:r>
            <a:endParaRPr sz="1200"/>
          </a:p>
        </p:txBody>
      </p:sp>
      <p:grpSp>
        <p:nvGrpSpPr>
          <p:cNvPr id="1222" name="Google Shape;1222;g3b2749457dd_0_24"/>
          <p:cNvGrpSpPr/>
          <p:nvPr/>
        </p:nvGrpSpPr>
        <p:grpSpPr>
          <a:xfrm>
            <a:off x="1076700" y="2113824"/>
            <a:ext cx="10093130" cy="5020103"/>
            <a:chOff x="0" y="-47625"/>
            <a:chExt cx="1808189" cy="1790400"/>
          </a:xfrm>
        </p:grpSpPr>
        <p:sp>
          <p:nvSpPr>
            <p:cNvPr id="1223" name="Google Shape;1223;g3b2749457dd_0_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24" name="Google Shape;1224;g3b2749457dd_0_2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25" name="Google Shape;1225;g3b2749457dd_0_24"/>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226" name="Google Shape;1226;g3b2749457dd_0_24"/>
          <p:cNvPicPr preferRelativeResize="0"/>
          <p:nvPr/>
        </p:nvPicPr>
        <p:blipFill>
          <a:blip r:embed="rId3">
            <a:alphaModFix/>
          </a:blip>
          <a:stretch>
            <a:fillRect/>
          </a:stretch>
        </p:blipFill>
        <p:spPr>
          <a:xfrm>
            <a:off x="1076700" y="2474326"/>
            <a:ext cx="6803123" cy="3969599"/>
          </a:xfrm>
          <a:prstGeom prst="rect">
            <a:avLst/>
          </a:prstGeom>
          <a:noFill/>
          <a:ln>
            <a:noFill/>
          </a:ln>
        </p:spPr>
      </p:pic>
      <p:sp>
        <p:nvSpPr>
          <p:cNvPr id="1227" name="Google Shape;1227;g3b2749457dd_0_24"/>
          <p:cNvSpPr txBox="1"/>
          <p:nvPr/>
        </p:nvSpPr>
        <p:spPr>
          <a:xfrm>
            <a:off x="6710323" y="3728325"/>
            <a:ext cx="4253700" cy="27156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Observations: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Cold Start</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Reasoning consumes the largest portion of time </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TTS Speaking bars vary significantly in height.</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Executing the Python function itself is near-instantaneous</a:t>
            </a:r>
            <a:endParaRPr b="1" sz="1633">
              <a:solidFill>
                <a:srgbClr val="24314F"/>
              </a:solidFill>
              <a:latin typeface="Inter"/>
              <a:ea typeface="Inter"/>
              <a:cs typeface="Inter"/>
              <a:sym typeface="Inter"/>
            </a:endParaRPr>
          </a:p>
        </p:txBody>
      </p:sp>
      <p:sp>
        <p:nvSpPr>
          <p:cNvPr id="1228" name="Google Shape;1228;g3b2749457dd_0_24"/>
          <p:cNvSpPr txBox="1"/>
          <p:nvPr/>
        </p:nvSpPr>
        <p:spPr>
          <a:xfrm>
            <a:off x="685799" y="1102763"/>
            <a:ext cx="10820100" cy="591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Optimization efforts should focus on the Reasoning (GPT) phase, as it is the consistent latency driver once the system is warm. The audio components  are either fast or predictably linear based on length.</a:t>
            </a:r>
            <a:endParaRPr b="1" sz="1600">
              <a:solidFill>
                <a:srgbClr val="24314F"/>
              </a:solidFill>
              <a:latin typeface="Inter"/>
              <a:ea typeface="Inter"/>
              <a:cs typeface="Inter"/>
              <a:sym typeface="Inte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grpSp>
        <p:nvGrpSpPr>
          <p:cNvPr id="1233" name="Google Shape;1233;g3b2749457dd_0_75"/>
          <p:cNvGrpSpPr/>
          <p:nvPr/>
        </p:nvGrpSpPr>
        <p:grpSpPr>
          <a:xfrm>
            <a:off x="685800" y="1838306"/>
            <a:ext cx="10820186" cy="5020055"/>
            <a:chOff x="0" y="-47625"/>
            <a:chExt cx="4274726" cy="2214600"/>
          </a:xfrm>
        </p:grpSpPr>
        <p:sp>
          <p:nvSpPr>
            <p:cNvPr id="1234" name="Google Shape;1234;g3b2749457dd_0_7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35" name="Google Shape;1235;g3b2749457dd_0_7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36" name="Google Shape;1236;g3b2749457dd_0_75"/>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Token Usage Analysis: Latency vs. Generation Length</a:t>
            </a:r>
            <a:endParaRPr sz="1200"/>
          </a:p>
        </p:txBody>
      </p:sp>
      <p:grpSp>
        <p:nvGrpSpPr>
          <p:cNvPr id="1237" name="Google Shape;1237;g3b2749457dd_0_75"/>
          <p:cNvGrpSpPr/>
          <p:nvPr/>
        </p:nvGrpSpPr>
        <p:grpSpPr>
          <a:xfrm>
            <a:off x="1076700" y="2113824"/>
            <a:ext cx="10093130" cy="5020103"/>
            <a:chOff x="0" y="-47625"/>
            <a:chExt cx="1808189" cy="1790400"/>
          </a:xfrm>
        </p:grpSpPr>
        <p:sp>
          <p:nvSpPr>
            <p:cNvPr id="1238" name="Google Shape;1238;g3b2749457dd_0_7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39" name="Google Shape;1239;g3b2749457dd_0_7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40" name="Google Shape;1240;g3b2749457dd_0_75"/>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241" name="Google Shape;1241;g3b2749457dd_0_75"/>
          <p:cNvPicPr preferRelativeResize="0"/>
          <p:nvPr/>
        </p:nvPicPr>
        <p:blipFill>
          <a:blip r:embed="rId3">
            <a:alphaModFix/>
          </a:blip>
          <a:stretch>
            <a:fillRect/>
          </a:stretch>
        </p:blipFill>
        <p:spPr>
          <a:xfrm>
            <a:off x="1198350" y="2493400"/>
            <a:ext cx="5885527" cy="3531851"/>
          </a:xfrm>
          <a:prstGeom prst="rect">
            <a:avLst/>
          </a:prstGeom>
          <a:noFill/>
          <a:ln>
            <a:noFill/>
          </a:ln>
        </p:spPr>
      </p:pic>
      <p:sp>
        <p:nvSpPr>
          <p:cNvPr id="1242" name="Google Shape;1242;g3b2749457dd_0_75"/>
          <p:cNvSpPr txBox="1"/>
          <p:nvPr/>
        </p:nvSpPr>
        <p:spPr>
          <a:xfrm>
            <a:off x="7083875" y="2774550"/>
            <a:ext cx="3863100" cy="34197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Observations: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more the model "speaks," the slower the system gets.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Tool use has high prompt token because the system prompt includes the heavy JSON tool definitions but they have very low completion tokens (&lt;100). The model only outputs a short JSON object or a brief summary.</a:t>
            </a:r>
            <a:endParaRPr b="1" sz="1633">
              <a:solidFill>
                <a:srgbClr val="24314F"/>
              </a:solidFill>
              <a:latin typeface="Inter"/>
              <a:ea typeface="Inter"/>
              <a:cs typeface="Inter"/>
              <a:sym typeface="Inter"/>
            </a:endParaRPr>
          </a:p>
        </p:txBody>
      </p:sp>
      <p:sp>
        <p:nvSpPr>
          <p:cNvPr id="1243" name="Google Shape;1243;g3b2749457dd_0_75"/>
          <p:cNvSpPr txBox="1"/>
          <p:nvPr/>
        </p:nvSpPr>
        <p:spPr>
          <a:xfrm>
            <a:off x="685799" y="1102763"/>
            <a:ext cx="108201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The system's latency bottleneck is Generation, not Ingestion.</a:t>
            </a:r>
            <a:endParaRPr b="1" sz="1600">
              <a:solidFill>
                <a:srgbClr val="24314F"/>
              </a:solidFill>
              <a:latin typeface="Inter"/>
              <a:ea typeface="Inter"/>
              <a:cs typeface="Inter"/>
              <a:sym typeface="Inte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grpSp>
        <p:nvGrpSpPr>
          <p:cNvPr id="1248" name="Google Shape;1248;g3b2749457dd_0_40"/>
          <p:cNvGrpSpPr/>
          <p:nvPr/>
        </p:nvGrpSpPr>
        <p:grpSpPr>
          <a:xfrm>
            <a:off x="685800" y="1838306"/>
            <a:ext cx="10820186" cy="5020055"/>
            <a:chOff x="0" y="-47625"/>
            <a:chExt cx="4274726" cy="2214600"/>
          </a:xfrm>
        </p:grpSpPr>
        <p:sp>
          <p:nvSpPr>
            <p:cNvPr id="1249" name="Google Shape;1249;g3b2749457dd_0_4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50" name="Google Shape;1250;g3b2749457dd_0_4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51" name="Google Shape;1251;g3b2749457dd_0_4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Generation Speed: Time Per Output Token (TPOT)</a:t>
            </a:r>
            <a:endParaRPr sz="1200"/>
          </a:p>
        </p:txBody>
      </p:sp>
      <p:grpSp>
        <p:nvGrpSpPr>
          <p:cNvPr id="1252" name="Google Shape;1252;g3b2749457dd_0_40"/>
          <p:cNvGrpSpPr/>
          <p:nvPr/>
        </p:nvGrpSpPr>
        <p:grpSpPr>
          <a:xfrm>
            <a:off x="1076700" y="2113824"/>
            <a:ext cx="10093130" cy="5020103"/>
            <a:chOff x="0" y="-47625"/>
            <a:chExt cx="1808189" cy="1790400"/>
          </a:xfrm>
        </p:grpSpPr>
        <p:sp>
          <p:nvSpPr>
            <p:cNvPr id="1253" name="Google Shape;1253;g3b2749457dd_0_4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54" name="Google Shape;1254;g3b2749457dd_0_4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55" name="Google Shape;1255;g3b2749457dd_0_4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256" name="Google Shape;1256;g3b2749457dd_0_40"/>
          <p:cNvSpPr txBox="1"/>
          <p:nvPr/>
        </p:nvSpPr>
        <p:spPr>
          <a:xfrm>
            <a:off x="6710323" y="2712675"/>
            <a:ext cx="4253700" cy="16596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Observations: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Both "Direct Chat" (Avg: 26.0 ms/token) and "Tool Use" (Avg: 22.1 ms/token) show very similar generation speeds.</a:t>
            </a:r>
            <a:endParaRPr b="1" sz="1633">
              <a:solidFill>
                <a:srgbClr val="24314F"/>
              </a:solidFill>
              <a:latin typeface="Inter"/>
              <a:ea typeface="Inter"/>
              <a:cs typeface="Inter"/>
              <a:sym typeface="Inter"/>
            </a:endParaRPr>
          </a:p>
        </p:txBody>
      </p:sp>
      <p:pic>
        <p:nvPicPr>
          <p:cNvPr id="1257" name="Google Shape;1257;g3b2749457dd_0_40"/>
          <p:cNvPicPr preferRelativeResize="0"/>
          <p:nvPr/>
        </p:nvPicPr>
        <p:blipFill>
          <a:blip r:embed="rId3">
            <a:alphaModFix/>
          </a:blip>
          <a:stretch>
            <a:fillRect/>
          </a:stretch>
        </p:blipFill>
        <p:spPr>
          <a:xfrm>
            <a:off x="1259050" y="2712673"/>
            <a:ext cx="5451274" cy="3271291"/>
          </a:xfrm>
          <a:prstGeom prst="rect">
            <a:avLst/>
          </a:prstGeom>
          <a:noFill/>
          <a:ln>
            <a:noFill/>
          </a:ln>
        </p:spPr>
      </p:pic>
      <p:sp>
        <p:nvSpPr>
          <p:cNvPr id="1258" name="Google Shape;1258;g3b2749457dd_0_40"/>
          <p:cNvSpPr txBox="1"/>
          <p:nvPr/>
        </p:nvSpPr>
        <p:spPr>
          <a:xfrm>
            <a:off x="685799" y="1102763"/>
            <a:ext cx="10820100" cy="591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Since the generation speed is stable (~22-26ms), the high latency we observed in "Direct Chat" is driven entirely by volume (generating more tokens), not by complexity (slower generation).</a:t>
            </a:r>
            <a:endParaRPr b="1" sz="1600">
              <a:solidFill>
                <a:srgbClr val="24314F"/>
              </a:solidFill>
              <a:latin typeface="Inter"/>
              <a:ea typeface="Inter"/>
              <a:cs typeface="Inter"/>
              <a:sym typeface="Inte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grpSp>
        <p:nvGrpSpPr>
          <p:cNvPr id="1263" name="Google Shape;1263;g3b2749457dd_0_92"/>
          <p:cNvGrpSpPr/>
          <p:nvPr/>
        </p:nvGrpSpPr>
        <p:grpSpPr>
          <a:xfrm>
            <a:off x="685800" y="1838306"/>
            <a:ext cx="10820186" cy="5020055"/>
            <a:chOff x="0" y="-47625"/>
            <a:chExt cx="4274726" cy="2214600"/>
          </a:xfrm>
        </p:grpSpPr>
        <p:sp>
          <p:nvSpPr>
            <p:cNvPr id="1264" name="Google Shape;1264;g3b2749457dd_0_92"/>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65" name="Google Shape;1265;g3b2749457dd_0_92"/>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66" name="Google Shape;1266;g3b2749457dd_0_92"/>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Conclusion</a:t>
            </a:r>
            <a:endParaRPr sz="1200"/>
          </a:p>
        </p:txBody>
      </p:sp>
      <p:grpSp>
        <p:nvGrpSpPr>
          <p:cNvPr id="1267" name="Google Shape;1267;g3b2749457dd_0_92"/>
          <p:cNvGrpSpPr/>
          <p:nvPr/>
        </p:nvGrpSpPr>
        <p:grpSpPr>
          <a:xfrm>
            <a:off x="1076700" y="2275699"/>
            <a:ext cx="10093130" cy="1853601"/>
            <a:chOff x="0" y="-47625"/>
            <a:chExt cx="1808189" cy="1790400"/>
          </a:xfrm>
        </p:grpSpPr>
        <p:sp>
          <p:nvSpPr>
            <p:cNvPr id="1268" name="Google Shape;1268;g3b2749457dd_0_92"/>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69" name="Google Shape;1269;g3b2749457dd_0_92"/>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270" name="Google Shape;1270;g3b2749457dd_0_92"/>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271" name="Google Shape;1271;g3b2749457dd_0_92"/>
          <p:cNvSpPr txBox="1"/>
          <p:nvPr/>
        </p:nvSpPr>
        <p:spPr>
          <a:xfrm>
            <a:off x="1493100" y="2547857"/>
            <a:ext cx="9113100" cy="13074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After the initial cold start, overall latency is mainly driven by the GPT reasoning step. Audio transcription and tool execution are fast, while TTS time scales predictably with response length. Therefore, improving LLM reasoning performance will have the biggest impact on reducing end-to-end latency.</a:t>
            </a:r>
            <a:endParaRPr b="1" sz="1633">
              <a:solidFill>
                <a:srgbClr val="24314F"/>
              </a:solidFill>
              <a:latin typeface="Inter"/>
              <a:ea typeface="Inter"/>
              <a:cs typeface="Inter"/>
              <a:sym typeface="Inte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g3b2749457dd_0_104"/>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solidFill>
                  <a:srgbClr val="FF0000"/>
                </a:solidFill>
                <a:latin typeface="Gill Sans"/>
                <a:ea typeface="Gill Sans"/>
                <a:cs typeface="Gill Sans"/>
                <a:sym typeface="Gill Sans"/>
              </a:rPr>
              <a:t>Next Steps (7/1/2026)</a:t>
            </a:r>
            <a:endParaRPr sz="4400">
              <a:solidFill>
                <a:srgbClr val="FF0000"/>
              </a:solidFill>
              <a:latin typeface="Gill Sans"/>
              <a:ea typeface="Gill Sans"/>
              <a:cs typeface="Gill Sans"/>
              <a:sym typeface="Gill Sans"/>
            </a:endParaRPr>
          </a:p>
        </p:txBody>
      </p:sp>
      <p:sp>
        <p:nvSpPr>
          <p:cNvPr id="1278" name="Google Shape;1278;g3b2749457dd_0_104"/>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Upgrade current AI project from a multi-server setup to a Single, offline Python Script using Qwen2,5-Omni and vLLM-Omni 0.11.0 to handle audio-to-text-tool-use natively on the GPU</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GPT OSS completion </a:t>
            </a:r>
            <a:r>
              <a:rPr lang="en-US" sz="1900">
                <a:solidFill>
                  <a:schemeClr val="dk1"/>
                </a:solidFill>
                <a:latin typeface="Roboto Mono"/>
                <a:ea typeface="Roboto Mono"/>
                <a:cs typeface="Roboto Mono"/>
                <a:sym typeface="Roboto Mono"/>
              </a:rPr>
              <a:t>timeline</a:t>
            </a:r>
            <a:r>
              <a:rPr lang="en-US" sz="1900">
                <a:solidFill>
                  <a:schemeClr val="dk1"/>
                </a:solidFill>
                <a:latin typeface="Roboto Mono"/>
                <a:ea typeface="Roboto Mono"/>
                <a:cs typeface="Roboto Mono"/>
                <a:sym typeface="Roboto Mono"/>
              </a:rPr>
              <a:t>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reasoning branches invoked </a:t>
            </a:r>
            <a:endParaRPr sz="19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t/>
            </a:r>
            <a:endParaRPr sz="2500">
              <a:solidFill>
                <a:schemeClr val="dk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b2749457dd_0_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DLaM Display"/>
              <a:buNone/>
            </a:pPr>
            <a:r>
              <a:rPr lang="en-US">
                <a:solidFill>
                  <a:srgbClr val="FF0000"/>
                </a:solidFill>
                <a:latin typeface="ADLaM Display"/>
                <a:ea typeface="ADLaM Display"/>
                <a:cs typeface="ADLaM Display"/>
                <a:sym typeface="ADLaM Display"/>
              </a:rPr>
              <a:t>Dec 24, 2025</a:t>
            </a:r>
            <a:endParaRPr>
              <a:solidFill>
                <a:srgbClr val="FF0000"/>
              </a:solidFill>
              <a:latin typeface="ADLaM Display"/>
              <a:ea typeface="ADLaM Display"/>
              <a:cs typeface="ADLaM Display"/>
              <a:sym typeface="ADLaM Display"/>
            </a:endParaRPr>
          </a:p>
        </p:txBody>
      </p:sp>
      <p:sp>
        <p:nvSpPr>
          <p:cNvPr id="1284" name="Google Shape;1284;g3b2749457dd_0_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g3a726d1271e_0_17"/>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291" name="Google Shape;1291;g3a726d1271e_0_17"/>
          <p:cNvSpPr txBox="1"/>
          <p:nvPr/>
        </p:nvSpPr>
        <p:spPr>
          <a:xfrm>
            <a:off x="758925" y="1463325"/>
            <a:ext cx="106851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1900">
                <a:solidFill>
                  <a:schemeClr val="dk1"/>
                </a:solidFill>
                <a:latin typeface="Roboto Mono"/>
                <a:ea typeface="Roboto Mono"/>
                <a:cs typeface="Roboto Mono"/>
                <a:sym typeface="Roboto Mono"/>
              </a:rPr>
              <a:t>Investigate the availability of voice traces, similar to the LMM traces (the input is image) recently released by Azure.</a:t>
            </a:r>
            <a:endParaRPr sz="1900">
              <a:solidFill>
                <a:schemeClr val="dk1"/>
              </a:solidFill>
              <a:latin typeface="Roboto Mono"/>
              <a:ea typeface="Roboto Mono"/>
              <a:cs typeface="Roboto Mono"/>
              <a:sym typeface="Roboto Mono"/>
            </a:endParaRPr>
          </a:p>
          <a:p>
            <a:pPr indent="-412750" lvl="0" marL="457200" rtl="0" algn="l">
              <a:lnSpc>
                <a:spcPct val="150000"/>
              </a:lnSpc>
              <a:spcBef>
                <a:spcPts val="0"/>
              </a:spcBef>
              <a:spcAft>
                <a:spcPts val="0"/>
              </a:spcAft>
              <a:buClr>
                <a:schemeClr val="dk1"/>
              </a:buClr>
              <a:buSzPts val="2900"/>
              <a:buChar char="●"/>
            </a:pPr>
            <a:r>
              <a:rPr lang="en-US" sz="1900">
                <a:solidFill>
                  <a:schemeClr val="dk1"/>
                </a:solidFill>
                <a:latin typeface="Roboto Mono"/>
                <a:ea typeface="Roboto Mono"/>
                <a:cs typeface="Roboto Mono"/>
                <a:sym typeface="Roboto Mono"/>
              </a:rPr>
              <a:t>Investigate GPT-OSS and why function call failures mentioned by Voiso employees are occurring</a:t>
            </a:r>
            <a:endParaRPr sz="2900">
              <a:solidFill>
                <a:schemeClr val="dk1"/>
              </a:solidFill>
            </a:endParaRPr>
          </a:p>
          <a:p>
            <a:pPr indent="0" lvl="0" marL="457200" rtl="0" algn="l">
              <a:lnSpc>
                <a:spcPct val="150000"/>
              </a:lnSpc>
              <a:spcBef>
                <a:spcPts val="0"/>
              </a:spcBef>
              <a:spcAft>
                <a:spcPts val="0"/>
              </a:spcAft>
              <a:buNone/>
            </a:pPr>
            <a:r>
              <a:t/>
            </a:r>
            <a:endParaRPr sz="2900">
              <a:solidFill>
                <a:schemeClr val="dk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g3b300e88e69_0_0"/>
          <p:cNvSpPr txBox="1"/>
          <p:nvPr/>
        </p:nvSpPr>
        <p:spPr>
          <a:xfrm>
            <a:off x="700075" y="3280026"/>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Investigate</a:t>
            </a:r>
            <a:endParaRPr sz="900"/>
          </a:p>
        </p:txBody>
      </p:sp>
      <p:sp>
        <p:nvSpPr>
          <p:cNvPr id="1301" name="Google Shape;1301;g3b300e88e69_0_0"/>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1302" name="Google Shape;1302;g3b300e88e69_0_0"/>
          <p:cNvGrpSpPr/>
          <p:nvPr/>
        </p:nvGrpSpPr>
        <p:grpSpPr>
          <a:xfrm rot="-5400000">
            <a:off x="3451093" y="2718650"/>
            <a:ext cx="396240" cy="5955427"/>
            <a:chOff x="0" y="-47625"/>
            <a:chExt cx="660400" cy="9925711"/>
          </a:xfrm>
        </p:grpSpPr>
        <p:sp>
          <p:nvSpPr>
            <p:cNvPr id="1303" name="Google Shape;1303;g3b300e88e69_0_0"/>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304" name="Google Shape;1304;g3b300e88e69_0_0"/>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305" name="Google Shape;1305;g3b300e88e69_0_0"/>
          <p:cNvSpPr txBox="1"/>
          <p:nvPr/>
        </p:nvSpPr>
        <p:spPr>
          <a:xfrm>
            <a:off x="700075" y="4347831"/>
            <a:ext cx="10820400" cy="10344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the availability of voice traces, similar to the LMM traces (the input is image) recently released by Azure.</a:t>
            </a:r>
            <a:endParaRPr sz="9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grpSp>
        <p:nvGrpSpPr>
          <p:cNvPr id="1310" name="Google Shape;1310;g3a726d1271e_0_23"/>
          <p:cNvGrpSpPr/>
          <p:nvPr/>
        </p:nvGrpSpPr>
        <p:grpSpPr>
          <a:xfrm>
            <a:off x="685800" y="1838306"/>
            <a:ext cx="10820186" cy="5020055"/>
            <a:chOff x="0" y="-47625"/>
            <a:chExt cx="4274726" cy="2214600"/>
          </a:xfrm>
        </p:grpSpPr>
        <p:sp>
          <p:nvSpPr>
            <p:cNvPr id="1311" name="Google Shape;1311;g3a726d1271e_0_2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12" name="Google Shape;1312;g3a726d1271e_0_23"/>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13" name="Google Shape;1313;g3a726d1271e_0_23"/>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Review of "ModServe" Research &amp; Audio Trace Availability</a:t>
            </a:r>
            <a:endParaRPr sz="1200"/>
          </a:p>
        </p:txBody>
      </p:sp>
      <p:grpSp>
        <p:nvGrpSpPr>
          <p:cNvPr id="1314" name="Google Shape;1314;g3a726d1271e_0_23"/>
          <p:cNvGrpSpPr/>
          <p:nvPr/>
        </p:nvGrpSpPr>
        <p:grpSpPr>
          <a:xfrm>
            <a:off x="1076700" y="2113824"/>
            <a:ext cx="10093130" cy="5020103"/>
            <a:chOff x="0" y="-47625"/>
            <a:chExt cx="1808189" cy="1790400"/>
          </a:xfrm>
        </p:grpSpPr>
        <p:sp>
          <p:nvSpPr>
            <p:cNvPr id="1315" name="Google Shape;1315;g3a726d1271e_0_23"/>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16" name="Google Shape;1316;g3a726d1271e_0_23"/>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17" name="Google Shape;1317;g3a726d1271e_0_23"/>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18" name="Google Shape;1318;g3a726d1271e_0_23"/>
          <p:cNvSpPr txBox="1"/>
          <p:nvPr/>
        </p:nvSpPr>
        <p:spPr>
          <a:xfrm>
            <a:off x="5755913" y="2629500"/>
            <a:ext cx="5311500" cy="44760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Dataset is derived from the ModServe findings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a:solidFill>
                  <a:srgbClr val="24314F"/>
                </a:solidFill>
                <a:latin typeface="Inter"/>
                <a:ea typeface="Inter"/>
                <a:cs typeface="Inter"/>
                <a:sym typeface="Inter"/>
              </a:rPr>
              <a:t>Findings from paper</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AutoNum type="alphaLcPeriod"/>
            </a:pPr>
            <a:r>
              <a:rPr b="1" lang="en-US" sz="1633">
                <a:solidFill>
                  <a:srgbClr val="24314F"/>
                </a:solidFill>
                <a:latin typeface="Inter"/>
                <a:ea typeface="Inter"/>
                <a:cs typeface="Inter"/>
                <a:sym typeface="Inter"/>
              </a:rPr>
              <a:t>Section 3.2 states that the analyzed workload captures </a:t>
            </a:r>
            <a:endParaRPr b="1" sz="1633">
              <a:solidFill>
                <a:srgbClr val="24314F"/>
              </a:solidFill>
              <a:latin typeface="Inter"/>
              <a:ea typeface="Inter"/>
              <a:cs typeface="Inter"/>
              <a:sym typeface="Inter"/>
            </a:endParaRPr>
          </a:p>
          <a:p>
            <a:pPr indent="-332296" lvl="2" marL="1371600" rtl="0" algn="just">
              <a:lnSpc>
                <a:spcPct val="140060"/>
              </a:lnSpc>
              <a:spcBef>
                <a:spcPts val="0"/>
              </a:spcBef>
              <a:spcAft>
                <a:spcPts val="0"/>
              </a:spcAft>
              <a:buClr>
                <a:srgbClr val="24314F"/>
              </a:buClr>
              <a:buSzPts val="1633"/>
              <a:buFont typeface="Inter"/>
              <a:buAutoNum type="romanLcPeriod"/>
            </a:pPr>
            <a:r>
              <a:rPr b="1" lang="en-US" sz="1633">
                <a:solidFill>
                  <a:srgbClr val="24314F"/>
                </a:solidFill>
                <a:latin typeface="Inter"/>
                <a:ea typeface="Inter"/>
                <a:cs typeface="Inter"/>
                <a:sym typeface="Inter"/>
              </a:rPr>
              <a:t>text-only </a:t>
            </a:r>
            <a:endParaRPr b="1" sz="1633">
              <a:solidFill>
                <a:srgbClr val="24314F"/>
              </a:solidFill>
              <a:latin typeface="Inter"/>
              <a:ea typeface="Inter"/>
              <a:cs typeface="Inter"/>
              <a:sym typeface="Inter"/>
            </a:endParaRPr>
          </a:p>
          <a:p>
            <a:pPr indent="-332296" lvl="2" marL="1371600" rtl="0" algn="just">
              <a:lnSpc>
                <a:spcPct val="140060"/>
              </a:lnSpc>
              <a:spcBef>
                <a:spcPts val="0"/>
              </a:spcBef>
              <a:spcAft>
                <a:spcPts val="0"/>
              </a:spcAft>
              <a:buClr>
                <a:srgbClr val="24314F"/>
              </a:buClr>
              <a:buSzPts val="1633"/>
              <a:buFont typeface="Inter"/>
              <a:buAutoNum type="romanLcPeriod"/>
            </a:pPr>
            <a:r>
              <a:rPr b="1" lang="en-US" sz="1633">
                <a:solidFill>
                  <a:srgbClr val="24314F"/>
                </a:solidFill>
                <a:latin typeface="Inter"/>
                <a:ea typeface="Inter"/>
                <a:cs typeface="Inter"/>
                <a:sym typeface="Inter"/>
              </a:rPr>
              <a:t>image-text </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AutoNum type="alphaLcPeriod"/>
            </a:pPr>
            <a:r>
              <a:rPr b="1" lang="en-US" sz="1633">
                <a:solidFill>
                  <a:srgbClr val="24314F"/>
                </a:solidFill>
                <a:latin typeface="Inter"/>
                <a:ea typeface="Inter"/>
                <a:cs typeface="Inter"/>
                <a:sym typeface="Inter"/>
              </a:rPr>
              <a:t>The dataset on Github has no audio specific fields.(Input Tokens, Output Tokens, and Image Count.)</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a:solidFill>
                  <a:srgbClr val="24314F"/>
                </a:solidFill>
                <a:latin typeface="Inter"/>
                <a:ea typeface="Inter"/>
                <a:cs typeface="Inter"/>
                <a:sym typeface="Inter"/>
              </a:rPr>
              <a:t>Conclusion : Despite broader LMM capabilities, the current open-source trace does not include audio inputs or duration data.</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p:txBody>
      </p:sp>
      <p:sp>
        <p:nvSpPr>
          <p:cNvPr id="1319" name="Google Shape;1319;g3a726d1271e_0_23"/>
          <p:cNvSpPr txBox="1"/>
          <p:nvPr/>
        </p:nvSpPr>
        <p:spPr>
          <a:xfrm>
            <a:off x="685795" y="1211451"/>
            <a:ext cx="3863100" cy="1848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200" u="sng">
                <a:solidFill>
                  <a:schemeClr val="hlink"/>
                </a:solidFill>
                <a:latin typeface="Inter"/>
                <a:ea typeface="Inter"/>
                <a:cs typeface="Inter"/>
                <a:sym typeface="Inter"/>
                <a:hlinkClick r:id="rId3"/>
              </a:rPr>
              <a:t>https://arxiv.org/pdf/2502.00937</a:t>
            </a:r>
            <a:r>
              <a:rPr b="1" lang="en-US" sz="1200">
                <a:solidFill>
                  <a:srgbClr val="24314F"/>
                </a:solidFill>
                <a:latin typeface="Inter"/>
                <a:ea typeface="Inter"/>
                <a:cs typeface="Inter"/>
                <a:sym typeface="Inter"/>
              </a:rPr>
              <a:t> </a:t>
            </a:r>
            <a:endParaRPr b="1" sz="1200">
              <a:solidFill>
                <a:srgbClr val="24314F"/>
              </a:solidFill>
              <a:latin typeface="Inter"/>
              <a:ea typeface="Inter"/>
              <a:cs typeface="Inter"/>
              <a:sym typeface="Inter"/>
            </a:endParaRPr>
          </a:p>
        </p:txBody>
      </p:sp>
      <p:pic>
        <p:nvPicPr>
          <p:cNvPr id="1320" name="Google Shape;1320;g3a726d1271e_0_23"/>
          <p:cNvPicPr preferRelativeResize="0"/>
          <p:nvPr/>
        </p:nvPicPr>
        <p:blipFill>
          <a:blip r:embed="rId4">
            <a:alphaModFix/>
          </a:blip>
          <a:stretch>
            <a:fillRect/>
          </a:stretch>
        </p:blipFill>
        <p:spPr>
          <a:xfrm>
            <a:off x="1124288" y="2494437"/>
            <a:ext cx="4481940" cy="351097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grpSp>
        <p:nvGrpSpPr>
          <p:cNvPr id="1325" name="Google Shape;1325;g3a726d1271e_0_67"/>
          <p:cNvGrpSpPr/>
          <p:nvPr/>
        </p:nvGrpSpPr>
        <p:grpSpPr>
          <a:xfrm>
            <a:off x="685800" y="1838306"/>
            <a:ext cx="10820186" cy="5020055"/>
            <a:chOff x="0" y="-47625"/>
            <a:chExt cx="4274726" cy="2214600"/>
          </a:xfrm>
        </p:grpSpPr>
        <p:sp>
          <p:nvSpPr>
            <p:cNvPr id="1326" name="Google Shape;1326;g3a726d1271e_0_6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27" name="Google Shape;1327;g3a726d1271e_0_6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28" name="Google Shape;1328;g3a726d1271e_0_6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Academic ASR System Papers with Synthetic Traces</a:t>
            </a:r>
            <a:endParaRPr sz="1200"/>
          </a:p>
        </p:txBody>
      </p:sp>
      <p:grpSp>
        <p:nvGrpSpPr>
          <p:cNvPr id="1329" name="Google Shape;1329;g3a726d1271e_0_67"/>
          <p:cNvGrpSpPr/>
          <p:nvPr/>
        </p:nvGrpSpPr>
        <p:grpSpPr>
          <a:xfrm>
            <a:off x="1076700" y="2113824"/>
            <a:ext cx="10093130" cy="5020103"/>
            <a:chOff x="0" y="-47625"/>
            <a:chExt cx="1808189" cy="1790400"/>
          </a:xfrm>
        </p:grpSpPr>
        <p:sp>
          <p:nvSpPr>
            <p:cNvPr id="1330" name="Google Shape;1330;g3a726d1271e_0_6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31" name="Google Shape;1331;g3a726d1271e_0_6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32" name="Google Shape;1332;g3a726d1271e_0_6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33" name="Google Shape;1333;g3a726d1271e_0_67"/>
          <p:cNvSpPr txBox="1"/>
          <p:nvPr/>
        </p:nvSpPr>
        <p:spPr>
          <a:xfrm>
            <a:off x="685799" y="1211450"/>
            <a:ext cx="10820100" cy="591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Most ASR serving research evaluates systems using controlled or synthetic workloads, not real multi-tenant traces.</a:t>
            </a:r>
            <a:endParaRPr b="1" sz="1600">
              <a:solidFill>
                <a:srgbClr val="24314F"/>
              </a:solidFill>
              <a:latin typeface="Inter"/>
              <a:ea typeface="Inter"/>
              <a:cs typeface="Inter"/>
              <a:sym typeface="Inter"/>
            </a:endParaRPr>
          </a:p>
        </p:txBody>
      </p:sp>
      <p:sp>
        <p:nvSpPr>
          <p:cNvPr id="1334" name="Google Shape;1334;g3a726d1271e_0_67"/>
          <p:cNvSpPr txBox="1"/>
          <p:nvPr/>
        </p:nvSpPr>
        <p:spPr>
          <a:xfrm>
            <a:off x="1379950" y="2483324"/>
            <a:ext cx="9531300" cy="4123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u="sng">
                <a:solidFill>
                  <a:schemeClr val="hlink"/>
                </a:solidFill>
                <a:latin typeface="Inter"/>
                <a:ea typeface="Inter"/>
                <a:cs typeface="Inter"/>
                <a:sym typeface="Inter"/>
                <a:hlinkClick r:id="rId3"/>
              </a:rPr>
              <a:t>GPU-Accelerated Viterbi Exact Lattice Decoder</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Evaluates batched online ASR streams on GPUs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Focuses on throughput, context switching, and multiplexing across concurrent speech requests</a:t>
            </a:r>
            <a:endParaRPr b="1" sz="1633">
              <a:solidFill>
                <a:srgbClr val="24314F"/>
              </a:solidFill>
              <a:latin typeface="Inter"/>
              <a:ea typeface="Inter"/>
              <a:cs typeface="Inter"/>
              <a:sym typeface="Inter"/>
            </a:endParaRPr>
          </a:p>
          <a:p>
            <a:pPr indent="0" lvl="0" marL="45720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u="sng">
                <a:solidFill>
                  <a:schemeClr val="hlink"/>
                </a:solidFill>
                <a:latin typeface="Inter"/>
                <a:ea typeface="Inter"/>
                <a:cs typeface="Inter"/>
                <a:sym typeface="Inter"/>
                <a:hlinkClick r:id="rId4"/>
              </a:rPr>
              <a:t>LiteASR (EMNLP 2025)</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Discusses multi-user data-center ASR serving</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Shows batching helps decoders more than encoders, limiting latency gains</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Because public production-scale audio inference traces are scarce, prior work typically evaluates ASR serving via controlled input corpora or modeled arrival processes, measuring latency/throughput under batching, chunking, and multiplexing strategies.</a:t>
            </a:r>
            <a:endParaRPr b="1" sz="1633">
              <a:solidFill>
                <a:srgbClr val="24314F"/>
              </a:solidFill>
              <a:latin typeface="Inter"/>
              <a:ea typeface="Inter"/>
              <a:cs typeface="Inter"/>
              <a:sym typeface="Inte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grpSp>
        <p:nvGrpSpPr>
          <p:cNvPr id="1339" name="Google Shape;1339;g3a726d1271e_0_97"/>
          <p:cNvGrpSpPr/>
          <p:nvPr/>
        </p:nvGrpSpPr>
        <p:grpSpPr>
          <a:xfrm>
            <a:off x="685800" y="1838306"/>
            <a:ext cx="10820186" cy="5020055"/>
            <a:chOff x="0" y="-47625"/>
            <a:chExt cx="4274726" cy="2214600"/>
          </a:xfrm>
        </p:grpSpPr>
        <p:sp>
          <p:nvSpPr>
            <p:cNvPr id="1340" name="Google Shape;1340;g3a726d1271e_0_9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41" name="Google Shape;1341;g3a726d1271e_0_9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42" name="Google Shape;1342;g3a726d1271e_0_9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Conclusion</a:t>
            </a:r>
            <a:endParaRPr sz="1200"/>
          </a:p>
        </p:txBody>
      </p:sp>
      <p:grpSp>
        <p:nvGrpSpPr>
          <p:cNvPr id="1343" name="Google Shape;1343;g3a726d1271e_0_97"/>
          <p:cNvGrpSpPr/>
          <p:nvPr/>
        </p:nvGrpSpPr>
        <p:grpSpPr>
          <a:xfrm>
            <a:off x="1076700" y="2275699"/>
            <a:ext cx="10093130" cy="1853601"/>
            <a:chOff x="0" y="-47625"/>
            <a:chExt cx="1808189" cy="1790400"/>
          </a:xfrm>
        </p:grpSpPr>
        <p:sp>
          <p:nvSpPr>
            <p:cNvPr id="1344" name="Google Shape;1344;g3a726d1271e_0_9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45" name="Google Shape;1345;g3a726d1271e_0_9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46" name="Google Shape;1346;g3a726d1271e_0_9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47" name="Google Shape;1347;g3a726d1271e_0_97"/>
          <p:cNvSpPr txBox="1"/>
          <p:nvPr/>
        </p:nvSpPr>
        <p:spPr>
          <a:xfrm>
            <a:off x="1493100" y="2629500"/>
            <a:ext cx="9113100" cy="9555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Unlike text and vision workloads, no public production-scale audio inference trace dataset is currently available, existing resources either capture input data without system behavior or system behavior without modality-specific detail.</a:t>
            </a:r>
            <a:endParaRPr b="1" sz="1633">
              <a:solidFill>
                <a:srgbClr val="24314F"/>
              </a:solidFill>
              <a:latin typeface="Inter"/>
              <a:ea typeface="Inter"/>
              <a:cs typeface="Inter"/>
              <a:sym typeface="Inte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g3b300e88e69_0_94"/>
          <p:cNvSpPr txBox="1"/>
          <p:nvPr/>
        </p:nvSpPr>
        <p:spPr>
          <a:xfrm>
            <a:off x="700075" y="3280026"/>
            <a:ext cx="5264100" cy="1092900"/>
          </a:xfrm>
          <a:prstGeom prst="rect">
            <a:avLst/>
          </a:prstGeom>
          <a:noFill/>
          <a:ln>
            <a:noFill/>
          </a:ln>
        </p:spPr>
        <p:txBody>
          <a:bodyPr anchorCtr="0" anchor="t" bIns="0" lIns="0" spcFirstLastPara="1" rIns="0" wrap="square" tIns="0">
            <a:spAutoFit/>
          </a:bodyPr>
          <a:lstStyle/>
          <a:p>
            <a:pPr indent="0" lvl="0" marL="0" marR="0" rtl="0" algn="l">
              <a:lnSpc>
                <a:spcPct val="101997"/>
              </a:lnSpc>
              <a:spcBef>
                <a:spcPts val="0"/>
              </a:spcBef>
              <a:spcAft>
                <a:spcPts val="0"/>
              </a:spcAft>
              <a:buNone/>
            </a:pPr>
            <a:r>
              <a:rPr b="1" lang="en-US" sz="7100">
                <a:solidFill>
                  <a:srgbClr val="0A4619"/>
                </a:solidFill>
              </a:rPr>
              <a:t>Investigate</a:t>
            </a:r>
            <a:endParaRPr sz="900"/>
          </a:p>
        </p:txBody>
      </p:sp>
      <p:sp>
        <p:nvSpPr>
          <p:cNvPr id="1357" name="Google Shape;1357;g3b300e88e69_0_94"/>
          <p:cNvSpPr/>
          <p:nvPr/>
        </p:nvSpPr>
        <p:spPr>
          <a:xfrm>
            <a:off x="6813243" y="5498238"/>
            <a:ext cx="1242543" cy="396741"/>
          </a:xfrm>
          <a:custGeom>
            <a:rect b="b" l="l" r="r" t="t"/>
            <a:pathLst>
              <a:path extrusionOk="0" h="594368" w="1861488">
                <a:moveTo>
                  <a:pt x="0" y="0"/>
                </a:moveTo>
                <a:lnTo>
                  <a:pt x="1861488" y="0"/>
                </a:lnTo>
                <a:lnTo>
                  <a:pt x="1861488" y="594368"/>
                </a:lnTo>
                <a:lnTo>
                  <a:pt x="0" y="594368"/>
                </a:lnTo>
                <a:lnTo>
                  <a:pt x="0" y="0"/>
                </a:lnTo>
                <a:close/>
              </a:path>
            </a:pathLst>
          </a:custGeom>
          <a:blipFill rotWithShape="1">
            <a:blip r:embed="rId3">
              <a:alphaModFix/>
            </a:blip>
            <a:stretch>
              <a:fillRect b="0" l="0" r="0" t="0"/>
            </a:stretch>
          </a:blipFill>
          <a:ln>
            <a:noFill/>
          </a:ln>
        </p:spPr>
      </p:sp>
      <p:grpSp>
        <p:nvGrpSpPr>
          <p:cNvPr id="1358" name="Google Shape;1358;g3b300e88e69_0_94"/>
          <p:cNvGrpSpPr/>
          <p:nvPr/>
        </p:nvGrpSpPr>
        <p:grpSpPr>
          <a:xfrm rot="-5400000">
            <a:off x="3451093" y="2718650"/>
            <a:ext cx="396240" cy="5955427"/>
            <a:chOff x="0" y="-47625"/>
            <a:chExt cx="660400" cy="9925711"/>
          </a:xfrm>
        </p:grpSpPr>
        <p:sp>
          <p:nvSpPr>
            <p:cNvPr id="1359" name="Google Shape;1359;g3b300e88e69_0_94"/>
            <p:cNvSpPr/>
            <p:nvPr/>
          </p:nvSpPr>
          <p:spPr>
            <a:xfrm>
              <a:off x="0" y="0"/>
              <a:ext cx="660400" cy="9878086"/>
            </a:xfrm>
            <a:custGeom>
              <a:rect b="b" l="l" r="r" t="t"/>
              <a:pathLst>
                <a:path extrusionOk="0" h="9878086" w="660400">
                  <a:moveTo>
                    <a:pt x="220252" y="9859018"/>
                  </a:moveTo>
                  <a:cubicBezTo>
                    <a:pt x="254109" y="9870532"/>
                    <a:pt x="292600" y="9878086"/>
                    <a:pt x="330378" y="9878086"/>
                  </a:cubicBezTo>
                  <a:cubicBezTo>
                    <a:pt x="368157" y="9878086"/>
                    <a:pt x="404509" y="9871610"/>
                    <a:pt x="438009" y="9860096"/>
                  </a:cubicBezTo>
                  <a:cubicBezTo>
                    <a:pt x="438723" y="9859736"/>
                    <a:pt x="439435" y="9859736"/>
                    <a:pt x="440148" y="9859376"/>
                  </a:cubicBezTo>
                  <a:cubicBezTo>
                    <a:pt x="565955" y="9813321"/>
                    <a:pt x="658618" y="9691708"/>
                    <a:pt x="660400" y="9348219"/>
                  </a:cubicBezTo>
                  <a:lnTo>
                    <a:pt x="660400" y="0"/>
                  </a:lnTo>
                  <a:lnTo>
                    <a:pt x="0" y="0"/>
                  </a:lnTo>
                  <a:lnTo>
                    <a:pt x="0" y="9341281"/>
                  </a:lnTo>
                  <a:cubicBezTo>
                    <a:pt x="1782" y="9692426"/>
                    <a:pt x="93019" y="9814041"/>
                    <a:pt x="220252" y="9859018"/>
                  </a:cubicBezTo>
                  <a:close/>
                </a:path>
              </a:pathLst>
            </a:custGeom>
            <a:solidFill>
              <a:srgbClr val="E8F0EA"/>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1360" name="Google Shape;1360;g3b300e88e69_0_94"/>
            <p:cNvSpPr txBox="1"/>
            <p:nvPr/>
          </p:nvSpPr>
          <p:spPr>
            <a:xfrm>
              <a:off x="0" y="-47625"/>
              <a:ext cx="660300" cy="9798600"/>
            </a:xfrm>
            <a:prstGeom prst="rect">
              <a:avLst/>
            </a:prstGeom>
            <a:noFill/>
            <a:ln>
              <a:noFill/>
            </a:ln>
          </p:spPr>
          <p:txBody>
            <a:bodyPr anchorCtr="0" anchor="ctr" bIns="33875" lIns="33875" spcFirstLastPara="1" rIns="33875" wrap="square" tIns="33875">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361" name="Google Shape;1361;g3b300e88e69_0_94"/>
          <p:cNvSpPr txBox="1"/>
          <p:nvPr/>
        </p:nvSpPr>
        <p:spPr>
          <a:xfrm>
            <a:off x="700075" y="4347831"/>
            <a:ext cx="10820400" cy="10344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US" sz="3000">
                <a:solidFill>
                  <a:srgbClr val="24314F"/>
                </a:solidFill>
              </a:rPr>
              <a:t>GPT-OSS and why function call failures mentioned by Voiso employees are occurring</a:t>
            </a:r>
            <a:endParaRPr sz="9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grpSp>
        <p:nvGrpSpPr>
          <p:cNvPr id="1366" name="Google Shape;1366;g386752bb68f_0_18"/>
          <p:cNvGrpSpPr/>
          <p:nvPr/>
        </p:nvGrpSpPr>
        <p:grpSpPr>
          <a:xfrm>
            <a:off x="685800" y="1838306"/>
            <a:ext cx="10820186" cy="5020055"/>
            <a:chOff x="0" y="-47625"/>
            <a:chExt cx="4274726" cy="2214600"/>
          </a:xfrm>
        </p:grpSpPr>
        <p:sp>
          <p:nvSpPr>
            <p:cNvPr id="1367" name="Google Shape;1367;g386752bb68f_0_1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68" name="Google Shape;1368;g386752bb68f_0_1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69" name="Google Shape;1369;g386752bb68f_0_18"/>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Architecture of GPT-OSS-20B</a:t>
            </a:r>
            <a:endParaRPr sz="1200"/>
          </a:p>
        </p:txBody>
      </p:sp>
      <p:grpSp>
        <p:nvGrpSpPr>
          <p:cNvPr id="1370" name="Google Shape;1370;g386752bb68f_0_18"/>
          <p:cNvGrpSpPr/>
          <p:nvPr/>
        </p:nvGrpSpPr>
        <p:grpSpPr>
          <a:xfrm>
            <a:off x="1076700" y="2113824"/>
            <a:ext cx="10093130" cy="5020103"/>
            <a:chOff x="0" y="-47625"/>
            <a:chExt cx="1808189" cy="1790400"/>
          </a:xfrm>
        </p:grpSpPr>
        <p:sp>
          <p:nvSpPr>
            <p:cNvPr id="1371" name="Google Shape;1371;g386752bb68f_0_1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2" name="Google Shape;1372;g386752bb68f_0_1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73" name="Google Shape;1373;g386752bb68f_0_1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74" name="Google Shape;1374;g386752bb68f_0_18"/>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t/>
            </a:r>
            <a:endParaRPr b="1" sz="1600">
              <a:solidFill>
                <a:srgbClr val="24314F"/>
              </a:solidFill>
              <a:latin typeface="Inter"/>
              <a:ea typeface="Inter"/>
              <a:cs typeface="Inter"/>
              <a:sym typeface="Inter"/>
            </a:endParaRPr>
          </a:p>
        </p:txBody>
      </p:sp>
      <p:sp>
        <p:nvSpPr>
          <p:cNvPr id="1375" name="Google Shape;1375;g386752bb68f_0_18"/>
          <p:cNvSpPr txBox="1"/>
          <p:nvPr/>
        </p:nvSpPr>
        <p:spPr>
          <a:xfrm>
            <a:off x="5669870" y="2406725"/>
            <a:ext cx="5394600" cy="38832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MoE Architecture: 21B total parameters, but a sparse Mixture-of-Experts design means only 3.6B parameters are active per token during inference.</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MXFP4 Quantization: Uses MXFP4 (Microscaling Formats) for MoE weights, allowing the model to run within 16GB of VRAM on consumer-grade hardware while retaining high performance.</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Open Weights: Released under the Apache 2.0 license, optimised for agentic workflows.</a:t>
            </a:r>
            <a:endParaRPr b="1" sz="1633">
              <a:solidFill>
                <a:srgbClr val="24314F"/>
              </a:solidFill>
              <a:latin typeface="Inter"/>
              <a:ea typeface="Inter"/>
              <a:cs typeface="Inter"/>
              <a:sym typeface="Inter"/>
            </a:endParaRPr>
          </a:p>
        </p:txBody>
      </p:sp>
      <p:pic>
        <p:nvPicPr>
          <p:cNvPr id="1376" name="Google Shape;1376;g386752bb68f_0_18"/>
          <p:cNvPicPr preferRelativeResize="0"/>
          <p:nvPr/>
        </p:nvPicPr>
        <p:blipFill>
          <a:blip r:embed="rId3">
            <a:alphaModFix/>
          </a:blip>
          <a:stretch>
            <a:fillRect/>
          </a:stretch>
        </p:blipFill>
        <p:spPr>
          <a:xfrm>
            <a:off x="1377126" y="2592050"/>
            <a:ext cx="4066921" cy="369787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grpSp>
        <p:nvGrpSpPr>
          <p:cNvPr id="1381" name="Google Shape;1381;g386752bb68f_0_31"/>
          <p:cNvGrpSpPr/>
          <p:nvPr/>
        </p:nvGrpSpPr>
        <p:grpSpPr>
          <a:xfrm>
            <a:off x="685800" y="1838306"/>
            <a:ext cx="10820186" cy="5020055"/>
            <a:chOff x="0" y="-47625"/>
            <a:chExt cx="4274726" cy="2214600"/>
          </a:xfrm>
        </p:grpSpPr>
        <p:sp>
          <p:nvSpPr>
            <p:cNvPr id="1382" name="Google Shape;1382;g386752bb68f_0_3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83" name="Google Shape;1383;g386752bb68f_0_3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84" name="Google Shape;1384;g386752bb68f_0_3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Reasoning Performance </a:t>
            </a:r>
            <a:endParaRPr sz="1200"/>
          </a:p>
        </p:txBody>
      </p:sp>
      <p:grpSp>
        <p:nvGrpSpPr>
          <p:cNvPr id="1385" name="Google Shape;1385;g386752bb68f_0_31"/>
          <p:cNvGrpSpPr/>
          <p:nvPr/>
        </p:nvGrpSpPr>
        <p:grpSpPr>
          <a:xfrm>
            <a:off x="1076700" y="2113824"/>
            <a:ext cx="10093130" cy="5020103"/>
            <a:chOff x="0" y="-47625"/>
            <a:chExt cx="1808189" cy="1790400"/>
          </a:xfrm>
        </p:grpSpPr>
        <p:sp>
          <p:nvSpPr>
            <p:cNvPr id="1386" name="Google Shape;1386;g386752bb68f_0_3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87" name="Google Shape;1387;g386752bb68f_0_3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88" name="Google Shape;1388;g386752bb68f_0_3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389" name="Google Shape;1389;g386752bb68f_0_31"/>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Configurable Reasoning Effort &amp; Transparent Chain-of-Thought</a:t>
            </a:r>
            <a:endParaRPr b="1" sz="1600">
              <a:solidFill>
                <a:srgbClr val="24314F"/>
              </a:solidFill>
              <a:latin typeface="Inter"/>
              <a:ea typeface="Inter"/>
              <a:cs typeface="Inter"/>
              <a:sym typeface="Inter"/>
            </a:endParaRPr>
          </a:p>
        </p:txBody>
      </p:sp>
      <p:graphicFrame>
        <p:nvGraphicFramePr>
          <p:cNvPr id="1390" name="Google Shape;1390;g386752bb68f_0_31"/>
          <p:cNvGraphicFramePr/>
          <p:nvPr/>
        </p:nvGraphicFramePr>
        <p:xfrm>
          <a:off x="1830127" y="2806636"/>
          <a:ext cx="3000000" cy="3000000"/>
        </p:xfrm>
        <a:graphic>
          <a:graphicData uri="http://schemas.openxmlformats.org/drawingml/2006/table">
            <a:tbl>
              <a:tblPr>
                <a:noFill/>
                <a:tableStyleId>{EC67A452-83CC-4573-9EBC-7A23179EE2BC}</a:tableStyleId>
              </a:tblPr>
              <a:tblGrid>
                <a:gridCol w="1921575"/>
                <a:gridCol w="2095775"/>
                <a:gridCol w="4514375"/>
              </a:tblGrid>
              <a:tr h="381000">
                <a:tc>
                  <a:txBody>
                    <a:bodyPr/>
                    <a:lstStyle/>
                    <a:p>
                      <a:pPr indent="0" lvl="0" marL="0" rtl="0" algn="l">
                        <a:spcBef>
                          <a:spcPts val="0"/>
                        </a:spcBef>
                        <a:spcAft>
                          <a:spcPts val="0"/>
                        </a:spcAft>
                        <a:buClr>
                          <a:schemeClr val="dk1"/>
                        </a:buClr>
                        <a:buSzPts val="1100"/>
                        <a:buFont typeface="Arial"/>
                        <a:buNone/>
                      </a:pPr>
                      <a:r>
                        <a:rPr b="1" lang="en-US" sz="1600">
                          <a:solidFill>
                            <a:srgbClr val="24314F"/>
                          </a:solidFill>
                        </a:rPr>
                        <a:t>Feature</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Standard LLMs</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GPT-OSS-20B </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600">
                          <a:solidFill>
                            <a:srgbClr val="24314F"/>
                          </a:solidFill>
                        </a:rPr>
                        <a:t>Reasoning</a:t>
                      </a:r>
                      <a:r>
                        <a:rPr b="1" lang="en-US" sz="1600">
                          <a:solidFill>
                            <a:srgbClr val="24314F"/>
                          </a:solidFill>
                        </a:rPr>
                        <a:t> Depth </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Fixed</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Configurable (Low/ Medium/ High)</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48925">
                <a:tc>
                  <a:txBody>
                    <a:bodyPr/>
                    <a:lstStyle/>
                    <a:p>
                      <a:pPr indent="0" lvl="0" marL="0" rtl="0" algn="l">
                        <a:spcBef>
                          <a:spcPts val="0"/>
                        </a:spcBef>
                        <a:spcAft>
                          <a:spcPts val="0"/>
                        </a:spcAft>
                        <a:buClr>
                          <a:schemeClr val="dk1"/>
                        </a:buClr>
                        <a:buSzPts val="1100"/>
                        <a:buFont typeface="Arial"/>
                        <a:buNone/>
                      </a:pPr>
                      <a:r>
                        <a:rPr b="1" lang="en-US" sz="1600">
                          <a:solidFill>
                            <a:srgbClr val="24314F"/>
                          </a:solidFill>
                        </a:rPr>
                        <a:t>Chain-of-thought</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Hidden</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Fully exposed</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600">
                          <a:solidFill>
                            <a:srgbClr val="24314F"/>
                          </a:solidFill>
                        </a:rPr>
                        <a:t>Tool Calling</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Add-on</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600">
                          <a:solidFill>
                            <a:srgbClr val="24314F"/>
                          </a:solidFill>
                        </a:rPr>
                        <a:t>Natively trained</a:t>
                      </a:r>
                      <a:endParaRPr b="1" sz="16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391" name="Google Shape;1391;g386752bb68f_0_31"/>
          <p:cNvSpPr txBox="1"/>
          <p:nvPr/>
        </p:nvSpPr>
        <p:spPr>
          <a:xfrm>
            <a:off x="1830124" y="5364350"/>
            <a:ext cx="8531700" cy="591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GPT-OSS-20B trades latency for controllable, inspectable reasoning, making it ideal for agent systems.</a:t>
            </a:r>
            <a:endParaRPr b="1" sz="1600">
              <a:solidFill>
                <a:srgbClr val="24314F"/>
              </a:solidFill>
              <a:latin typeface="Inter"/>
              <a:ea typeface="Inter"/>
              <a:cs typeface="Inter"/>
              <a:sym typeface="Inte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grpSp>
        <p:nvGrpSpPr>
          <p:cNvPr id="1396" name="Google Shape;1396;g386752bb68f_0_44"/>
          <p:cNvGrpSpPr/>
          <p:nvPr/>
        </p:nvGrpSpPr>
        <p:grpSpPr>
          <a:xfrm>
            <a:off x="685800" y="1838306"/>
            <a:ext cx="10820186" cy="5020055"/>
            <a:chOff x="0" y="-47625"/>
            <a:chExt cx="4274726" cy="2214600"/>
          </a:xfrm>
        </p:grpSpPr>
        <p:sp>
          <p:nvSpPr>
            <p:cNvPr id="1397" name="Google Shape;1397;g386752bb68f_0_4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98" name="Google Shape;1398;g386752bb68f_0_4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399" name="Google Shape;1399;g386752bb68f_0_44"/>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Diagnosis: Why Voiso Function Calls are Failing</a:t>
            </a:r>
            <a:endParaRPr sz="1200"/>
          </a:p>
        </p:txBody>
      </p:sp>
      <p:grpSp>
        <p:nvGrpSpPr>
          <p:cNvPr id="1400" name="Google Shape;1400;g386752bb68f_0_44"/>
          <p:cNvGrpSpPr/>
          <p:nvPr/>
        </p:nvGrpSpPr>
        <p:grpSpPr>
          <a:xfrm>
            <a:off x="1076700" y="2113824"/>
            <a:ext cx="10093130" cy="5020103"/>
            <a:chOff x="0" y="-47625"/>
            <a:chExt cx="1808189" cy="1790400"/>
          </a:xfrm>
        </p:grpSpPr>
        <p:sp>
          <p:nvSpPr>
            <p:cNvPr id="1401" name="Google Shape;1401;g386752bb68f_0_4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02" name="Google Shape;1402;g386752bb68f_0_4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03" name="Google Shape;1403;g386752bb68f_0_44"/>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404" name="Google Shape;1404;g386752bb68f_0_44"/>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Pipeline Diagram</a:t>
            </a:r>
            <a:endParaRPr b="1" sz="1600">
              <a:solidFill>
                <a:srgbClr val="24314F"/>
              </a:solidFill>
              <a:latin typeface="Inter"/>
              <a:ea typeface="Inter"/>
              <a:cs typeface="Inter"/>
              <a:sym typeface="Inter"/>
            </a:endParaRPr>
          </a:p>
        </p:txBody>
      </p:sp>
      <p:grpSp>
        <p:nvGrpSpPr>
          <p:cNvPr id="1405" name="Google Shape;1405;g386752bb68f_0_44"/>
          <p:cNvGrpSpPr/>
          <p:nvPr/>
        </p:nvGrpSpPr>
        <p:grpSpPr>
          <a:xfrm>
            <a:off x="1545600" y="2899464"/>
            <a:ext cx="1784863" cy="1295533"/>
            <a:chOff x="0" y="-47625"/>
            <a:chExt cx="1808189" cy="1790400"/>
          </a:xfrm>
        </p:grpSpPr>
        <p:sp>
          <p:nvSpPr>
            <p:cNvPr id="1406" name="Google Shape;1406;g386752bb68f_0_4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3775" lIns="27575" spcFirstLastPara="1" rIns="27575" wrap="square" tIns="13775">
              <a:noAutofit/>
            </a:bodyPr>
            <a:lstStyle/>
            <a:p>
              <a:pPr indent="0" lvl="0" marL="0" marR="0" rtl="0" algn="l">
                <a:spcBef>
                  <a:spcPts val="0"/>
                </a:spcBef>
                <a:spcAft>
                  <a:spcPts val="0"/>
                </a:spcAft>
                <a:buNone/>
              </a:pPr>
              <a:r>
                <a:t/>
              </a:r>
              <a:endParaRPr sz="362">
                <a:solidFill>
                  <a:schemeClr val="dk1"/>
                </a:solidFill>
                <a:latin typeface="Arial"/>
                <a:ea typeface="Arial"/>
                <a:cs typeface="Arial"/>
                <a:sym typeface="Arial"/>
              </a:endParaRPr>
            </a:p>
          </p:txBody>
        </p:sp>
        <p:sp>
          <p:nvSpPr>
            <p:cNvPr id="1407" name="Google Shape;1407;g386752bb68f_0_44"/>
            <p:cNvSpPr txBox="1"/>
            <p:nvPr/>
          </p:nvSpPr>
          <p:spPr>
            <a:xfrm>
              <a:off x="0" y="-47625"/>
              <a:ext cx="1808100" cy="1790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Input</a:t>
              </a:r>
              <a:endParaRPr sz="1600">
                <a:solidFill>
                  <a:schemeClr val="dk1"/>
                </a:solidFill>
                <a:latin typeface="Arial"/>
                <a:ea typeface="Arial"/>
                <a:cs typeface="Arial"/>
                <a:sym typeface="Arial"/>
              </a:endParaRPr>
            </a:p>
          </p:txBody>
        </p:sp>
      </p:grpSp>
      <p:grpSp>
        <p:nvGrpSpPr>
          <p:cNvPr id="1408" name="Google Shape;1408;g386752bb68f_0_44"/>
          <p:cNvGrpSpPr/>
          <p:nvPr/>
        </p:nvGrpSpPr>
        <p:grpSpPr>
          <a:xfrm>
            <a:off x="3624175" y="2899450"/>
            <a:ext cx="2092158" cy="1295533"/>
            <a:chOff x="-311291" y="-23857"/>
            <a:chExt cx="2119500" cy="1790400"/>
          </a:xfrm>
        </p:grpSpPr>
        <p:sp>
          <p:nvSpPr>
            <p:cNvPr id="1409" name="Google Shape;1409;g386752bb68f_0_4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13775" lIns="27575" spcFirstLastPara="1" rIns="27575" wrap="square" tIns="13775">
              <a:noAutofit/>
            </a:bodyPr>
            <a:lstStyle/>
            <a:p>
              <a:pPr indent="0" lvl="0" marL="0" marR="0" rtl="0" algn="l">
                <a:spcBef>
                  <a:spcPts val="0"/>
                </a:spcBef>
                <a:spcAft>
                  <a:spcPts val="0"/>
                </a:spcAft>
                <a:buNone/>
              </a:pPr>
              <a:r>
                <a:t/>
              </a:r>
              <a:endParaRPr sz="362">
                <a:solidFill>
                  <a:schemeClr val="dk1"/>
                </a:solidFill>
                <a:latin typeface="Arial"/>
                <a:ea typeface="Arial"/>
                <a:cs typeface="Arial"/>
                <a:sym typeface="Arial"/>
              </a:endParaRPr>
            </a:p>
          </p:txBody>
        </p:sp>
        <p:sp>
          <p:nvSpPr>
            <p:cNvPr id="1410" name="Google Shape;1410;g386752bb68f_0_44"/>
            <p:cNvSpPr txBox="1"/>
            <p:nvPr/>
          </p:nvSpPr>
          <p:spPr>
            <a:xfrm>
              <a:off x="-311291" y="-23857"/>
              <a:ext cx="2119500" cy="1790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Prompt Template</a:t>
              </a:r>
              <a:endParaRPr sz="1600">
                <a:solidFill>
                  <a:schemeClr val="dk1"/>
                </a:solidFill>
                <a:latin typeface="Arial"/>
                <a:ea typeface="Arial"/>
                <a:cs typeface="Arial"/>
                <a:sym typeface="Arial"/>
              </a:endParaRPr>
            </a:p>
          </p:txBody>
        </p:sp>
      </p:grpSp>
      <p:sp>
        <p:nvSpPr>
          <p:cNvPr id="1411" name="Google Shape;1411;g386752bb68f_0_44"/>
          <p:cNvSpPr txBox="1"/>
          <p:nvPr/>
        </p:nvSpPr>
        <p:spPr>
          <a:xfrm>
            <a:off x="6010025" y="2899500"/>
            <a:ext cx="2092200" cy="1295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Tokenizer</a:t>
            </a:r>
            <a:endParaRPr sz="1600">
              <a:solidFill>
                <a:schemeClr val="dk1"/>
              </a:solidFill>
              <a:latin typeface="Arial"/>
              <a:ea typeface="Arial"/>
              <a:cs typeface="Arial"/>
              <a:sym typeface="Arial"/>
            </a:endParaRPr>
          </a:p>
        </p:txBody>
      </p:sp>
      <p:sp>
        <p:nvSpPr>
          <p:cNvPr id="1412" name="Google Shape;1412;g386752bb68f_0_44"/>
          <p:cNvSpPr txBox="1"/>
          <p:nvPr/>
        </p:nvSpPr>
        <p:spPr>
          <a:xfrm>
            <a:off x="8395925" y="2899513"/>
            <a:ext cx="2092200" cy="1295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vLLM Runtime</a:t>
            </a:r>
            <a:endParaRPr sz="1600">
              <a:solidFill>
                <a:schemeClr val="dk1"/>
              </a:solidFill>
              <a:latin typeface="Arial"/>
              <a:ea typeface="Arial"/>
              <a:cs typeface="Arial"/>
              <a:sym typeface="Arial"/>
            </a:endParaRPr>
          </a:p>
        </p:txBody>
      </p:sp>
      <p:sp>
        <p:nvSpPr>
          <p:cNvPr id="1413" name="Google Shape;1413;g386752bb68f_0_44"/>
          <p:cNvSpPr txBox="1"/>
          <p:nvPr/>
        </p:nvSpPr>
        <p:spPr>
          <a:xfrm>
            <a:off x="3624150" y="4817613"/>
            <a:ext cx="2092200" cy="1295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Model</a:t>
            </a:r>
            <a:endParaRPr sz="1600">
              <a:solidFill>
                <a:schemeClr val="dk1"/>
              </a:solidFill>
              <a:latin typeface="Arial"/>
              <a:ea typeface="Arial"/>
              <a:cs typeface="Arial"/>
              <a:sym typeface="Arial"/>
            </a:endParaRPr>
          </a:p>
        </p:txBody>
      </p:sp>
      <p:sp>
        <p:nvSpPr>
          <p:cNvPr id="1414" name="Google Shape;1414;g386752bb68f_0_44"/>
          <p:cNvSpPr txBox="1"/>
          <p:nvPr/>
        </p:nvSpPr>
        <p:spPr>
          <a:xfrm>
            <a:off x="6186600" y="4817613"/>
            <a:ext cx="2092200" cy="1295400"/>
          </a:xfrm>
          <a:prstGeom prst="rect">
            <a:avLst/>
          </a:prstGeom>
          <a:solidFill>
            <a:srgbClr val="D9EAD3"/>
          </a:solidFill>
          <a:ln>
            <a:noFill/>
          </a:ln>
        </p:spPr>
        <p:txBody>
          <a:bodyPr anchorCtr="0" anchor="ctr" bIns="10200" lIns="10200" spcFirstLastPara="1" rIns="10200" wrap="square" tIns="10200">
            <a:noAutofit/>
          </a:bodyPr>
          <a:lstStyle/>
          <a:p>
            <a:pPr indent="0" lvl="0" marL="0" marR="0" rtl="0" algn="ctr">
              <a:lnSpc>
                <a:spcPct val="155583"/>
              </a:lnSpc>
              <a:spcBef>
                <a:spcPts val="0"/>
              </a:spcBef>
              <a:spcAft>
                <a:spcPts val="0"/>
              </a:spcAft>
              <a:buNone/>
            </a:pPr>
            <a:r>
              <a:rPr lang="en-US" sz="1600">
                <a:solidFill>
                  <a:schemeClr val="dk1"/>
                </a:solidFill>
              </a:rPr>
              <a:t>Tool Call</a:t>
            </a:r>
            <a:endParaRPr sz="1600">
              <a:solidFill>
                <a:schemeClr val="dk1"/>
              </a:solidFill>
              <a:latin typeface="Arial"/>
              <a:ea typeface="Arial"/>
              <a:cs typeface="Arial"/>
              <a:sym typeface="Arial"/>
            </a:endParaRPr>
          </a:p>
        </p:txBody>
      </p:sp>
      <p:cxnSp>
        <p:nvCxnSpPr>
          <p:cNvPr id="1415" name="Google Shape;1415;g386752bb68f_0_44"/>
          <p:cNvCxnSpPr>
            <a:stCxn id="1407" idx="3"/>
            <a:endCxn id="1410" idx="1"/>
          </p:cNvCxnSpPr>
          <p:nvPr/>
        </p:nvCxnSpPr>
        <p:spPr>
          <a:xfrm>
            <a:off x="3330376" y="3547231"/>
            <a:ext cx="293700" cy="0"/>
          </a:xfrm>
          <a:prstGeom prst="straightConnector1">
            <a:avLst/>
          </a:prstGeom>
          <a:noFill/>
          <a:ln cap="flat" cmpd="sng" w="9525">
            <a:solidFill>
              <a:schemeClr val="dk2"/>
            </a:solidFill>
            <a:prstDash val="solid"/>
            <a:round/>
            <a:headEnd len="med" w="med" type="none"/>
            <a:tailEnd len="med" w="med" type="triangle"/>
          </a:ln>
        </p:spPr>
      </p:cxnSp>
      <p:cxnSp>
        <p:nvCxnSpPr>
          <p:cNvPr id="1416" name="Google Shape;1416;g386752bb68f_0_44"/>
          <p:cNvCxnSpPr>
            <a:stCxn id="1410" idx="3"/>
            <a:endCxn id="1411" idx="1"/>
          </p:cNvCxnSpPr>
          <p:nvPr/>
        </p:nvCxnSpPr>
        <p:spPr>
          <a:xfrm>
            <a:off x="5716333" y="3547217"/>
            <a:ext cx="293700" cy="0"/>
          </a:xfrm>
          <a:prstGeom prst="straightConnector1">
            <a:avLst/>
          </a:prstGeom>
          <a:noFill/>
          <a:ln cap="flat" cmpd="sng" w="9525">
            <a:solidFill>
              <a:schemeClr val="dk2"/>
            </a:solidFill>
            <a:prstDash val="solid"/>
            <a:round/>
            <a:headEnd len="med" w="med" type="none"/>
            <a:tailEnd len="med" w="med" type="triangle"/>
          </a:ln>
        </p:spPr>
      </p:cxnSp>
      <p:cxnSp>
        <p:nvCxnSpPr>
          <p:cNvPr id="1417" name="Google Shape;1417;g386752bb68f_0_44"/>
          <p:cNvCxnSpPr>
            <a:stCxn id="1411" idx="3"/>
            <a:endCxn id="1412" idx="1"/>
          </p:cNvCxnSpPr>
          <p:nvPr/>
        </p:nvCxnSpPr>
        <p:spPr>
          <a:xfrm>
            <a:off x="8102225" y="3547200"/>
            <a:ext cx="293700" cy="0"/>
          </a:xfrm>
          <a:prstGeom prst="straightConnector1">
            <a:avLst/>
          </a:prstGeom>
          <a:noFill/>
          <a:ln cap="flat" cmpd="sng" w="9525">
            <a:solidFill>
              <a:schemeClr val="dk2"/>
            </a:solidFill>
            <a:prstDash val="solid"/>
            <a:round/>
            <a:headEnd len="med" w="med" type="none"/>
            <a:tailEnd len="med" w="med" type="triangle"/>
          </a:ln>
        </p:spPr>
      </p:cxnSp>
      <p:cxnSp>
        <p:nvCxnSpPr>
          <p:cNvPr id="1418" name="Google Shape;1418;g386752bb68f_0_44"/>
          <p:cNvCxnSpPr>
            <a:stCxn id="1413" idx="3"/>
            <a:endCxn id="1414" idx="1"/>
          </p:cNvCxnSpPr>
          <p:nvPr/>
        </p:nvCxnSpPr>
        <p:spPr>
          <a:xfrm>
            <a:off x="5716350" y="5465313"/>
            <a:ext cx="470400" cy="0"/>
          </a:xfrm>
          <a:prstGeom prst="straightConnector1">
            <a:avLst/>
          </a:prstGeom>
          <a:noFill/>
          <a:ln cap="flat" cmpd="sng" w="9525">
            <a:solidFill>
              <a:schemeClr val="dk2"/>
            </a:solidFill>
            <a:prstDash val="solid"/>
            <a:round/>
            <a:headEnd len="med" w="med" type="none"/>
            <a:tailEnd len="med" w="med" type="triangle"/>
          </a:ln>
        </p:spPr>
      </p:cxnSp>
      <p:cxnSp>
        <p:nvCxnSpPr>
          <p:cNvPr id="1419" name="Google Shape;1419;g386752bb68f_0_44"/>
          <p:cNvCxnSpPr/>
          <p:nvPr/>
        </p:nvCxnSpPr>
        <p:spPr>
          <a:xfrm>
            <a:off x="3330376" y="5465331"/>
            <a:ext cx="2937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grpSp>
        <p:nvGrpSpPr>
          <p:cNvPr id="1424" name="Google Shape;1424;g3b300e88e69_0_135"/>
          <p:cNvGrpSpPr/>
          <p:nvPr/>
        </p:nvGrpSpPr>
        <p:grpSpPr>
          <a:xfrm>
            <a:off x="685800" y="1838306"/>
            <a:ext cx="10820186" cy="5020055"/>
            <a:chOff x="0" y="-47625"/>
            <a:chExt cx="4274726" cy="2214600"/>
          </a:xfrm>
        </p:grpSpPr>
        <p:sp>
          <p:nvSpPr>
            <p:cNvPr id="1425" name="Google Shape;1425;g3b300e88e69_0_13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26" name="Google Shape;1426;g3b300e88e69_0_13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27" name="Google Shape;1427;g3b300e88e69_0_135"/>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Diagnosis: Why Voiso Function Calls are Failing</a:t>
            </a:r>
            <a:endParaRPr sz="1200"/>
          </a:p>
        </p:txBody>
      </p:sp>
      <p:grpSp>
        <p:nvGrpSpPr>
          <p:cNvPr id="1428" name="Google Shape;1428;g3b300e88e69_0_135"/>
          <p:cNvGrpSpPr/>
          <p:nvPr/>
        </p:nvGrpSpPr>
        <p:grpSpPr>
          <a:xfrm>
            <a:off x="1076700" y="2113824"/>
            <a:ext cx="10093130" cy="5020103"/>
            <a:chOff x="0" y="-47625"/>
            <a:chExt cx="1808189" cy="1790400"/>
          </a:xfrm>
        </p:grpSpPr>
        <p:sp>
          <p:nvSpPr>
            <p:cNvPr id="1429" name="Google Shape;1429;g3b300e88e69_0_13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30" name="Google Shape;1430;g3b300e88e69_0_13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31" name="Google Shape;1431;g3b300e88e69_0_135"/>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432" name="Google Shape;1432;g3b300e88e69_0_135"/>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330200" lvl="0" marL="457200" marR="0" rtl="0" algn="l">
              <a:lnSpc>
                <a:spcPct val="140060"/>
              </a:lnSpc>
              <a:spcBef>
                <a:spcPts val="0"/>
              </a:spcBef>
              <a:spcAft>
                <a:spcPts val="0"/>
              </a:spcAft>
              <a:buClr>
                <a:srgbClr val="24314F"/>
              </a:buClr>
              <a:buSzPts val="1600"/>
              <a:buFont typeface="Inter"/>
              <a:buAutoNum type="arabicPeriod"/>
            </a:pPr>
            <a:r>
              <a:rPr b="1" lang="en-US" sz="1600">
                <a:solidFill>
                  <a:srgbClr val="24314F"/>
                </a:solidFill>
                <a:latin typeface="Inter"/>
                <a:ea typeface="Inter"/>
                <a:cs typeface="Inter"/>
                <a:sym typeface="Inter"/>
              </a:rPr>
              <a:t>Harmony format mismatch</a:t>
            </a:r>
            <a:endParaRPr b="1" sz="1600">
              <a:solidFill>
                <a:srgbClr val="24314F"/>
              </a:solidFill>
              <a:latin typeface="Inter"/>
              <a:ea typeface="Inter"/>
              <a:cs typeface="Inter"/>
              <a:sym typeface="Inter"/>
            </a:endParaRPr>
          </a:p>
        </p:txBody>
      </p:sp>
      <p:sp>
        <p:nvSpPr>
          <p:cNvPr id="1433" name="Google Shape;1433;g3b300e88e69_0_135"/>
          <p:cNvSpPr txBox="1"/>
          <p:nvPr/>
        </p:nvSpPr>
        <p:spPr>
          <a:xfrm>
            <a:off x="1357613" y="4083524"/>
            <a:ext cx="9531300" cy="23751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model is strictly trained on OpenAI's "Harmony" response format.</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It is not compatible with standard generic chat templates.</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Impact: If Voiso employees send standard chat messages without the specific Harmony formatting (which wraps tool calls in specific XML-like or structured tokens), the model will fail to structure the output as a valid function call.</a:t>
            </a:r>
            <a:endParaRPr b="1" sz="1633">
              <a:solidFill>
                <a:srgbClr val="24314F"/>
              </a:solidFill>
              <a:latin typeface="Inter"/>
              <a:ea typeface="Inter"/>
              <a:cs typeface="Inter"/>
              <a:sym typeface="Inter"/>
            </a:endParaRPr>
          </a:p>
        </p:txBody>
      </p:sp>
      <p:grpSp>
        <p:nvGrpSpPr>
          <p:cNvPr id="1434" name="Google Shape;1434;g3b300e88e69_0_135"/>
          <p:cNvGrpSpPr/>
          <p:nvPr/>
        </p:nvGrpSpPr>
        <p:grpSpPr>
          <a:xfrm>
            <a:off x="1357625" y="2747059"/>
            <a:ext cx="1224686" cy="888934"/>
            <a:chOff x="0" y="-47625"/>
            <a:chExt cx="1808189" cy="1790400"/>
          </a:xfrm>
        </p:grpSpPr>
        <p:sp>
          <p:nvSpPr>
            <p:cNvPr id="1435" name="Google Shape;1435;g3b300e88e69_0_13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36" name="Google Shape;1436;g3b300e88e69_0_135"/>
            <p:cNvSpPr txBox="1"/>
            <p:nvPr/>
          </p:nvSpPr>
          <p:spPr>
            <a:xfrm>
              <a:off x="0" y="-47625"/>
              <a:ext cx="18081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Input</a:t>
              </a:r>
              <a:endParaRPr sz="1098">
                <a:solidFill>
                  <a:schemeClr val="dk1"/>
                </a:solidFill>
                <a:latin typeface="Arial"/>
                <a:ea typeface="Arial"/>
                <a:cs typeface="Arial"/>
                <a:sym typeface="Arial"/>
              </a:endParaRPr>
            </a:p>
          </p:txBody>
        </p:sp>
      </p:grpSp>
      <p:grpSp>
        <p:nvGrpSpPr>
          <p:cNvPr id="1437" name="Google Shape;1437;g3b300e88e69_0_135"/>
          <p:cNvGrpSpPr/>
          <p:nvPr/>
        </p:nvGrpSpPr>
        <p:grpSpPr>
          <a:xfrm>
            <a:off x="2783826" y="2747049"/>
            <a:ext cx="1435537" cy="888934"/>
            <a:chOff x="-311291" y="-23857"/>
            <a:chExt cx="2119500" cy="1790400"/>
          </a:xfrm>
        </p:grpSpPr>
        <p:sp>
          <p:nvSpPr>
            <p:cNvPr id="1438" name="Google Shape;1438;g3b300e88e69_0_13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4CCCC"/>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39" name="Google Shape;1439;g3b300e88e69_0_135"/>
            <p:cNvSpPr txBox="1"/>
            <p:nvPr/>
          </p:nvSpPr>
          <p:spPr>
            <a:xfrm>
              <a:off x="-311291" y="-23857"/>
              <a:ext cx="2119500" cy="1790400"/>
            </a:xfrm>
            <a:prstGeom prst="rect">
              <a:avLst/>
            </a:prstGeom>
            <a:solidFill>
              <a:srgbClr val="F4CCCC"/>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Prompt Template</a:t>
              </a:r>
              <a:endParaRPr sz="1098">
                <a:solidFill>
                  <a:schemeClr val="dk1"/>
                </a:solidFill>
                <a:latin typeface="Arial"/>
                <a:ea typeface="Arial"/>
                <a:cs typeface="Arial"/>
                <a:sym typeface="Arial"/>
              </a:endParaRPr>
            </a:p>
          </p:txBody>
        </p:sp>
      </p:grpSp>
      <p:sp>
        <p:nvSpPr>
          <p:cNvPr id="1440" name="Google Shape;1440;g3b300e88e69_0_135"/>
          <p:cNvSpPr txBox="1"/>
          <p:nvPr/>
        </p:nvSpPr>
        <p:spPr>
          <a:xfrm>
            <a:off x="4420865" y="2747084"/>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Tokenizer</a:t>
            </a:r>
            <a:endParaRPr sz="1098">
              <a:solidFill>
                <a:schemeClr val="dk1"/>
              </a:solidFill>
              <a:latin typeface="Arial"/>
              <a:ea typeface="Arial"/>
              <a:cs typeface="Arial"/>
              <a:sym typeface="Arial"/>
            </a:endParaRPr>
          </a:p>
        </p:txBody>
      </p:sp>
      <p:sp>
        <p:nvSpPr>
          <p:cNvPr id="1441" name="Google Shape;1441;g3b300e88e69_0_135"/>
          <p:cNvSpPr txBox="1"/>
          <p:nvPr/>
        </p:nvSpPr>
        <p:spPr>
          <a:xfrm>
            <a:off x="6057937" y="2747092"/>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vLLM Runtime</a:t>
            </a:r>
            <a:endParaRPr sz="1098">
              <a:solidFill>
                <a:schemeClr val="dk1"/>
              </a:solidFill>
              <a:latin typeface="Arial"/>
              <a:ea typeface="Arial"/>
              <a:cs typeface="Arial"/>
              <a:sym typeface="Arial"/>
            </a:endParaRPr>
          </a:p>
        </p:txBody>
      </p:sp>
      <p:cxnSp>
        <p:nvCxnSpPr>
          <p:cNvPr id="1442" name="Google Shape;1442;g3b300e88e69_0_135"/>
          <p:cNvCxnSpPr>
            <a:stCxn id="1436" idx="3"/>
            <a:endCxn id="1439" idx="1"/>
          </p:cNvCxnSpPr>
          <p:nvPr/>
        </p:nvCxnSpPr>
        <p:spPr>
          <a:xfrm>
            <a:off x="2582251" y="3191526"/>
            <a:ext cx="201600" cy="0"/>
          </a:xfrm>
          <a:prstGeom prst="straightConnector1">
            <a:avLst/>
          </a:prstGeom>
          <a:noFill/>
          <a:ln cap="flat" cmpd="sng" w="7175">
            <a:solidFill>
              <a:schemeClr val="dk2"/>
            </a:solidFill>
            <a:prstDash val="solid"/>
            <a:round/>
            <a:headEnd len="med" w="med" type="none"/>
            <a:tailEnd len="med" w="med" type="triangle"/>
          </a:ln>
        </p:spPr>
      </p:cxnSp>
      <p:cxnSp>
        <p:nvCxnSpPr>
          <p:cNvPr id="1443" name="Google Shape;1443;g3b300e88e69_0_135"/>
          <p:cNvCxnSpPr>
            <a:stCxn id="1439" idx="3"/>
            <a:endCxn id="1440" idx="1"/>
          </p:cNvCxnSpPr>
          <p:nvPr/>
        </p:nvCxnSpPr>
        <p:spPr>
          <a:xfrm>
            <a:off x="4219363" y="3191516"/>
            <a:ext cx="201600" cy="0"/>
          </a:xfrm>
          <a:prstGeom prst="straightConnector1">
            <a:avLst/>
          </a:prstGeom>
          <a:noFill/>
          <a:ln cap="flat" cmpd="sng" w="6550">
            <a:solidFill>
              <a:schemeClr val="dk2"/>
            </a:solidFill>
            <a:prstDash val="solid"/>
            <a:round/>
            <a:headEnd len="med" w="med" type="none"/>
            <a:tailEnd len="med" w="med" type="triangle"/>
          </a:ln>
        </p:spPr>
      </p:cxnSp>
      <p:cxnSp>
        <p:nvCxnSpPr>
          <p:cNvPr id="1444" name="Google Shape;1444;g3b300e88e69_0_135"/>
          <p:cNvCxnSpPr>
            <a:stCxn id="1440" idx="3"/>
            <a:endCxn id="1441" idx="1"/>
          </p:cNvCxnSpPr>
          <p:nvPr/>
        </p:nvCxnSpPr>
        <p:spPr>
          <a:xfrm>
            <a:off x="5856365" y="3191534"/>
            <a:ext cx="201600" cy="0"/>
          </a:xfrm>
          <a:prstGeom prst="straightConnector1">
            <a:avLst/>
          </a:prstGeom>
          <a:noFill/>
          <a:ln cap="flat" cmpd="sng" w="6550">
            <a:solidFill>
              <a:schemeClr val="dk2"/>
            </a:solidFill>
            <a:prstDash val="solid"/>
            <a:round/>
            <a:headEnd len="med" w="med" type="none"/>
            <a:tailEnd len="med" w="med" type="triangle"/>
          </a:ln>
        </p:spPr>
      </p:cxnSp>
      <p:sp>
        <p:nvSpPr>
          <p:cNvPr id="1445" name="Google Shape;1445;g3b300e88e69_0_135"/>
          <p:cNvSpPr txBox="1"/>
          <p:nvPr/>
        </p:nvSpPr>
        <p:spPr>
          <a:xfrm>
            <a:off x="7695051"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Model</a:t>
            </a:r>
            <a:endParaRPr sz="1098">
              <a:solidFill>
                <a:schemeClr val="dk1"/>
              </a:solidFill>
              <a:latin typeface="Arial"/>
              <a:ea typeface="Arial"/>
              <a:cs typeface="Arial"/>
              <a:sym typeface="Arial"/>
            </a:endParaRPr>
          </a:p>
        </p:txBody>
      </p:sp>
      <p:sp>
        <p:nvSpPr>
          <p:cNvPr id="1446" name="Google Shape;1446;g3b300e88e69_0_135"/>
          <p:cNvSpPr txBox="1"/>
          <p:nvPr/>
        </p:nvSpPr>
        <p:spPr>
          <a:xfrm>
            <a:off x="9453378"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Tool Call</a:t>
            </a:r>
            <a:endParaRPr sz="1098">
              <a:solidFill>
                <a:schemeClr val="dk1"/>
              </a:solidFill>
              <a:latin typeface="Arial"/>
              <a:ea typeface="Arial"/>
              <a:cs typeface="Arial"/>
              <a:sym typeface="Arial"/>
            </a:endParaRPr>
          </a:p>
        </p:txBody>
      </p:sp>
      <p:cxnSp>
        <p:nvCxnSpPr>
          <p:cNvPr id="1447" name="Google Shape;1447;g3b300e88e69_0_135"/>
          <p:cNvCxnSpPr>
            <a:stCxn id="1445" idx="3"/>
            <a:endCxn id="1446" idx="1"/>
          </p:cNvCxnSpPr>
          <p:nvPr/>
        </p:nvCxnSpPr>
        <p:spPr>
          <a:xfrm>
            <a:off x="9130551" y="3191543"/>
            <a:ext cx="322800" cy="0"/>
          </a:xfrm>
          <a:prstGeom prst="straightConnector1">
            <a:avLst/>
          </a:prstGeom>
          <a:noFill/>
          <a:ln cap="flat" cmpd="sng" w="6550">
            <a:solidFill>
              <a:schemeClr val="dk2"/>
            </a:solidFill>
            <a:prstDash val="solid"/>
            <a:round/>
            <a:headEnd len="med" w="med" type="none"/>
            <a:tailEnd len="med" w="med" type="triangle"/>
          </a:ln>
        </p:spPr>
      </p:cxnSp>
      <p:cxnSp>
        <p:nvCxnSpPr>
          <p:cNvPr id="1448" name="Google Shape;1448;g3b300e88e69_0_135"/>
          <p:cNvCxnSpPr/>
          <p:nvPr/>
        </p:nvCxnSpPr>
        <p:spPr>
          <a:xfrm>
            <a:off x="7493466" y="3191552"/>
            <a:ext cx="201600" cy="0"/>
          </a:xfrm>
          <a:prstGeom prst="straightConnector1">
            <a:avLst/>
          </a:prstGeom>
          <a:noFill/>
          <a:ln cap="flat" cmpd="sng" w="6550">
            <a:solidFill>
              <a:schemeClr val="dk2"/>
            </a:solidFill>
            <a:prstDash val="solid"/>
            <a:round/>
            <a:headEnd len="med" w="med" type="none"/>
            <a:tailEnd len="med" w="med" type="triangle"/>
          </a:ln>
        </p:spPr>
      </p:cxn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grpSp>
        <p:nvGrpSpPr>
          <p:cNvPr id="1453" name="Google Shape;1453;g386752bb68f_0_57"/>
          <p:cNvGrpSpPr/>
          <p:nvPr/>
        </p:nvGrpSpPr>
        <p:grpSpPr>
          <a:xfrm>
            <a:off x="685800" y="1838306"/>
            <a:ext cx="10820186" cy="5020055"/>
            <a:chOff x="0" y="-47625"/>
            <a:chExt cx="4274726" cy="2214600"/>
          </a:xfrm>
        </p:grpSpPr>
        <p:sp>
          <p:nvSpPr>
            <p:cNvPr id="1454" name="Google Shape;1454;g386752bb68f_0_5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55" name="Google Shape;1455;g386752bb68f_0_5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56" name="Google Shape;1456;g386752bb68f_0_5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Diagnosis: Why Voiso Function Calls are Failing</a:t>
            </a:r>
            <a:endParaRPr sz="1200"/>
          </a:p>
        </p:txBody>
      </p:sp>
      <p:grpSp>
        <p:nvGrpSpPr>
          <p:cNvPr id="1457" name="Google Shape;1457;g386752bb68f_0_57"/>
          <p:cNvGrpSpPr/>
          <p:nvPr/>
        </p:nvGrpSpPr>
        <p:grpSpPr>
          <a:xfrm>
            <a:off x="1076700" y="2113824"/>
            <a:ext cx="10093130" cy="5020103"/>
            <a:chOff x="0" y="-47625"/>
            <a:chExt cx="1808189" cy="1790400"/>
          </a:xfrm>
        </p:grpSpPr>
        <p:sp>
          <p:nvSpPr>
            <p:cNvPr id="1458" name="Google Shape;1458;g386752bb68f_0_5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59" name="Google Shape;1459;g386752bb68f_0_5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60" name="Google Shape;1460;g386752bb68f_0_5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461" name="Google Shape;1461;g386752bb68f_0_57"/>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2. vLLM Version/ build Incompatibility</a:t>
            </a:r>
            <a:endParaRPr b="1" sz="1600">
              <a:solidFill>
                <a:srgbClr val="24314F"/>
              </a:solidFill>
              <a:latin typeface="Inter"/>
              <a:ea typeface="Inter"/>
              <a:cs typeface="Inter"/>
              <a:sym typeface="Inter"/>
            </a:endParaRPr>
          </a:p>
        </p:txBody>
      </p:sp>
      <p:sp>
        <p:nvSpPr>
          <p:cNvPr id="1462" name="Google Shape;1462;g386752bb68f_0_57"/>
          <p:cNvSpPr txBox="1"/>
          <p:nvPr/>
        </p:nvSpPr>
        <p:spPr>
          <a:xfrm>
            <a:off x="1357613" y="4125574"/>
            <a:ext cx="9531300" cy="22212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Issue: Standard vLLM builds do not support the MXFP4 quantization or the custom kernels required for this model.</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16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Impact: Using the standard vLLM pip package will result in garbage outputs, loading failures, or the inability to recognize the model's specialized layers, breaking generation logic.</a:t>
            </a:r>
            <a:endParaRPr b="1" sz="1633">
              <a:solidFill>
                <a:srgbClr val="24314F"/>
              </a:solidFill>
              <a:latin typeface="Inter"/>
              <a:ea typeface="Inter"/>
              <a:cs typeface="Inter"/>
              <a:sym typeface="Inter"/>
            </a:endParaRPr>
          </a:p>
        </p:txBody>
      </p:sp>
      <p:grpSp>
        <p:nvGrpSpPr>
          <p:cNvPr id="1463" name="Google Shape;1463;g386752bb68f_0_57"/>
          <p:cNvGrpSpPr/>
          <p:nvPr/>
        </p:nvGrpSpPr>
        <p:grpSpPr>
          <a:xfrm>
            <a:off x="1357625" y="2747059"/>
            <a:ext cx="1224686" cy="888934"/>
            <a:chOff x="0" y="-47625"/>
            <a:chExt cx="1808189" cy="1790400"/>
          </a:xfrm>
        </p:grpSpPr>
        <p:sp>
          <p:nvSpPr>
            <p:cNvPr id="1464" name="Google Shape;1464;g386752bb68f_0_5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65" name="Google Shape;1465;g386752bb68f_0_57"/>
            <p:cNvSpPr txBox="1"/>
            <p:nvPr/>
          </p:nvSpPr>
          <p:spPr>
            <a:xfrm>
              <a:off x="0" y="-47625"/>
              <a:ext cx="18081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Input</a:t>
              </a:r>
              <a:endParaRPr sz="1098">
                <a:solidFill>
                  <a:schemeClr val="dk1"/>
                </a:solidFill>
                <a:latin typeface="Arial"/>
                <a:ea typeface="Arial"/>
                <a:cs typeface="Arial"/>
                <a:sym typeface="Arial"/>
              </a:endParaRPr>
            </a:p>
          </p:txBody>
        </p:sp>
      </p:grpSp>
      <p:grpSp>
        <p:nvGrpSpPr>
          <p:cNvPr id="1466" name="Google Shape;1466;g386752bb68f_0_57"/>
          <p:cNvGrpSpPr/>
          <p:nvPr/>
        </p:nvGrpSpPr>
        <p:grpSpPr>
          <a:xfrm>
            <a:off x="2783826" y="2747049"/>
            <a:ext cx="1435537" cy="888934"/>
            <a:chOff x="-311291" y="-23857"/>
            <a:chExt cx="2119500" cy="1790400"/>
          </a:xfrm>
        </p:grpSpPr>
        <p:sp>
          <p:nvSpPr>
            <p:cNvPr id="1467" name="Google Shape;1467;g386752bb68f_0_5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68" name="Google Shape;1468;g386752bb68f_0_57"/>
            <p:cNvSpPr txBox="1"/>
            <p:nvPr/>
          </p:nvSpPr>
          <p:spPr>
            <a:xfrm>
              <a:off x="-311291" y="-23857"/>
              <a:ext cx="21195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Prompt Template</a:t>
              </a:r>
              <a:endParaRPr sz="1098">
                <a:solidFill>
                  <a:schemeClr val="dk1"/>
                </a:solidFill>
                <a:latin typeface="Arial"/>
                <a:ea typeface="Arial"/>
                <a:cs typeface="Arial"/>
                <a:sym typeface="Arial"/>
              </a:endParaRPr>
            </a:p>
          </p:txBody>
        </p:sp>
      </p:grpSp>
      <p:sp>
        <p:nvSpPr>
          <p:cNvPr id="1469" name="Google Shape;1469;g386752bb68f_0_57"/>
          <p:cNvSpPr txBox="1"/>
          <p:nvPr/>
        </p:nvSpPr>
        <p:spPr>
          <a:xfrm>
            <a:off x="4420865" y="2747084"/>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Tokenizer</a:t>
            </a:r>
            <a:endParaRPr sz="1098">
              <a:solidFill>
                <a:schemeClr val="dk1"/>
              </a:solidFill>
              <a:latin typeface="Arial"/>
              <a:ea typeface="Arial"/>
              <a:cs typeface="Arial"/>
              <a:sym typeface="Arial"/>
            </a:endParaRPr>
          </a:p>
        </p:txBody>
      </p:sp>
      <p:sp>
        <p:nvSpPr>
          <p:cNvPr id="1470" name="Google Shape;1470;g386752bb68f_0_57"/>
          <p:cNvSpPr txBox="1"/>
          <p:nvPr/>
        </p:nvSpPr>
        <p:spPr>
          <a:xfrm>
            <a:off x="6057937" y="2747092"/>
            <a:ext cx="1435500" cy="888900"/>
          </a:xfrm>
          <a:prstGeom prst="rect">
            <a:avLst/>
          </a:prstGeom>
          <a:solidFill>
            <a:srgbClr val="F4CCCC"/>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vLLM Runtime</a:t>
            </a:r>
            <a:endParaRPr sz="1098">
              <a:solidFill>
                <a:schemeClr val="dk1"/>
              </a:solidFill>
              <a:latin typeface="Arial"/>
              <a:ea typeface="Arial"/>
              <a:cs typeface="Arial"/>
              <a:sym typeface="Arial"/>
            </a:endParaRPr>
          </a:p>
        </p:txBody>
      </p:sp>
      <p:cxnSp>
        <p:nvCxnSpPr>
          <p:cNvPr id="1471" name="Google Shape;1471;g386752bb68f_0_57"/>
          <p:cNvCxnSpPr>
            <a:stCxn id="1465" idx="3"/>
            <a:endCxn id="1468" idx="1"/>
          </p:cNvCxnSpPr>
          <p:nvPr/>
        </p:nvCxnSpPr>
        <p:spPr>
          <a:xfrm>
            <a:off x="2582251" y="3191526"/>
            <a:ext cx="201600" cy="0"/>
          </a:xfrm>
          <a:prstGeom prst="straightConnector1">
            <a:avLst/>
          </a:prstGeom>
          <a:noFill/>
          <a:ln cap="flat" cmpd="sng" w="7175">
            <a:solidFill>
              <a:schemeClr val="dk2"/>
            </a:solidFill>
            <a:prstDash val="solid"/>
            <a:round/>
            <a:headEnd len="med" w="med" type="none"/>
            <a:tailEnd len="med" w="med" type="triangle"/>
          </a:ln>
        </p:spPr>
      </p:cxnSp>
      <p:cxnSp>
        <p:nvCxnSpPr>
          <p:cNvPr id="1472" name="Google Shape;1472;g386752bb68f_0_57"/>
          <p:cNvCxnSpPr>
            <a:stCxn id="1468" idx="3"/>
            <a:endCxn id="1469" idx="1"/>
          </p:cNvCxnSpPr>
          <p:nvPr/>
        </p:nvCxnSpPr>
        <p:spPr>
          <a:xfrm>
            <a:off x="4219363" y="3191516"/>
            <a:ext cx="201600" cy="0"/>
          </a:xfrm>
          <a:prstGeom prst="straightConnector1">
            <a:avLst/>
          </a:prstGeom>
          <a:noFill/>
          <a:ln cap="flat" cmpd="sng" w="6550">
            <a:solidFill>
              <a:schemeClr val="dk2"/>
            </a:solidFill>
            <a:prstDash val="solid"/>
            <a:round/>
            <a:headEnd len="med" w="med" type="none"/>
            <a:tailEnd len="med" w="med" type="triangle"/>
          </a:ln>
        </p:spPr>
      </p:cxnSp>
      <p:cxnSp>
        <p:nvCxnSpPr>
          <p:cNvPr id="1473" name="Google Shape;1473;g386752bb68f_0_57"/>
          <p:cNvCxnSpPr>
            <a:stCxn id="1469" idx="3"/>
            <a:endCxn id="1470" idx="1"/>
          </p:cNvCxnSpPr>
          <p:nvPr/>
        </p:nvCxnSpPr>
        <p:spPr>
          <a:xfrm>
            <a:off x="5856365" y="3191534"/>
            <a:ext cx="201600" cy="0"/>
          </a:xfrm>
          <a:prstGeom prst="straightConnector1">
            <a:avLst/>
          </a:prstGeom>
          <a:noFill/>
          <a:ln cap="flat" cmpd="sng" w="6550">
            <a:solidFill>
              <a:schemeClr val="dk2"/>
            </a:solidFill>
            <a:prstDash val="solid"/>
            <a:round/>
            <a:headEnd len="med" w="med" type="none"/>
            <a:tailEnd len="med" w="med" type="triangle"/>
          </a:ln>
        </p:spPr>
      </p:cxnSp>
      <p:sp>
        <p:nvSpPr>
          <p:cNvPr id="1474" name="Google Shape;1474;g386752bb68f_0_57"/>
          <p:cNvSpPr txBox="1"/>
          <p:nvPr/>
        </p:nvSpPr>
        <p:spPr>
          <a:xfrm>
            <a:off x="7695051"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Model</a:t>
            </a:r>
            <a:endParaRPr sz="1098">
              <a:solidFill>
                <a:schemeClr val="dk1"/>
              </a:solidFill>
              <a:latin typeface="Arial"/>
              <a:ea typeface="Arial"/>
              <a:cs typeface="Arial"/>
              <a:sym typeface="Arial"/>
            </a:endParaRPr>
          </a:p>
        </p:txBody>
      </p:sp>
      <p:sp>
        <p:nvSpPr>
          <p:cNvPr id="1475" name="Google Shape;1475;g386752bb68f_0_57"/>
          <p:cNvSpPr txBox="1"/>
          <p:nvPr/>
        </p:nvSpPr>
        <p:spPr>
          <a:xfrm>
            <a:off x="9453378"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Tool Call</a:t>
            </a:r>
            <a:endParaRPr sz="1098">
              <a:solidFill>
                <a:schemeClr val="dk1"/>
              </a:solidFill>
              <a:latin typeface="Arial"/>
              <a:ea typeface="Arial"/>
              <a:cs typeface="Arial"/>
              <a:sym typeface="Arial"/>
            </a:endParaRPr>
          </a:p>
        </p:txBody>
      </p:sp>
      <p:cxnSp>
        <p:nvCxnSpPr>
          <p:cNvPr id="1476" name="Google Shape;1476;g386752bb68f_0_57"/>
          <p:cNvCxnSpPr>
            <a:stCxn id="1474" idx="3"/>
            <a:endCxn id="1475" idx="1"/>
          </p:cNvCxnSpPr>
          <p:nvPr/>
        </p:nvCxnSpPr>
        <p:spPr>
          <a:xfrm>
            <a:off x="9130551" y="3191543"/>
            <a:ext cx="322800" cy="0"/>
          </a:xfrm>
          <a:prstGeom prst="straightConnector1">
            <a:avLst/>
          </a:prstGeom>
          <a:noFill/>
          <a:ln cap="flat" cmpd="sng" w="6550">
            <a:solidFill>
              <a:schemeClr val="dk2"/>
            </a:solidFill>
            <a:prstDash val="solid"/>
            <a:round/>
            <a:headEnd len="med" w="med" type="none"/>
            <a:tailEnd len="med" w="med" type="triangle"/>
          </a:ln>
        </p:spPr>
      </p:cxnSp>
      <p:cxnSp>
        <p:nvCxnSpPr>
          <p:cNvPr id="1477" name="Google Shape;1477;g386752bb68f_0_57"/>
          <p:cNvCxnSpPr/>
          <p:nvPr/>
        </p:nvCxnSpPr>
        <p:spPr>
          <a:xfrm>
            <a:off x="7493466" y="3191552"/>
            <a:ext cx="201600" cy="0"/>
          </a:xfrm>
          <a:prstGeom prst="straightConnector1">
            <a:avLst/>
          </a:prstGeom>
          <a:noFill/>
          <a:ln cap="flat" cmpd="sng" w="6550">
            <a:solidFill>
              <a:schemeClr val="dk2"/>
            </a:solidFill>
            <a:prstDash val="solid"/>
            <a:round/>
            <a:headEnd len="med" w="med" type="none"/>
            <a:tailEnd len="med" w="med" type="triangle"/>
          </a:ln>
        </p:spPr>
      </p:cxn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grpSp>
        <p:nvGrpSpPr>
          <p:cNvPr id="1482" name="Google Shape;1482;g386752bb68f_0_70"/>
          <p:cNvGrpSpPr/>
          <p:nvPr/>
        </p:nvGrpSpPr>
        <p:grpSpPr>
          <a:xfrm>
            <a:off x="685800" y="1838306"/>
            <a:ext cx="10820186" cy="5020055"/>
            <a:chOff x="0" y="-47625"/>
            <a:chExt cx="4274726" cy="2214600"/>
          </a:xfrm>
        </p:grpSpPr>
        <p:sp>
          <p:nvSpPr>
            <p:cNvPr id="1483" name="Google Shape;1483;g386752bb68f_0_7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84" name="Google Shape;1484;g386752bb68f_0_7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85" name="Google Shape;1485;g386752bb68f_0_7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Diagnosis: Why Voiso Function Calls are Failing</a:t>
            </a:r>
            <a:endParaRPr sz="1200"/>
          </a:p>
        </p:txBody>
      </p:sp>
      <p:grpSp>
        <p:nvGrpSpPr>
          <p:cNvPr id="1486" name="Google Shape;1486;g386752bb68f_0_70"/>
          <p:cNvGrpSpPr/>
          <p:nvPr/>
        </p:nvGrpSpPr>
        <p:grpSpPr>
          <a:xfrm>
            <a:off x="1076700" y="2113824"/>
            <a:ext cx="10093130" cy="5020103"/>
            <a:chOff x="0" y="-47625"/>
            <a:chExt cx="1808189" cy="1790400"/>
          </a:xfrm>
        </p:grpSpPr>
        <p:sp>
          <p:nvSpPr>
            <p:cNvPr id="1487" name="Google Shape;1487;g386752bb68f_0_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88" name="Google Shape;1488;g386752bb68f_0_7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489" name="Google Shape;1489;g386752bb68f_0_7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490" name="Google Shape;1490;g386752bb68f_0_70"/>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3. Wrong endpoint in vLLM</a:t>
            </a:r>
            <a:endParaRPr b="1" sz="1600">
              <a:solidFill>
                <a:srgbClr val="24314F"/>
              </a:solidFill>
              <a:latin typeface="Inter"/>
              <a:ea typeface="Inter"/>
              <a:cs typeface="Inter"/>
              <a:sym typeface="Inter"/>
            </a:endParaRPr>
          </a:p>
        </p:txBody>
      </p:sp>
      <p:sp>
        <p:nvSpPr>
          <p:cNvPr id="1491" name="Google Shape;1491;g386752bb68f_0_70"/>
          <p:cNvSpPr txBox="1"/>
          <p:nvPr/>
        </p:nvSpPr>
        <p:spPr>
          <a:xfrm>
            <a:off x="1357613" y="3852349"/>
            <a:ext cx="9531300" cy="30060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Issue: Using the /v1/completions endpoint instead of the recommended /v1/chat/completions endpoint.</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433">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Impact on Chat Template:</a:t>
            </a:r>
            <a:endParaRPr b="1" sz="1633">
              <a:solidFill>
                <a:srgbClr val="24314F"/>
              </a:solidFill>
              <a:latin typeface="Inter"/>
              <a:ea typeface="Inter"/>
              <a:cs typeface="Inter"/>
              <a:sym typeface="Inter"/>
            </a:endParaRPr>
          </a:p>
          <a:p>
            <a:pPr indent="-332296" lvl="1" marL="9144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/v1/chat/completions endpoint in vLLM automatically applies the model's registered chat template (which injects the necessary Harmony format).</a:t>
            </a:r>
            <a:endParaRPr b="1" sz="1633">
              <a:solidFill>
                <a:srgbClr val="24314F"/>
              </a:solidFill>
              <a:latin typeface="Inter"/>
              <a:ea typeface="Inter"/>
              <a:cs typeface="Inter"/>
              <a:sym typeface="Inter"/>
            </a:endParaRPr>
          </a:p>
          <a:p>
            <a:pPr indent="-332296" lvl="1" marL="914400" rtl="0" algn="l">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/v1/completions endpoint expects raw text input.</a:t>
            </a:r>
            <a:endParaRPr b="1" sz="1633">
              <a:solidFill>
                <a:srgbClr val="24314F"/>
              </a:solidFill>
              <a:latin typeface="Inter"/>
              <a:ea typeface="Inter"/>
              <a:cs typeface="Inter"/>
              <a:sym typeface="Inter"/>
            </a:endParaRPr>
          </a:p>
          <a:p>
            <a:pPr indent="0" lvl="0" marL="914400" rtl="0" algn="l">
              <a:spcBef>
                <a:spcPts val="1200"/>
              </a:spcBef>
              <a:spcAft>
                <a:spcPts val="0"/>
              </a:spcAft>
              <a:buNone/>
            </a:pPr>
            <a:r>
              <a:t/>
            </a:r>
            <a:endParaRPr b="1" sz="400">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Consequence: If Voiso uses the raw /v1/completions endpoint without manually constructing the complex Harmony prompt string, the model receives malformed input and cannot correctly generate a function call.</a:t>
            </a:r>
            <a:endParaRPr b="1" sz="1633">
              <a:solidFill>
                <a:srgbClr val="24314F"/>
              </a:solidFill>
              <a:latin typeface="Inter"/>
              <a:ea typeface="Inter"/>
              <a:cs typeface="Inter"/>
              <a:sym typeface="Inter"/>
            </a:endParaRPr>
          </a:p>
        </p:txBody>
      </p:sp>
      <p:grpSp>
        <p:nvGrpSpPr>
          <p:cNvPr id="1492" name="Google Shape;1492;g386752bb68f_0_70"/>
          <p:cNvGrpSpPr/>
          <p:nvPr/>
        </p:nvGrpSpPr>
        <p:grpSpPr>
          <a:xfrm>
            <a:off x="1357625" y="2747059"/>
            <a:ext cx="1224686" cy="888934"/>
            <a:chOff x="0" y="-47625"/>
            <a:chExt cx="1808189" cy="1790400"/>
          </a:xfrm>
        </p:grpSpPr>
        <p:sp>
          <p:nvSpPr>
            <p:cNvPr id="1493" name="Google Shape;1493;g386752bb68f_0_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94" name="Google Shape;1494;g386752bb68f_0_70"/>
            <p:cNvSpPr txBox="1"/>
            <p:nvPr/>
          </p:nvSpPr>
          <p:spPr>
            <a:xfrm>
              <a:off x="0" y="-47625"/>
              <a:ext cx="18081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Input</a:t>
              </a:r>
              <a:endParaRPr sz="1098">
                <a:solidFill>
                  <a:schemeClr val="dk1"/>
                </a:solidFill>
                <a:latin typeface="Arial"/>
                <a:ea typeface="Arial"/>
                <a:cs typeface="Arial"/>
                <a:sym typeface="Arial"/>
              </a:endParaRPr>
            </a:p>
          </p:txBody>
        </p:sp>
      </p:grpSp>
      <p:grpSp>
        <p:nvGrpSpPr>
          <p:cNvPr id="1495" name="Google Shape;1495;g386752bb68f_0_70"/>
          <p:cNvGrpSpPr/>
          <p:nvPr/>
        </p:nvGrpSpPr>
        <p:grpSpPr>
          <a:xfrm>
            <a:off x="2783826" y="2747049"/>
            <a:ext cx="1435537" cy="888934"/>
            <a:chOff x="-311291" y="-23857"/>
            <a:chExt cx="2119500" cy="1790400"/>
          </a:xfrm>
        </p:grpSpPr>
        <p:sp>
          <p:nvSpPr>
            <p:cNvPr id="1496" name="Google Shape;1496;g386752bb68f_0_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497" name="Google Shape;1497;g386752bb68f_0_70"/>
            <p:cNvSpPr txBox="1"/>
            <p:nvPr/>
          </p:nvSpPr>
          <p:spPr>
            <a:xfrm>
              <a:off x="-311291" y="-23857"/>
              <a:ext cx="21195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Prompt Template</a:t>
              </a:r>
              <a:endParaRPr sz="1098">
                <a:solidFill>
                  <a:schemeClr val="dk1"/>
                </a:solidFill>
                <a:latin typeface="Arial"/>
                <a:ea typeface="Arial"/>
                <a:cs typeface="Arial"/>
                <a:sym typeface="Arial"/>
              </a:endParaRPr>
            </a:p>
          </p:txBody>
        </p:sp>
      </p:grpSp>
      <p:sp>
        <p:nvSpPr>
          <p:cNvPr id="1498" name="Google Shape;1498;g386752bb68f_0_70"/>
          <p:cNvSpPr txBox="1"/>
          <p:nvPr/>
        </p:nvSpPr>
        <p:spPr>
          <a:xfrm>
            <a:off x="4420865" y="2747084"/>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Tokenizer</a:t>
            </a:r>
            <a:endParaRPr sz="1098">
              <a:solidFill>
                <a:schemeClr val="dk1"/>
              </a:solidFill>
              <a:latin typeface="Arial"/>
              <a:ea typeface="Arial"/>
              <a:cs typeface="Arial"/>
              <a:sym typeface="Arial"/>
            </a:endParaRPr>
          </a:p>
        </p:txBody>
      </p:sp>
      <p:sp>
        <p:nvSpPr>
          <p:cNvPr id="1499" name="Google Shape;1499;g386752bb68f_0_70"/>
          <p:cNvSpPr txBox="1"/>
          <p:nvPr/>
        </p:nvSpPr>
        <p:spPr>
          <a:xfrm>
            <a:off x="6057937" y="2747092"/>
            <a:ext cx="1435500" cy="888900"/>
          </a:xfrm>
          <a:prstGeom prst="rect">
            <a:avLst/>
          </a:prstGeom>
          <a:solidFill>
            <a:srgbClr val="F4CCCC"/>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vLLM Runtime</a:t>
            </a:r>
            <a:endParaRPr sz="1098">
              <a:solidFill>
                <a:schemeClr val="dk1"/>
              </a:solidFill>
              <a:latin typeface="Arial"/>
              <a:ea typeface="Arial"/>
              <a:cs typeface="Arial"/>
              <a:sym typeface="Arial"/>
            </a:endParaRPr>
          </a:p>
        </p:txBody>
      </p:sp>
      <p:cxnSp>
        <p:nvCxnSpPr>
          <p:cNvPr id="1500" name="Google Shape;1500;g386752bb68f_0_70"/>
          <p:cNvCxnSpPr>
            <a:stCxn id="1494" idx="3"/>
            <a:endCxn id="1497" idx="1"/>
          </p:cNvCxnSpPr>
          <p:nvPr/>
        </p:nvCxnSpPr>
        <p:spPr>
          <a:xfrm>
            <a:off x="2582251" y="3191526"/>
            <a:ext cx="201600" cy="0"/>
          </a:xfrm>
          <a:prstGeom prst="straightConnector1">
            <a:avLst/>
          </a:prstGeom>
          <a:noFill/>
          <a:ln cap="flat" cmpd="sng" w="7175">
            <a:solidFill>
              <a:schemeClr val="dk2"/>
            </a:solidFill>
            <a:prstDash val="solid"/>
            <a:round/>
            <a:headEnd len="med" w="med" type="none"/>
            <a:tailEnd len="med" w="med" type="triangle"/>
          </a:ln>
        </p:spPr>
      </p:cxnSp>
      <p:cxnSp>
        <p:nvCxnSpPr>
          <p:cNvPr id="1501" name="Google Shape;1501;g386752bb68f_0_70"/>
          <p:cNvCxnSpPr>
            <a:stCxn id="1497" idx="3"/>
            <a:endCxn id="1498" idx="1"/>
          </p:cNvCxnSpPr>
          <p:nvPr/>
        </p:nvCxnSpPr>
        <p:spPr>
          <a:xfrm>
            <a:off x="4219363" y="3191516"/>
            <a:ext cx="201600" cy="0"/>
          </a:xfrm>
          <a:prstGeom prst="straightConnector1">
            <a:avLst/>
          </a:prstGeom>
          <a:noFill/>
          <a:ln cap="flat" cmpd="sng" w="6550">
            <a:solidFill>
              <a:schemeClr val="dk2"/>
            </a:solidFill>
            <a:prstDash val="solid"/>
            <a:round/>
            <a:headEnd len="med" w="med" type="none"/>
            <a:tailEnd len="med" w="med" type="triangle"/>
          </a:ln>
        </p:spPr>
      </p:cxnSp>
      <p:cxnSp>
        <p:nvCxnSpPr>
          <p:cNvPr id="1502" name="Google Shape;1502;g386752bb68f_0_70"/>
          <p:cNvCxnSpPr>
            <a:stCxn id="1498" idx="3"/>
            <a:endCxn id="1499" idx="1"/>
          </p:cNvCxnSpPr>
          <p:nvPr/>
        </p:nvCxnSpPr>
        <p:spPr>
          <a:xfrm>
            <a:off x="5856365" y="3191534"/>
            <a:ext cx="201600" cy="0"/>
          </a:xfrm>
          <a:prstGeom prst="straightConnector1">
            <a:avLst/>
          </a:prstGeom>
          <a:noFill/>
          <a:ln cap="flat" cmpd="sng" w="6550">
            <a:solidFill>
              <a:schemeClr val="dk2"/>
            </a:solidFill>
            <a:prstDash val="solid"/>
            <a:round/>
            <a:headEnd len="med" w="med" type="none"/>
            <a:tailEnd len="med" w="med" type="triangle"/>
          </a:ln>
        </p:spPr>
      </p:cxnSp>
      <p:sp>
        <p:nvSpPr>
          <p:cNvPr id="1503" name="Google Shape;1503;g386752bb68f_0_70"/>
          <p:cNvSpPr txBox="1"/>
          <p:nvPr/>
        </p:nvSpPr>
        <p:spPr>
          <a:xfrm>
            <a:off x="7695051"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Model</a:t>
            </a:r>
            <a:endParaRPr sz="1098">
              <a:solidFill>
                <a:schemeClr val="dk1"/>
              </a:solidFill>
              <a:latin typeface="Arial"/>
              <a:ea typeface="Arial"/>
              <a:cs typeface="Arial"/>
              <a:sym typeface="Arial"/>
            </a:endParaRPr>
          </a:p>
        </p:txBody>
      </p:sp>
      <p:sp>
        <p:nvSpPr>
          <p:cNvPr id="1504" name="Google Shape;1504;g386752bb68f_0_70"/>
          <p:cNvSpPr txBox="1"/>
          <p:nvPr/>
        </p:nvSpPr>
        <p:spPr>
          <a:xfrm>
            <a:off x="9453378"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Tool Call</a:t>
            </a:r>
            <a:endParaRPr sz="1098">
              <a:solidFill>
                <a:schemeClr val="dk1"/>
              </a:solidFill>
              <a:latin typeface="Arial"/>
              <a:ea typeface="Arial"/>
              <a:cs typeface="Arial"/>
              <a:sym typeface="Arial"/>
            </a:endParaRPr>
          </a:p>
        </p:txBody>
      </p:sp>
      <p:cxnSp>
        <p:nvCxnSpPr>
          <p:cNvPr id="1505" name="Google Shape;1505;g386752bb68f_0_70"/>
          <p:cNvCxnSpPr>
            <a:stCxn id="1503" idx="3"/>
            <a:endCxn id="1504" idx="1"/>
          </p:cNvCxnSpPr>
          <p:nvPr/>
        </p:nvCxnSpPr>
        <p:spPr>
          <a:xfrm>
            <a:off x="9130551" y="3191543"/>
            <a:ext cx="322800" cy="0"/>
          </a:xfrm>
          <a:prstGeom prst="straightConnector1">
            <a:avLst/>
          </a:prstGeom>
          <a:noFill/>
          <a:ln cap="flat" cmpd="sng" w="6550">
            <a:solidFill>
              <a:schemeClr val="dk2"/>
            </a:solidFill>
            <a:prstDash val="solid"/>
            <a:round/>
            <a:headEnd len="med" w="med" type="none"/>
            <a:tailEnd len="med" w="med" type="triangle"/>
          </a:ln>
        </p:spPr>
      </p:cxnSp>
      <p:cxnSp>
        <p:nvCxnSpPr>
          <p:cNvPr id="1506" name="Google Shape;1506;g386752bb68f_0_70"/>
          <p:cNvCxnSpPr/>
          <p:nvPr/>
        </p:nvCxnSpPr>
        <p:spPr>
          <a:xfrm>
            <a:off x="7493466" y="3191552"/>
            <a:ext cx="201600" cy="0"/>
          </a:xfrm>
          <a:prstGeom prst="straightConnector1">
            <a:avLst/>
          </a:prstGeom>
          <a:noFill/>
          <a:ln cap="flat" cmpd="sng" w="6550">
            <a:solidFill>
              <a:schemeClr val="dk2"/>
            </a:solidFill>
            <a:prstDash val="solid"/>
            <a:round/>
            <a:headEnd len="med" w="med" type="none"/>
            <a:tailEnd len="med" w="med" type="triangle"/>
          </a:ln>
        </p:spPr>
      </p:cxn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grpSp>
        <p:nvGrpSpPr>
          <p:cNvPr id="1511" name="Google Shape;1511;g386752bb68f_0_96"/>
          <p:cNvGrpSpPr/>
          <p:nvPr/>
        </p:nvGrpSpPr>
        <p:grpSpPr>
          <a:xfrm>
            <a:off x="685800" y="1838306"/>
            <a:ext cx="10820186" cy="5020055"/>
            <a:chOff x="0" y="-47625"/>
            <a:chExt cx="4274726" cy="2214600"/>
          </a:xfrm>
        </p:grpSpPr>
        <p:sp>
          <p:nvSpPr>
            <p:cNvPr id="1512" name="Google Shape;1512;g386752bb68f_0_9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13" name="Google Shape;1513;g386752bb68f_0_9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14" name="Google Shape;1514;g386752bb68f_0_96"/>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Diagnosis: Why Voiso Function Calls are Failing</a:t>
            </a:r>
            <a:endParaRPr sz="1200"/>
          </a:p>
        </p:txBody>
      </p:sp>
      <p:grpSp>
        <p:nvGrpSpPr>
          <p:cNvPr id="1515" name="Google Shape;1515;g386752bb68f_0_96"/>
          <p:cNvGrpSpPr/>
          <p:nvPr/>
        </p:nvGrpSpPr>
        <p:grpSpPr>
          <a:xfrm>
            <a:off x="1076700" y="2113824"/>
            <a:ext cx="10093130" cy="5020103"/>
            <a:chOff x="0" y="-47625"/>
            <a:chExt cx="1808189" cy="1790400"/>
          </a:xfrm>
        </p:grpSpPr>
        <p:sp>
          <p:nvSpPr>
            <p:cNvPr id="1516" name="Google Shape;1516;g386752bb68f_0_9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17" name="Google Shape;1517;g386752bb68f_0_96"/>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18" name="Google Shape;1518;g386752bb68f_0_96"/>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519" name="Google Shape;1519;g386752bb68f_0_96"/>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4. Backend/tokenization issue</a:t>
            </a:r>
            <a:endParaRPr b="1" sz="1600">
              <a:solidFill>
                <a:srgbClr val="24314F"/>
              </a:solidFill>
              <a:latin typeface="Inter"/>
              <a:ea typeface="Inter"/>
              <a:cs typeface="Inter"/>
              <a:sym typeface="Inter"/>
            </a:endParaRPr>
          </a:p>
        </p:txBody>
      </p:sp>
      <p:sp>
        <p:nvSpPr>
          <p:cNvPr id="1520" name="Google Shape;1520;g386752bb68f_0_96"/>
          <p:cNvSpPr txBox="1"/>
          <p:nvPr/>
        </p:nvSpPr>
        <p:spPr>
          <a:xfrm>
            <a:off x="1357600" y="3961349"/>
            <a:ext cx="9531300" cy="2867700"/>
          </a:xfrm>
          <a:prstGeom prst="rect">
            <a:avLst/>
          </a:prstGeom>
          <a:noFill/>
          <a:ln>
            <a:noFill/>
          </a:ln>
        </p:spPr>
        <p:txBody>
          <a:bodyPr anchorCtr="0" anchor="t" bIns="0" lIns="0" spcFirstLastPara="1" rIns="0" wrap="square" tIns="0">
            <a:spAutoFit/>
          </a:bodyPr>
          <a:lstStyle/>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The Issue: Failure to trigger "Stop" sequences.</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400">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Impact: Function calling requires the engine to detect a special token (e.g., "tool start" or "thought end") to pause generation for client code execution.</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400">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Cause: A mismatched tokenizer configuration (due to using the wrong vLLM build) or an invalid chat template.</a:t>
            </a:r>
            <a:endParaRPr b="1" sz="1633">
              <a:solidFill>
                <a:srgbClr val="24314F"/>
              </a:solidFill>
              <a:latin typeface="Inter"/>
              <a:ea typeface="Inter"/>
              <a:cs typeface="Inter"/>
              <a:sym typeface="Inter"/>
            </a:endParaRPr>
          </a:p>
          <a:p>
            <a:pPr indent="0" lvl="0" marL="457200" rtl="0" algn="l">
              <a:spcBef>
                <a:spcPts val="1200"/>
              </a:spcBef>
              <a:spcAft>
                <a:spcPts val="0"/>
              </a:spcAft>
              <a:buNone/>
            </a:pPr>
            <a:r>
              <a:t/>
            </a:r>
            <a:endParaRPr b="1" sz="400">
              <a:solidFill>
                <a:srgbClr val="24314F"/>
              </a:solidFill>
              <a:latin typeface="Inter"/>
              <a:ea typeface="Inter"/>
              <a:cs typeface="Inter"/>
              <a:sym typeface="Inter"/>
            </a:endParaRPr>
          </a:p>
          <a:p>
            <a:pPr indent="-332296" lvl="0" marL="457200" rtl="0" algn="l">
              <a:spcBef>
                <a:spcPts val="120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Result: vLLM fails to register the stop tokens. The model streams the tool call as plain text and continues generating, which breaks the parser.</a:t>
            </a:r>
            <a:endParaRPr b="1" sz="1633">
              <a:solidFill>
                <a:srgbClr val="24314F"/>
              </a:solidFill>
              <a:latin typeface="Inter"/>
              <a:ea typeface="Inter"/>
              <a:cs typeface="Inter"/>
              <a:sym typeface="Inter"/>
            </a:endParaRPr>
          </a:p>
        </p:txBody>
      </p:sp>
      <p:grpSp>
        <p:nvGrpSpPr>
          <p:cNvPr id="1521" name="Google Shape;1521;g386752bb68f_0_96"/>
          <p:cNvGrpSpPr/>
          <p:nvPr/>
        </p:nvGrpSpPr>
        <p:grpSpPr>
          <a:xfrm>
            <a:off x="1357625" y="2747059"/>
            <a:ext cx="1224686" cy="888934"/>
            <a:chOff x="0" y="-47625"/>
            <a:chExt cx="1808189" cy="1790400"/>
          </a:xfrm>
        </p:grpSpPr>
        <p:sp>
          <p:nvSpPr>
            <p:cNvPr id="1522" name="Google Shape;1522;g386752bb68f_0_9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523" name="Google Shape;1523;g386752bb68f_0_96"/>
            <p:cNvSpPr txBox="1"/>
            <p:nvPr/>
          </p:nvSpPr>
          <p:spPr>
            <a:xfrm>
              <a:off x="0" y="-47625"/>
              <a:ext cx="18081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Input</a:t>
              </a:r>
              <a:endParaRPr sz="1098">
                <a:solidFill>
                  <a:schemeClr val="dk1"/>
                </a:solidFill>
                <a:latin typeface="Arial"/>
                <a:ea typeface="Arial"/>
                <a:cs typeface="Arial"/>
                <a:sym typeface="Arial"/>
              </a:endParaRPr>
            </a:p>
          </p:txBody>
        </p:sp>
      </p:grpSp>
      <p:grpSp>
        <p:nvGrpSpPr>
          <p:cNvPr id="1524" name="Google Shape;1524;g386752bb68f_0_96"/>
          <p:cNvGrpSpPr/>
          <p:nvPr/>
        </p:nvGrpSpPr>
        <p:grpSpPr>
          <a:xfrm>
            <a:off x="2783826" y="2747049"/>
            <a:ext cx="1435537" cy="888934"/>
            <a:chOff x="-311291" y="-23857"/>
            <a:chExt cx="2119500" cy="1790400"/>
          </a:xfrm>
        </p:grpSpPr>
        <p:sp>
          <p:nvSpPr>
            <p:cNvPr id="1525" name="Google Shape;1525;g386752bb68f_0_9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D9EAD3"/>
            </a:solidFill>
            <a:ln>
              <a:noFill/>
            </a:ln>
          </p:spPr>
          <p:txBody>
            <a:bodyPr anchorCtr="0" anchor="t" bIns="9450" lIns="18900" spcFirstLastPara="1" rIns="18900" wrap="square" tIns="9450">
              <a:noAutofit/>
            </a:bodyPr>
            <a:lstStyle/>
            <a:p>
              <a:pPr indent="0" lvl="0" marL="0" marR="0" rtl="0" algn="l">
                <a:spcBef>
                  <a:spcPts val="0"/>
                </a:spcBef>
                <a:spcAft>
                  <a:spcPts val="0"/>
                </a:spcAft>
                <a:buNone/>
              </a:pPr>
              <a:r>
                <a:t/>
              </a:r>
              <a:endParaRPr sz="248">
                <a:solidFill>
                  <a:schemeClr val="dk1"/>
                </a:solidFill>
                <a:latin typeface="Arial"/>
                <a:ea typeface="Arial"/>
                <a:cs typeface="Arial"/>
                <a:sym typeface="Arial"/>
              </a:endParaRPr>
            </a:p>
          </p:txBody>
        </p:sp>
        <p:sp>
          <p:nvSpPr>
            <p:cNvPr id="1526" name="Google Shape;1526;g386752bb68f_0_96"/>
            <p:cNvSpPr txBox="1"/>
            <p:nvPr/>
          </p:nvSpPr>
          <p:spPr>
            <a:xfrm>
              <a:off x="-311291" y="-23857"/>
              <a:ext cx="2119500" cy="17904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Prompt Template</a:t>
              </a:r>
              <a:endParaRPr sz="1098">
                <a:solidFill>
                  <a:schemeClr val="dk1"/>
                </a:solidFill>
                <a:latin typeface="Arial"/>
                <a:ea typeface="Arial"/>
                <a:cs typeface="Arial"/>
                <a:sym typeface="Arial"/>
              </a:endParaRPr>
            </a:p>
          </p:txBody>
        </p:sp>
      </p:grpSp>
      <p:sp>
        <p:nvSpPr>
          <p:cNvPr id="1527" name="Google Shape;1527;g386752bb68f_0_96"/>
          <p:cNvSpPr txBox="1"/>
          <p:nvPr/>
        </p:nvSpPr>
        <p:spPr>
          <a:xfrm>
            <a:off x="4420865" y="2747084"/>
            <a:ext cx="1435500" cy="888900"/>
          </a:xfrm>
          <a:prstGeom prst="rect">
            <a:avLst/>
          </a:prstGeom>
          <a:solidFill>
            <a:srgbClr val="F4CCCC"/>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Tokenizer</a:t>
            </a:r>
            <a:endParaRPr sz="1098">
              <a:solidFill>
                <a:schemeClr val="dk1"/>
              </a:solidFill>
              <a:latin typeface="Arial"/>
              <a:ea typeface="Arial"/>
              <a:cs typeface="Arial"/>
              <a:sym typeface="Arial"/>
            </a:endParaRPr>
          </a:p>
        </p:txBody>
      </p:sp>
      <p:sp>
        <p:nvSpPr>
          <p:cNvPr id="1528" name="Google Shape;1528;g386752bb68f_0_96"/>
          <p:cNvSpPr txBox="1"/>
          <p:nvPr/>
        </p:nvSpPr>
        <p:spPr>
          <a:xfrm>
            <a:off x="6057937" y="2747092"/>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vLLM Runtime</a:t>
            </a:r>
            <a:endParaRPr sz="1098">
              <a:solidFill>
                <a:schemeClr val="dk1"/>
              </a:solidFill>
              <a:latin typeface="Arial"/>
              <a:ea typeface="Arial"/>
              <a:cs typeface="Arial"/>
              <a:sym typeface="Arial"/>
            </a:endParaRPr>
          </a:p>
        </p:txBody>
      </p:sp>
      <p:cxnSp>
        <p:nvCxnSpPr>
          <p:cNvPr id="1529" name="Google Shape;1529;g386752bb68f_0_96"/>
          <p:cNvCxnSpPr>
            <a:stCxn id="1523" idx="3"/>
            <a:endCxn id="1526" idx="1"/>
          </p:cNvCxnSpPr>
          <p:nvPr/>
        </p:nvCxnSpPr>
        <p:spPr>
          <a:xfrm>
            <a:off x="2582251" y="3191526"/>
            <a:ext cx="201600" cy="0"/>
          </a:xfrm>
          <a:prstGeom prst="straightConnector1">
            <a:avLst/>
          </a:prstGeom>
          <a:noFill/>
          <a:ln cap="flat" cmpd="sng" w="7175">
            <a:solidFill>
              <a:schemeClr val="dk2"/>
            </a:solidFill>
            <a:prstDash val="solid"/>
            <a:round/>
            <a:headEnd len="med" w="med" type="none"/>
            <a:tailEnd len="med" w="med" type="triangle"/>
          </a:ln>
        </p:spPr>
      </p:cxnSp>
      <p:cxnSp>
        <p:nvCxnSpPr>
          <p:cNvPr id="1530" name="Google Shape;1530;g386752bb68f_0_96"/>
          <p:cNvCxnSpPr>
            <a:stCxn id="1526" idx="3"/>
            <a:endCxn id="1527" idx="1"/>
          </p:cNvCxnSpPr>
          <p:nvPr/>
        </p:nvCxnSpPr>
        <p:spPr>
          <a:xfrm>
            <a:off x="4219363" y="3191516"/>
            <a:ext cx="201600" cy="0"/>
          </a:xfrm>
          <a:prstGeom prst="straightConnector1">
            <a:avLst/>
          </a:prstGeom>
          <a:noFill/>
          <a:ln cap="flat" cmpd="sng" w="6550">
            <a:solidFill>
              <a:schemeClr val="dk2"/>
            </a:solidFill>
            <a:prstDash val="solid"/>
            <a:round/>
            <a:headEnd len="med" w="med" type="none"/>
            <a:tailEnd len="med" w="med" type="triangle"/>
          </a:ln>
        </p:spPr>
      </p:cxnSp>
      <p:cxnSp>
        <p:nvCxnSpPr>
          <p:cNvPr id="1531" name="Google Shape;1531;g386752bb68f_0_96"/>
          <p:cNvCxnSpPr>
            <a:stCxn id="1527" idx="3"/>
            <a:endCxn id="1528" idx="1"/>
          </p:cNvCxnSpPr>
          <p:nvPr/>
        </p:nvCxnSpPr>
        <p:spPr>
          <a:xfrm>
            <a:off x="5856365" y="3191534"/>
            <a:ext cx="201600" cy="0"/>
          </a:xfrm>
          <a:prstGeom prst="straightConnector1">
            <a:avLst/>
          </a:prstGeom>
          <a:noFill/>
          <a:ln cap="flat" cmpd="sng" w="6550">
            <a:solidFill>
              <a:schemeClr val="dk2"/>
            </a:solidFill>
            <a:prstDash val="solid"/>
            <a:round/>
            <a:headEnd len="med" w="med" type="none"/>
            <a:tailEnd len="med" w="med" type="triangle"/>
          </a:ln>
        </p:spPr>
      </p:cxnSp>
      <p:sp>
        <p:nvSpPr>
          <p:cNvPr id="1532" name="Google Shape;1532;g386752bb68f_0_96"/>
          <p:cNvSpPr txBox="1"/>
          <p:nvPr/>
        </p:nvSpPr>
        <p:spPr>
          <a:xfrm>
            <a:off x="7695051"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Model</a:t>
            </a:r>
            <a:endParaRPr sz="1098">
              <a:solidFill>
                <a:schemeClr val="dk1"/>
              </a:solidFill>
              <a:latin typeface="Arial"/>
              <a:ea typeface="Arial"/>
              <a:cs typeface="Arial"/>
              <a:sym typeface="Arial"/>
            </a:endParaRPr>
          </a:p>
        </p:txBody>
      </p:sp>
      <p:sp>
        <p:nvSpPr>
          <p:cNvPr id="1533" name="Google Shape;1533;g386752bb68f_0_96"/>
          <p:cNvSpPr txBox="1"/>
          <p:nvPr/>
        </p:nvSpPr>
        <p:spPr>
          <a:xfrm>
            <a:off x="9453378" y="2747093"/>
            <a:ext cx="1435500" cy="888900"/>
          </a:xfrm>
          <a:prstGeom prst="rect">
            <a:avLst/>
          </a:prstGeom>
          <a:solidFill>
            <a:srgbClr val="D9EAD3"/>
          </a:solidFill>
          <a:ln>
            <a:noFill/>
          </a:ln>
        </p:spPr>
        <p:txBody>
          <a:bodyPr anchorCtr="0" anchor="ctr" bIns="7000" lIns="7000" spcFirstLastPara="1" rIns="7000" wrap="square" tIns="7000">
            <a:noAutofit/>
          </a:bodyPr>
          <a:lstStyle/>
          <a:p>
            <a:pPr indent="0" lvl="0" marL="0" marR="0" rtl="0" algn="ctr">
              <a:lnSpc>
                <a:spcPct val="155583"/>
              </a:lnSpc>
              <a:spcBef>
                <a:spcPts val="0"/>
              </a:spcBef>
              <a:spcAft>
                <a:spcPts val="0"/>
              </a:spcAft>
              <a:buNone/>
            </a:pPr>
            <a:r>
              <a:rPr lang="en-US" sz="1098">
                <a:solidFill>
                  <a:schemeClr val="dk1"/>
                </a:solidFill>
              </a:rPr>
              <a:t>Tool Call</a:t>
            </a:r>
            <a:endParaRPr sz="1098">
              <a:solidFill>
                <a:schemeClr val="dk1"/>
              </a:solidFill>
              <a:latin typeface="Arial"/>
              <a:ea typeface="Arial"/>
              <a:cs typeface="Arial"/>
              <a:sym typeface="Arial"/>
            </a:endParaRPr>
          </a:p>
        </p:txBody>
      </p:sp>
      <p:cxnSp>
        <p:nvCxnSpPr>
          <p:cNvPr id="1534" name="Google Shape;1534;g386752bb68f_0_96"/>
          <p:cNvCxnSpPr>
            <a:stCxn id="1532" idx="3"/>
            <a:endCxn id="1533" idx="1"/>
          </p:cNvCxnSpPr>
          <p:nvPr/>
        </p:nvCxnSpPr>
        <p:spPr>
          <a:xfrm>
            <a:off x="9130551" y="3191543"/>
            <a:ext cx="322800" cy="0"/>
          </a:xfrm>
          <a:prstGeom prst="straightConnector1">
            <a:avLst/>
          </a:prstGeom>
          <a:noFill/>
          <a:ln cap="flat" cmpd="sng" w="6550">
            <a:solidFill>
              <a:schemeClr val="dk2"/>
            </a:solidFill>
            <a:prstDash val="solid"/>
            <a:round/>
            <a:headEnd len="med" w="med" type="none"/>
            <a:tailEnd len="med" w="med" type="triangle"/>
          </a:ln>
        </p:spPr>
      </p:cxnSp>
      <p:cxnSp>
        <p:nvCxnSpPr>
          <p:cNvPr id="1535" name="Google Shape;1535;g386752bb68f_0_96"/>
          <p:cNvCxnSpPr/>
          <p:nvPr/>
        </p:nvCxnSpPr>
        <p:spPr>
          <a:xfrm>
            <a:off x="7493466" y="3191552"/>
            <a:ext cx="201600" cy="0"/>
          </a:xfrm>
          <a:prstGeom prst="straightConnector1">
            <a:avLst/>
          </a:prstGeom>
          <a:noFill/>
          <a:ln cap="flat" cmpd="sng" w="6550">
            <a:solidFill>
              <a:schemeClr val="dk2"/>
            </a:solidFill>
            <a:prstDash val="solid"/>
            <a:round/>
            <a:headEnd len="med" w="med" type="none"/>
            <a:tailEnd len="med" w="med" type="triangle"/>
          </a:ln>
        </p:spPr>
      </p:cxn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g386752bb68f_0_6"/>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solidFill>
                  <a:srgbClr val="FF0000"/>
                </a:solidFill>
                <a:latin typeface="Gill Sans"/>
                <a:ea typeface="Gill Sans"/>
                <a:cs typeface="Gill Sans"/>
                <a:sym typeface="Gill Sans"/>
              </a:rPr>
              <a:t>Next Steps (24/12/2025)</a:t>
            </a:r>
            <a:endParaRPr sz="4400">
              <a:solidFill>
                <a:srgbClr val="FF0000"/>
              </a:solidFill>
              <a:latin typeface="Gill Sans"/>
              <a:ea typeface="Gill Sans"/>
              <a:cs typeface="Gill Sans"/>
              <a:sym typeface="Gill Sans"/>
            </a:endParaRPr>
          </a:p>
        </p:txBody>
      </p:sp>
      <p:sp>
        <p:nvSpPr>
          <p:cNvPr id="1542" name="Google Shape;1542;g386752bb68f_0_6"/>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1"/>
              </a:buClr>
              <a:buSzPts val="2500"/>
              <a:buChar char="●"/>
            </a:pPr>
            <a:r>
              <a:rPr lang="en-US" sz="1900">
                <a:solidFill>
                  <a:schemeClr val="dk1"/>
                </a:solidFill>
                <a:latin typeface="Roboto Mono"/>
                <a:ea typeface="Roboto Mono"/>
                <a:cs typeface="Roboto Mono"/>
                <a:sym typeface="Roboto Mono"/>
              </a:rPr>
              <a:t>dataset &gt; tts&gt; vllm&gt; Ai Function call&gt; tts answer</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see the traces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invoke tool use </a:t>
            </a:r>
            <a:endParaRPr sz="1900">
              <a:solidFill>
                <a:schemeClr val="dk1"/>
              </a:solidFill>
              <a:latin typeface="Roboto Mono"/>
              <a:ea typeface="Roboto Mono"/>
              <a:cs typeface="Roboto Mono"/>
              <a:sym typeface="Roboto Mono"/>
            </a:endParaRPr>
          </a:p>
          <a:p>
            <a:pPr indent="-349250" lvl="0" marL="457200" rtl="0" algn="l">
              <a:lnSpc>
                <a:spcPct val="150000"/>
              </a:lnSpc>
              <a:spcBef>
                <a:spcPts val="0"/>
              </a:spcBef>
              <a:spcAft>
                <a:spcPts val="0"/>
              </a:spcAft>
              <a:buClr>
                <a:schemeClr val="dk1"/>
              </a:buClr>
              <a:buSzPts val="1900"/>
              <a:buFont typeface="Roboto Mono"/>
              <a:buChar char="●"/>
            </a:pPr>
            <a:r>
              <a:rPr lang="en-US" sz="1900">
                <a:solidFill>
                  <a:schemeClr val="dk1"/>
                </a:solidFill>
                <a:latin typeface="Roboto Mono"/>
                <a:ea typeface="Roboto Mono"/>
                <a:cs typeface="Roboto Mono"/>
                <a:sym typeface="Roboto Mono"/>
              </a:rPr>
              <a:t>reasoning models</a:t>
            </a:r>
            <a:endParaRPr sz="1900">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t/>
            </a:r>
            <a:endParaRPr sz="2500">
              <a:solidFill>
                <a:schemeClr val="dk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6" name="Shape 1546"/>
        <p:cNvGrpSpPr/>
        <p:nvPr/>
      </p:nvGrpSpPr>
      <p:grpSpPr>
        <a:xfrm>
          <a:off x="0" y="0"/>
          <a:ext cx="0" cy="0"/>
          <a:chOff x="0" y="0"/>
          <a:chExt cx="0" cy="0"/>
        </a:xfrm>
      </p:grpSpPr>
      <p:grpSp>
        <p:nvGrpSpPr>
          <p:cNvPr id="1547" name="Google Shape;1547;g3a726d1271e_0_39"/>
          <p:cNvGrpSpPr/>
          <p:nvPr/>
        </p:nvGrpSpPr>
        <p:grpSpPr>
          <a:xfrm>
            <a:off x="685800" y="1838306"/>
            <a:ext cx="10820186" cy="5020055"/>
            <a:chOff x="0" y="-47625"/>
            <a:chExt cx="4274726" cy="2214600"/>
          </a:xfrm>
        </p:grpSpPr>
        <p:sp>
          <p:nvSpPr>
            <p:cNvPr id="1548" name="Google Shape;1548;g3a726d1271e_0_3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49" name="Google Shape;1549;g3a726d1271e_0_3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50" name="Google Shape;1550;g3a726d1271e_0_39"/>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What Audio / Speech Traces Exist (Non-Azure)</a:t>
            </a:r>
            <a:endParaRPr sz="1200"/>
          </a:p>
        </p:txBody>
      </p:sp>
      <p:grpSp>
        <p:nvGrpSpPr>
          <p:cNvPr id="1551" name="Google Shape;1551;g3a726d1271e_0_39"/>
          <p:cNvGrpSpPr/>
          <p:nvPr/>
        </p:nvGrpSpPr>
        <p:grpSpPr>
          <a:xfrm>
            <a:off x="1076700" y="2113824"/>
            <a:ext cx="10093130" cy="5020103"/>
            <a:chOff x="0" y="-47625"/>
            <a:chExt cx="1808189" cy="1790400"/>
          </a:xfrm>
        </p:grpSpPr>
        <p:sp>
          <p:nvSpPr>
            <p:cNvPr id="1552" name="Google Shape;1552;g3a726d1271e_0_39"/>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53" name="Google Shape;1553;g3a726d1271e_0_39"/>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54" name="Google Shape;1554;g3a726d1271e_0_39"/>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555" name="Google Shape;1555;g3a726d1271e_0_39"/>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While not explicitly labeled “audio,” these are often used for ASR pipelines.</a:t>
            </a:r>
            <a:endParaRPr b="1" sz="1600">
              <a:solidFill>
                <a:srgbClr val="24314F"/>
              </a:solidFill>
              <a:latin typeface="Inter"/>
              <a:ea typeface="Inter"/>
              <a:cs typeface="Inter"/>
              <a:sym typeface="Inter"/>
            </a:endParaRPr>
          </a:p>
        </p:txBody>
      </p:sp>
      <p:sp>
        <p:nvSpPr>
          <p:cNvPr id="1556" name="Google Shape;1556;g3a726d1271e_0_39"/>
          <p:cNvSpPr txBox="1"/>
          <p:nvPr/>
        </p:nvSpPr>
        <p:spPr>
          <a:xfrm>
            <a:off x="1379950" y="2483324"/>
            <a:ext cx="9531300" cy="37719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u="sng">
                <a:solidFill>
                  <a:schemeClr val="hlink"/>
                </a:solidFill>
                <a:latin typeface="Inter"/>
                <a:ea typeface="Inter"/>
                <a:cs typeface="Inter"/>
                <a:sym typeface="Inter"/>
                <a:hlinkClick r:id="rId3"/>
              </a:rPr>
              <a:t>Alibaba Cluster Traces</a:t>
            </a:r>
            <a:r>
              <a:rPr b="1" lang="en-US" sz="1633">
                <a:solidFill>
                  <a:srgbClr val="24314F"/>
                </a:solidFill>
                <a:latin typeface="Inter"/>
                <a:ea typeface="Inter"/>
                <a:cs typeface="Inter"/>
                <a:sym typeface="Inter"/>
              </a:rPr>
              <a:t>:</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Cluster-trace-gpu-v2020 &amp; v2023</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describes AI/ML workloads (MLaaS) on thousands on GPUS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Cluster-trace-microservices-v2021</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Captures run time </a:t>
            </a:r>
            <a:r>
              <a:rPr b="1" lang="en-US" sz="1633">
                <a:solidFill>
                  <a:srgbClr val="24314F"/>
                </a:solidFill>
                <a:latin typeface="Inter"/>
                <a:ea typeface="Inter"/>
                <a:cs typeface="Inter"/>
                <a:sym typeface="Inter"/>
              </a:rPr>
              <a:t>metrics</a:t>
            </a:r>
            <a:r>
              <a:rPr b="1" lang="en-US" sz="1633">
                <a:solidFill>
                  <a:srgbClr val="24314F"/>
                </a:solidFill>
                <a:latin typeface="Inter"/>
                <a:ea typeface="Inter"/>
                <a:cs typeface="Inter"/>
                <a:sym typeface="Inter"/>
              </a:rPr>
              <a:t> (call dependencies, response times) for over 20,000 microservices</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u="sng">
                <a:solidFill>
                  <a:schemeClr val="hlink"/>
                </a:solidFill>
                <a:latin typeface="Inter"/>
                <a:ea typeface="Inter"/>
                <a:cs typeface="Inter"/>
                <a:sym typeface="Inter"/>
                <a:hlinkClick r:id="rId4"/>
              </a:rPr>
              <a:t>Google Borg Traces</a:t>
            </a:r>
            <a:r>
              <a:rPr b="1" lang="en-US" sz="1633">
                <a:solidFill>
                  <a:srgbClr val="24314F"/>
                </a:solidFill>
                <a:latin typeface="Inter"/>
                <a:ea typeface="Inter"/>
                <a:cs typeface="Inter"/>
                <a:sym typeface="Inter"/>
              </a:rPr>
              <a:t>:</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ClusterData2011 &amp; ClusterData2019</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 describe workloads on Google's Borg management system</a:t>
            </a:r>
            <a:endParaRPr b="1" sz="1633">
              <a:solidFill>
                <a:srgbClr val="24314F"/>
              </a:solidFill>
              <a:latin typeface="Inter"/>
              <a:ea typeface="Inter"/>
              <a:cs typeface="Inter"/>
              <a:sym typeface="Inter"/>
            </a:endParaRPr>
          </a:p>
          <a:p>
            <a:pPr indent="-332296" lvl="1" marL="9144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while the specific data payload is obfuscated, these clusters historically supported services like Voice Search</a:t>
            </a:r>
            <a:endParaRPr b="1" sz="1633">
              <a:solidFill>
                <a:srgbClr val="24314F"/>
              </a:solidFill>
              <a:latin typeface="Inter"/>
              <a:ea typeface="Inter"/>
              <a:cs typeface="Inter"/>
              <a:sym typeface="Inte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0" name="Shape 1560"/>
        <p:cNvGrpSpPr/>
        <p:nvPr/>
      </p:nvGrpSpPr>
      <p:grpSpPr>
        <a:xfrm>
          <a:off x="0" y="0"/>
          <a:ext cx="0" cy="0"/>
          <a:chOff x="0" y="0"/>
          <a:chExt cx="0" cy="0"/>
        </a:xfrm>
      </p:grpSpPr>
      <p:grpSp>
        <p:nvGrpSpPr>
          <p:cNvPr id="1561" name="Google Shape;1561;g3b1d973bca4_0_0"/>
          <p:cNvGrpSpPr/>
          <p:nvPr/>
        </p:nvGrpSpPr>
        <p:grpSpPr>
          <a:xfrm>
            <a:off x="685775" y="1399747"/>
            <a:ext cx="10820186" cy="5668712"/>
            <a:chOff x="0" y="-47625"/>
            <a:chExt cx="4274726" cy="2214600"/>
          </a:xfrm>
        </p:grpSpPr>
        <p:sp>
          <p:nvSpPr>
            <p:cNvPr id="1562" name="Google Shape;1562;g3b1d973bca4_0_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63" name="Google Shape;1563;g3b1d973bca4_0_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64" name="Google Shape;1564;g3b1d973bca4_0_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Speech Datasets (Input-Side, Not Serving-Side)</a:t>
            </a:r>
            <a:endParaRPr sz="1200"/>
          </a:p>
        </p:txBody>
      </p:sp>
      <p:grpSp>
        <p:nvGrpSpPr>
          <p:cNvPr id="1565" name="Google Shape;1565;g3b1d973bca4_0_0"/>
          <p:cNvGrpSpPr/>
          <p:nvPr/>
        </p:nvGrpSpPr>
        <p:grpSpPr>
          <a:xfrm>
            <a:off x="1076675" y="1710864"/>
            <a:ext cx="10093130" cy="5668585"/>
            <a:chOff x="0" y="-47625"/>
            <a:chExt cx="1808189" cy="1790400"/>
          </a:xfrm>
        </p:grpSpPr>
        <p:sp>
          <p:nvSpPr>
            <p:cNvPr id="1566" name="Google Shape;1566;g3b1d973bca4_0_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67" name="Google Shape;1567;g3b1d973bca4_0_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68" name="Google Shape;1568;g3b1d973bca4_0_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569" name="Google Shape;1569;g3b1d973bca4_0_0"/>
          <p:cNvSpPr txBox="1"/>
          <p:nvPr/>
        </p:nvSpPr>
        <p:spPr>
          <a:xfrm>
            <a:off x="1292250" y="2190950"/>
            <a:ext cx="9687300" cy="4123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General &amp; Read Speech</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3"/>
              </a:rPr>
              <a:t>LibriSpeech</a:t>
            </a:r>
            <a:r>
              <a:rPr b="1" lang="en-US" sz="1633">
                <a:solidFill>
                  <a:srgbClr val="24314F"/>
                </a:solidFill>
                <a:latin typeface="Inter"/>
                <a:ea typeface="Inter"/>
                <a:cs typeface="Inter"/>
                <a:sym typeface="Inter"/>
              </a:rPr>
              <a:t>: ~1000 hours of 16kHz read English speech derived from audiobooks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4"/>
              </a:rPr>
              <a:t>Common Voice</a:t>
            </a:r>
            <a:r>
              <a:rPr b="1" lang="en-US" sz="1633">
                <a:solidFill>
                  <a:srgbClr val="24314F"/>
                </a:solidFill>
                <a:latin typeface="Inter"/>
                <a:ea typeface="Inter"/>
                <a:cs typeface="Inter"/>
                <a:sym typeface="Inter"/>
              </a:rPr>
              <a:t>: A multilingual dataset by Mozilla (12GB+) collected from the public</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5"/>
              </a:rPr>
              <a:t>FLEURS</a:t>
            </a:r>
            <a:r>
              <a:rPr b="1" lang="en-US" sz="1633">
                <a:solidFill>
                  <a:srgbClr val="24314F"/>
                </a:solidFill>
                <a:latin typeface="Inter"/>
                <a:ea typeface="Inter"/>
                <a:cs typeface="Inter"/>
                <a:sym typeface="Inter"/>
              </a:rPr>
              <a:t> &amp; </a:t>
            </a:r>
            <a:r>
              <a:rPr b="1" lang="en-US" sz="1633" u="sng">
                <a:solidFill>
                  <a:schemeClr val="hlink"/>
                </a:solidFill>
                <a:latin typeface="Inter"/>
                <a:ea typeface="Inter"/>
                <a:cs typeface="Inter"/>
                <a:sym typeface="Inter"/>
                <a:hlinkClick r:id="rId6"/>
              </a:rPr>
              <a:t>MLS</a:t>
            </a:r>
            <a:r>
              <a:rPr b="1" lang="en-US" sz="1633">
                <a:solidFill>
                  <a:srgbClr val="24314F"/>
                </a:solidFill>
                <a:latin typeface="Inter"/>
                <a:ea typeface="Inter"/>
                <a:cs typeface="Inter"/>
                <a:sym typeface="Inter"/>
              </a:rPr>
              <a:t>: Multilingual datasets used to benchmark models like Amazon Nova Sonic, FLEURS covers 102 languages, while MLS (Multilingual LibriSpeech) covers 8 languages derived from audiobooks.</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Conversational &amp; Spontaneous Speech</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7"/>
              </a:rPr>
              <a:t>TalkBank</a:t>
            </a:r>
            <a:r>
              <a:rPr b="1" lang="en-US" sz="1633">
                <a:solidFill>
                  <a:srgbClr val="24314F"/>
                </a:solidFill>
                <a:latin typeface="Inter"/>
                <a:ea typeface="Inter"/>
                <a:cs typeface="Inter"/>
                <a:sym typeface="Inter"/>
              </a:rPr>
              <a:t>: real-world multilingual unstructured speech between adults, includes natural disfluencies often missing from read speech</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8"/>
              </a:rPr>
              <a:t>SwitchBoard</a:t>
            </a:r>
            <a:r>
              <a:rPr b="1" lang="en-US" sz="1633">
                <a:solidFill>
                  <a:srgbClr val="24314F"/>
                </a:solidFill>
                <a:latin typeface="Inter"/>
                <a:ea typeface="Inter"/>
                <a:cs typeface="Inter"/>
                <a:sym typeface="Inter"/>
              </a:rPr>
              <a:t>: A telephone speech corpus , 260 hours of recorded conversations.</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9"/>
              </a:rPr>
              <a:t>Buckeye Corpus</a:t>
            </a:r>
            <a:r>
              <a:rPr b="1" lang="en-US" sz="1633">
                <a:solidFill>
                  <a:srgbClr val="24314F"/>
                </a:solidFill>
                <a:latin typeface="Inter"/>
                <a:ea typeface="Inter"/>
                <a:cs typeface="Inter"/>
                <a:sym typeface="Inter"/>
              </a:rPr>
              <a:t>: High quality recordings from 40 speakers </a:t>
            </a:r>
            <a:endParaRPr b="1" sz="1633">
              <a:solidFill>
                <a:srgbClr val="24314F"/>
              </a:solidFill>
              <a:latin typeface="Inter"/>
              <a:ea typeface="Inter"/>
              <a:cs typeface="Inter"/>
              <a:sym typeface="Inte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3" name="Shape 1573"/>
        <p:cNvGrpSpPr/>
        <p:nvPr/>
      </p:nvGrpSpPr>
      <p:grpSpPr>
        <a:xfrm>
          <a:off x="0" y="0"/>
          <a:ext cx="0" cy="0"/>
          <a:chOff x="0" y="0"/>
          <a:chExt cx="0" cy="0"/>
        </a:xfrm>
      </p:grpSpPr>
      <p:grpSp>
        <p:nvGrpSpPr>
          <p:cNvPr id="1574" name="Google Shape;1574;g3b1d973bca4_0_12"/>
          <p:cNvGrpSpPr/>
          <p:nvPr/>
        </p:nvGrpSpPr>
        <p:grpSpPr>
          <a:xfrm>
            <a:off x="685775" y="1399747"/>
            <a:ext cx="10820186" cy="5668712"/>
            <a:chOff x="0" y="-47625"/>
            <a:chExt cx="4274726" cy="2214600"/>
          </a:xfrm>
        </p:grpSpPr>
        <p:sp>
          <p:nvSpPr>
            <p:cNvPr id="1575" name="Google Shape;1575;g3b1d973bca4_0_12"/>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76" name="Google Shape;1576;g3b1d973bca4_0_12"/>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77" name="Google Shape;1577;g3b1d973bca4_0_12"/>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Speech Datasets (Input-Side, Not Serving-Side) cont…</a:t>
            </a:r>
            <a:endParaRPr sz="1200"/>
          </a:p>
        </p:txBody>
      </p:sp>
      <p:grpSp>
        <p:nvGrpSpPr>
          <p:cNvPr id="1578" name="Google Shape;1578;g3b1d973bca4_0_12"/>
          <p:cNvGrpSpPr/>
          <p:nvPr/>
        </p:nvGrpSpPr>
        <p:grpSpPr>
          <a:xfrm>
            <a:off x="1076675" y="1710864"/>
            <a:ext cx="10093130" cy="5668585"/>
            <a:chOff x="0" y="-47625"/>
            <a:chExt cx="1808189" cy="1790400"/>
          </a:xfrm>
        </p:grpSpPr>
        <p:sp>
          <p:nvSpPr>
            <p:cNvPr id="1579" name="Google Shape;1579;g3b1d973bca4_0_12"/>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80" name="Google Shape;1580;g3b1d973bca4_0_12"/>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81" name="Google Shape;1581;g3b1d973bca4_0_12"/>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582" name="Google Shape;1582;g3b1d973bca4_0_12"/>
          <p:cNvSpPr txBox="1"/>
          <p:nvPr/>
        </p:nvSpPr>
        <p:spPr>
          <a:xfrm>
            <a:off x="1379950" y="2190950"/>
            <a:ext cx="9531300" cy="13074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Specialized </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AutoNum type="arabicPeriod"/>
            </a:pPr>
            <a:r>
              <a:rPr b="1" lang="en-US" sz="1633" u="sng">
                <a:solidFill>
                  <a:schemeClr val="hlink"/>
                </a:solidFill>
                <a:latin typeface="Inter"/>
                <a:ea typeface="Inter"/>
                <a:cs typeface="Inter"/>
                <a:sym typeface="Inter"/>
                <a:hlinkClick r:id="rId3"/>
              </a:rPr>
              <a:t>TORGO</a:t>
            </a:r>
            <a:r>
              <a:rPr b="1" lang="en-US" sz="1633">
                <a:solidFill>
                  <a:srgbClr val="24314F"/>
                </a:solidFill>
                <a:latin typeface="Inter"/>
                <a:ea typeface="Inter"/>
                <a:cs typeface="Inter"/>
                <a:sym typeface="Inter"/>
              </a:rPr>
              <a:t>: A dataset of aligned acoustic and articulatory recordings from speakers with dysarthria</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6" name="Shape 1586"/>
        <p:cNvGrpSpPr/>
        <p:nvPr/>
      </p:nvGrpSpPr>
      <p:grpSpPr>
        <a:xfrm>
          <a:off x="0" y="0"/>
          <a:ext cx="0" cy="0"/>
          <a:chOff x="0" y="0"/>
          <a:chExt cx="0" cy="0"/>
        </a:xfrm>
      </p:grpSpPr>
      <p:grpSp>
        <p:nvGrpSpPr>
          <p:cNvPr id="1587" name="Google Shape;1587;g386752bb68f_0_148"/>
          <p:cNvGrpSpPr/>
          <p:nvPr/>
        </p:nvGrpSpPr>
        <p:grpSpPr>
          <a:xfrm>
            <a:off x="685800" y="1838306"/>
            <a:ext cx="10820186" cy="5020055"/>
            <a:chOff x="0" y="-47625"/>
            <a:chExt cx="4274726" cy="2214600"/>
          </a:xfrm>
        </p:grpSpPr>
        <p:sp>
          <p:nvSpPr>
            <p:cNvPr id="1588" name="Google Shape;1588;g386752bb68f_0_14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89" name="Google Shape;1589;g386752bb68f_0_14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90" name="Google Shape;1590;g386752bb68f_0_148"/>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Evidence: Why Voiso Function Calls are Failing</a:t>
            </a:r>
            <a:endParaRPr sz="1200"/>
          </a:p>
        </p:txBody>
      </p:sp>
      <p:grpSp>
        <p:nvGrpSpPr>
          <p:cNvPr id="1591" name="Google Shape;1591;g386752bb68f_0_148"/>
          <p:cNvGrpSpPr/>
          <p:nvPr/>
        </p:nvGrpSpPr>
        <p:grpSpPr>
          <a:xfrm>
            <a:off x="1076700" y="2113824"/>
            <a:ext cx="10093130" cy="5020103"/>
            <a:chOff x="0" y="-47625"/>
            <a:chExt cx="1808189" cy="1790400"/>
          </a:xfrm>
        </p:grpSpPr>
        <p:sp>
          <p:nvSpPr>
            <p:cNvPr id="1592" name="Google Shape;1592;g386752bb68f_0_14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93" name="Google Shape;1593;g386752bb68f_0_14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594" name="Google Shape;1594;g386752bb68f_0_14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595" name="Google Shape;1595;g386752bb68f_0_148"/>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330200" lvl="0" marL="457200" marR="0" rtl="0" algn="l">
              <a:lnSpc>
                <a:spcPct val="140060"/>
              </a:lnSpc>
              <a:spcBef>
                <a:spcPts val="0"/>
              </a:spcBef>
              <a:spcAft>
                <a:spcPts val="0"/>
              </a:spcAft>
              <a:buClr>
                <a:srgbClr val="24314F"/>
              </a:buClr>
              <a:buSzPts val="1600"/>
              <a:buFont typeface="Inter"/>
              <a:buAutoNum type="arabicPeriod"/>
            </a:pPr>
            <a:r>
              <a:rPr b="1" lang="en-US" sz="1600">
                <a:solidFill>
                  <a:srgbClr val="24314F"/>
                </a:solidFill>
                <a:latin typeface="Inter"/>
                <a:ea typeface="Inter"/>
                <a:cs typeface="Inter"/>
                <a:sym typeface="Inter"/>
              </a:rPr>
              <a:t>Harmony format mismatch </a:t>
            </a:r>
            <a:endParaRPr b="1" sz="1600">
              <a:solidFill>
                <a:srgbClr val="24314F"/>
              </a:solidFill>
              <a:latin typeface="Inter"/>
              <a:ea typeface="Inter"/>
              <a:cs typeface="Inter"/>
              <a:sym typeface="Inter"/>
            </a:endParaRPr>
          </a:p>
        </p:txBody>
      </p:sp>
      <p:sp>
        <p:nvSpPr>
          <p:cNvPr id="1596" name="Google Shape;1596;g386752bb68f_0_148"/>
          <p:cNvSpPr txBox="1"/>
          <p:nvPr/>
        </p:nvSpPr>
        <p:spPr>
          <a:xfrm>
            <a:off x="1379950" y="2483324"/>
            <a:ext cx="9531300" cy="4123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Experiment Setup:</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Environment: NSCC node, vLLM LLM.generate() direct call</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Prompt asks for one-line JSON function call: {"name":"lookup_customer", ...}</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Trials: N=20, multiple phone formats (+65, +1, +44, none)</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Success criterion: output contains valid JSON matching schema</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This test intentionally bypasses Harmony rendering/parsing</a:t>
            </a:r>
            <a:endParaRPr b="1" sz="1633">
              <a:solidFill>
                <a:srgbClr val="24314F"/>
              </a:solidFill>
              <a:latin typeface="Inter"/>
              <a:ea typeface="Inter"/>
              <a:cs typeface="Inter"/>
              <a:sym typeface="Inte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0" name="Shape 1600"/>
        <p:cNvGrpSpPr/>
        <p:nvPr/>
      </p:nvGrpSpPr>
      <p:grpSpPr>
        <a:xfrm>
          <a:off x="0" y="0"/>
          <a:ext cx="0" cy="0"/>
          <a:chOff x="0" y="0"/>
          <a:chExt cx="0" cy="0"/>
        </a:xfrm>
      </p:grpSpPr>
      <p:grpSp>
        <p:nvGrpSpPr>
          <p:cNvPr id="1601" name="Google Shape;1601;g3b300e88e69_0_107"/>
          <p:cNvGrpSpPr/>
          <p:nvPr/>
        </p:nvGrpSpPr>
        <p:grpSpPr>
          <a:xfrm>
            <a:off x="685800" y="1838306"/>
            <a:ext cx="10820186" cy="5020055"/>
            <a:chOff x="0" y="-47625"/>
            <a:chExt cx="4274726" cy="2214600"/>
          </a:xfrm>
        </p:grpSpPr>
        <p:sp>
          <p:nvSpPr>
            <p:cNvPr id="1602" name="Google Shape;1602;g3b300e88e69_0_10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03" name="Google Shape;1603;g3b300e88e69_0_107"/>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04" name="Google Shape;1604;g3b300e88e69_0_107"/>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Reasoning Performance </a:t>
            </a:r>
            <a:endParaRPr sz="1200"/>
          </a:p>
        </p:txBody>
      </p:sp>
      <p:grpSp>
        <p:nvGrpSpPr>
          <p:cNvPr id="1605" name="Google Shape;1605;g3b300e88e69_0_107"/>
          <p:cNvGrpSpPr/>
          <p:nvPr/>
        </p:nvGrpSpPr>
        <p:grpSpPr>
          <a:xfrm>
            <a:off x="1076700" y="2113824"/>
            <a:ext cx="10093130" cy="5020103"/>
            <a:chOff x="0" y="-47625"/>
            <a:chExt cx="1808189" cy="1790400"/>
          </a:xfrm>
        </p:grpSpPr>
        <p:sp>
          <p:nvSpPr>
            <p:cNvPr id="1606" name="Google Shape;1606;g3b300e88e69_0_10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07" name="Google Shape;1607;g3b300e88e69_0_107"/>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08" name="Google Shape;1608;g3b300e88e69_0_107"/>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609" name="Google Shape;1609;g3b300e88e69_0_107"/>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600">
                <a:solidFill>
                  <a:srgbClr val="24314F"/>
                </a:solidFill>
                <a:latin typeface="Inter"/>
                <a:ea typeface="Inter"/>
                <a:cs typeface="Inter"/>
                <a:sym typeface="Inter"/>
              </a:rPr>
              <a:t>Configurable Reasoning Effort &amp; Transparent Chain-of-Thought</a:t>
            </a:r>
            <a:endParaRPr b="1" sz="1600">
              <a:solidFill>
                <a:srgbClr val="24314F"/>
              </a:solidFill>
              <a:latin typeface="Inter"/>
              <a:ea typeface="Inter"/>
              <a:cs typeface="Inter"/>
              <a:sym typeface="Inter"/>
            </a:endParaRPr>
          </a:p>
        </p:txBody>
      </p:sp>
      <p:sp>
        <p:nvSpPr>
          <p:cNvPr id="1610" name="Google Shape;1610;g3b300e88e69_0_107"/>
          <p:cNvSpPr txBox="1"/>
          <p:nvPr/>
        </p:nvSpPr>
        <p:spPr>
          <a:xfrm>
            <a:off x="1379950" y="2483324"/>
            <a:ext cx="9531300" cy="3419700"/>
          </a:xfrm>
          <a:prstGeom prst="rect">
            <a:avLst/>
          </a:prstGeom>
          <a:noFill/>
          <a:ln>
            <a:noFill/>
          </a:ln>
        </p:spPr>
        <p:txBody>
          <a:bodyPr anchorCtr="0" anchor="t" bIns="0" lIns="0" spcFirstLastPara="1" rIns="0" wrap="square" tIns="0">
            <a:spAutoFit/>
          </a:bodyPr>
          <a:lstStyle/>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Adjustable Reasoning Depth: Unlike standard models, gpt-oss-20b supports configurable reasoning levels (Low, Medium, High). This can be toggled via system prompts (e.g., "Reasoning: high") to trade off between latency and depth of analysis.</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Full Chain-of-Thought (CoT): The model exposes its complete internal reasoning process. This "Full chain-of-thought" visibility is critical for debugging complex agentic failures, allowing developers to see why a model decided to call a specific tool.</a:t>
            </a:r>
            <a:endParaRPr b="1" sz="1633">
              <a:solidFill>
                <a:srgbClr val="24314F"/>
              </a:solidFill>
              <a:latin typeface="Inter"/>
              <a:ea typeface="Inter"/>
              <a:cs typeface="Inter"/>
              <a:sym typeface="Inter"/>
            </a:endParaRPr>
          </a:p>
          <a:p>
            <a:pPr indent="0" lvl="0" marL="45720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332296" lvl="0" marL="457200" rtl="0" algn="just">
              <a:lnSpc>
                <a:spcPct val="140060"/>
              </a:lnSpc>
              <a:spcBef>
                <a:spcPts val="0"/>
              </a:spcBef>
              <a:spcAft>
                <a:spcPts val="0"/>
              </a:spcAft>
              <a:buClr>
                <a:srgbClr val="24314F"/>
              </a:buClr>
              <a:buSzPts val="1633"/>
              <a:buFont typeface="Inter"/>
              <a:buChar char="-"/>
            </a:pPr>
            <a:r>
              <a:rPr b="1" lang="en-US" sz="1633">
                <a:solidFill>
                  <a:srgbClr val="24314F"/>
                </a:solidFill>
                <a:latin typeface="Inter"/>
                <a:ea typeface="Inter"/>
                <a:cs typeface="Inter"/>
                <a:sym typeface="Inter"/>
              </a:rPr>
              <a:t>Agentic Specialization: It is natively trained for function calling, web browsing, and structured outputs, provided the correct formatting is used,.</a:t>
            </a:r>
            <a:endParaRPr b="1" sz="1633">
              <a:solidFill>
                <a:srgbClr val="24314F"/>
              </a:solidFill>
              <a:latin typeface="Inter"/>
              <a:ea typeface="Inter"/>
              <a:cs typeface="Inter"/>
              <a:sym typeface="Inte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4" name="Shape 1614"/>
        <p:cNvGrpSpPr/>
        <p:nvPr/>
      </p:nvGrpSpPr>
      <p:grpSpPr>
        <a:xfrm>
          <a:off x="0" y="0"/>
          <a:ext cx="0" cy="0"/>
          <a:chOff x="0" y="0"/>
          <a:chExt cx="0" cy="0"/>
        </a:xfrm>
      </p:grpSpPr>
      <p:grpSp>
        <p:nvGrpSpPr>
          <p:cNvPr id="1615" name="Google Shape;1615;g386752bb68f_0_161"/>
          <p:cNvGrpSpPr/>
          <p:nvPr/>
        </p:nvGrpSpPr>
        <p:grpSpPr>
          <a:xfrm>
            <a:off x="685800" y="1838306"/>
            <a:ext cx="10820186" cy="5020055"/>
            <a:chOff x="0" y="-47625"/>
            <a:chExt cx="4274726" cy="2214600"/>
          </a:xfrm>
        </p:grpSpPr>
        <p:sp>
          <p:nvSpPr>
            <p:cNvPr id="1616" name="Google Shape;1616;g386752bb68f_0_16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17" name="Google Shape;1617;g386752bb68f_0_16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18" name="Google Shape;1618;g386752bb68f_0_161"/>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Evidence: Why Voiso Function Calls are Failing</a:t>
            </a:r>
            <a:endParaRPr sz="1200"/>
          </a:p>
        </p:txBody>
      </p:sp>
      <p:grpSp>
        <p:nvGrpSpPr>
          <p:cNvPr id="1619" name="Google Shape;1619;g386752bb68f_0_161"/>
          <p:cNvGrpSpPr/>
          <p:nvPr/>
        </p:nvGrpSpPr>
        <p:grpSpPr>
          <a:xfrm>
            <a:off x="1076700" y="2113824"/>
            <a:ext cx="10093130" cy="5020103"/>
            <a:chOff x="0" y="-47625"/>
            <a:chExt cx="1808189" cy="1790400"/>
          </a:xfrm>
        </p:grpSpPr>
        <p:sp>
          <p:nvSpPr>
            <p:cNvPr id="1620" name="Google Shape;1620;g386752bb68f_0_16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21" name="Google Shape;1621;g386752bb68f_0_16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22" name="Google Shape;1622;g386752bb68f_0_16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623" name="Google Shape;1623;g386752bb68f_0_161"/>
          <p:cNvSpPr txBox="1"/>
          <p:nvPr/>
        </p:nvSpPr>
        <p:spPr>
          <a:xfrm>
            <a:off x="685805" y="1211450"/>
            <a:ext cx="7593000" cy="246300"/>
          </a:xfrm>
          <a:prstGeom prst="rect">
            <a:avLst/>
          </a:prstGeom>
          <a:noFill/>
          <a:ln>
            <a:noFill/>
          </a:ln>
        </p:spPr>
        <p:txBody>
          <a:bodyPr anchorCtr="0" anchor="t" bIns="0" lIns="0" spcFirstLastPara="1" rIns="0" wrap="square" tIns="0">
            <a:spAutoFit/>
          </a:bodyPr>
          <a:lstStyle/>
          <a:p>
            <a:pPr indent="-330200" lvl="0" marL="457200" marR="0" rtl="0" algn="l">
              <a:lnSpc>
                <a:spcPct val="140060"/>
              </a:lnSpc>
              <a:spcBef>
                <a:spcPts val="0"/>
              </a:spcBef>
              <a:spcAft>
                <a:spcPts val="0"/>
              </a:spcAft>
              <a:buClr>
                <a:srgbClr val="24314F"/>
              </a:buClr>
              <a:buSzPts val="1600"/>
              <a:buFont typeface="Inter"/>
              <a:buAutoNum type="arabicPeriod"/>
            </a:pPr>
            <a:r>
              <a:rPr b="1" lang="en-US" sz="1600">
                <a:solidFill>
                  <a:srgbClr val="24314F"/>
                </a:solidFill>
                <a:latin typeface="Inter"/>
                <a:ea typeface="Inter"/>
                <a:cs typeface="Inter"/>
                <a:sym typeface="Inter"/>
              </a:rPr>
              <a:t>Harmony format mismatch </a:t>
            </a:r>
            <a:endParaRPr b="1" sz="1600">
              <a:solidFill>
                <a:srgbClr val="24314F"/>
              </a:solidFill>
              <a:latin typeface="Inter"/>
              <a:ea typeface="Inter"/>
              <a:cs typeface="Inter"/>
              <a:sym typeface="Inter"/>
            </a:endParaRPr>
          </a:p>
        </p:txBody>
      </p:sp>
      <p:sp>
        <p:nvSpPr>
          <p:cNvPr id="1624" name="Google Shape;1624;g386752bb68f_0_161"/>
          <p:cNvSpPr txBox="1"/>
          <p:nvPr/>
        </p:nvSpPr>
        <p:spPr>
          <a:xfrm>
            <a:off x="1379950" y="2483324"/>
            <a:ext cx="9531300" cy="4123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Pass rate: 0 / 20 (0%)</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Model never enters structured tool-call behavior; outputs are unstructured ‘thinking’ text.</a:t>
            </a:r>
            <a:endParaRPr b="1" sz="1633">
              <a:solidFill>
                <a:srgbClr val="24314F"/>
              </a:solidFill>
              <a:latin typeface="Inter"/>
              <a:ea typeface="Inter"/>
              <a:cs typeface="Inter"/>
              <a:sym typeface="Inter"/>
            </a:endParaRPr>
          </a:p>
        </p:txBody>
      </p:sp>
      <p:pic>
        <p:nvPicPr>
          <p:cNvPr id="1625" name="Google Shape;1625;g386752bb68f_0_161"/>
          <p:cNvPicPr preferRelativeResize="0"/>
          <p:nvPr/>
        </p:nvPicPr>
        <p:blipFill>
          <a:blip r:embed="rId3">
            <a:alphaModFix/>
          </a:blip>
          <a:stretch>
            <a:fillRect/>
          </a:stretch>
        </p:blipFill>
        <p:spPr>
          <a:xfrm>
            <a:off x="1379949" y="2992899"/>
            <a:ext cx="4539751" cy="818638"/>
          </a:xfrm>
          <a:prstGeom prst="rect">
            <a:avLst/>
          </a:prstGeom>
          <a:noFill/>
          <a:ln>
            <a:noFill/>
          </a:ln>
        </p:spPr>
      </p:pic>
      <p:pic>
        <p:nvPicPr>
          <p:cNvPr id="1626" name="Google Shape;1626;g386752bb68f_0_161"/>
          <p:cNvPicPr preferRelativeResize="0"/>
          <p:nvPr/>
        </p:nvPicPr>
        <p:blipFill>
          <a:blip r:embed="rId4">
            <a:alphaModFix/>
          </a:blip>
          <a:stretch>
            <a:fillRect/>
          </a:stretch>
        </p:blipFill>
        <p:spPr>
          <a:xfrm>
            <a:off x="1379950" y="3929700"/>
            <a:ext cx="9481549" cy="1037929"/>
          </a:xfrm>
          <a:prstGeom prst="rect">
            <a:avLst/>
          </a:prstGeom>
          <a:noFill/>
          <a:ln>
            <a:noFill/>
          </a:ln>
        </p:spPr>
      </p:pic>
      <p:pic>
        <p:nvPicPr>
          <p:cNvPr id="1627" name="Google Shape;1627;g386752bb68f_0_161"/>
          <p:cNvPicPr preferRelativeResize="0"/>
          <p:nvPr/>
        </p:nvPicPr>
        <p:blipFill>
          <a:blip r:embed="rId5">
            <a:alphaModFix/>
          </a:blip>
          <a:stretch>
            <a:fillRect/>
          </a:stretch>
        </p:blipFill>
        <p:spPr>
          <a:xfrm>
            <a:off x="6321744" y="2964332"/>
            <a:ext cx="4539757" cy="847188"/>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g3a3f348a655_0_16"/>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634" name="Google Shape;1634;g3a3f348a655_0_16"/>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Run vLLM with Audio</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If there are existing benchmarks run them to access feasibility of GPU multiplexing</a:t>
            </a:r>
            <a:endParaRPr sz="2900">
              <a:solidFill>
                <a:schemeClr val="dk1"/>
              </a:solidFill>
            </a:endParaRPr>
          </a:p>
          <a:p>
            <a:pPr indent="0" lvl="0" marL="457200" rtl="0" algn="l">
              <a:lnSpc>
                <a:spcPct val="150000"/>
              </a:lnSpc>
              <a:spcBef>
                <a:spcPts val="0"/>
              </a:spcBef>
              <a:spcAft>
                <a:spcPts val="0"/>
              </a:spcAft>
              <a:buNone/>
            </a:pPr>
            <a:r>
              <a:t/>
            </a:r>
            <a:endParaRPr sz="2900">
              <a:solidFill>
                <a:schemeClr val="dk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grpSp>
        <p:nvGrpSpPr>
          <p:cNvPr id="1639" name="Google Shape;1639;g3a6104770f4_0_6"/>
          <p:cNvGrpSpPr/>
          <p:nvPr/>
        </p:nvGrpSpPr>
        <p:grpSpPr>
          <a:xfrm>
            <a:off x="685800" y="1838306"/>
            <a:ext cx="10820186" cy="5020055"/>
            <a:chOff x="0" y="-47625"/>
            <a:chExt cx="4274726" cy="2214600"/>
          </a:xfrm>
        </p:grpSpPr>
        <p:sp>
          <p:nvSpPr>
            <p:cNvPr id="1640" name="Google Shape;1640;g3a6104770f4_0_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41" name="Google Shape;1641;g3a6104770f4_0_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42" name="Google Shape;1642;g3a6104770f4_0_6"/>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Benchmarking Multimodal GPU workloads</a:t>
            </a:r>
            <a:endParaRPr sz="1200"/>
          </a:p>
        </p:txBody>
      </p:sp>
      <p:grpSp>
        <p:nvGrpSpPr>
          <p:cNvPr id="1643" name="Google Shape;1643;g3a6104770f4_0_6"/>
          <p:cNvGrpSpPr/>
          <p:nvPr/>
        </p:nvGrpSpPr>
        <p:grpSpPr>
          <a:xfrm>
            <a:off x="1560875" y="2187773"/>
            <a:ext cx="9070057" cy="3510974"/>
            <a:chOff x="0" y="-47625"/>
            <a:chExt cx="1808189" cy="1790400"/>
          </a:xfrm>
        </p:grpSpPr>
        <p:sp>
          <p:nvSpPr>
            <p:cNvPr id="1644" name="Google Shape;1644;g3a6104770f4_0_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45" name="Google Shape;1645;g3a6104770f4_0_6"/>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46" name="Google Shape;1646;g3a6104770f4_0_6"/>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sp>
        <p:nvSpPr>
          <p:cNvPr id="1647" name="Google Shape;1647;g3a6104770f4_0_6"/>
          <p:cNvSpPr txBox="1"/>
          <p:nvPr/>
        </p:nvSpPr>
        <p:spPr>
          <a:xfrm>
            <a:off x="2268119" y="2517632"/>
            <a:ext cx="7655400" cy="27156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Goal  : Compare the latency and throughput of two distinct AI tasks on a single NVIDIA A100.</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Task A (Text): English-to-Chinese Translation (Qwen2.5-7B).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Task B (Audio): Speech-to-Text Transcription (Qwen2-Audio-7B).</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6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633">
                <a:solidFill>
                  <a:srgbClr val="24314F"/>
                </a:solidFill>
                <a:latin typeface="Inter"/>
                <a:ea typeface="Inter"/>
                <a:cs typeface="Inter"/>
                <a:sym typeface="Inter"/>
              </a:rPr>
              <a:t>Method: Sequential execution to establish clean baselines.</a:t>
            </a:r>
            <a:endParaRPr b="1" sz="1633">
              <a:solidFill>
                <a:srgbClr val="24314F"/>
              </a:solidFill>
              <a:latin typeface="Inter"/>
              <a:ea typeface="Inter"/>
              <a:cs typeface="Inter"/>
              <a:sym typeface="Inte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grpSp>
        <p:nvGrpSpPr>
          <p:cNvPr id="1652" name="Google Shape;1652;g3b0ee8e70b9_0_60"/>
          <p:cNvGrpSpPr/>
          <p:nvPr/>
        </p:nvGrpSpPr>
        <p:grpSpPr>
          <a:xfrm>
            <a:off x="685800" y="1838306"/>
            <a:ext cx="10820186" cy="5020055"/>
            <a:chOff x="0" y="-47625"/>
            <a:chExt cx="4274726" cy="2214600"/>
          </a:xfrm>
        </p:grpSpPr>
        <p:sp>
          <p:nvSpPr>
            <p:cNvPr id="1653" name="Google Shape;1653;g3b0ee8e70b9_0_6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54" name="Google Shape;1654;g3b0ee8e70b9_0_6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55" name="Google Shape;1655;g3b0ee8e70b9_0_6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Text Translation is instant</a:t>
            </a:r>
            <a:endParaRPr sz="1200"/>
          </a:p>
        </p:txBody>
      </p:sp>
      <p:grpSp>
        <p:nvGrpSpPr>
          <p:cNvPr id="1656" name="Google Shape;1656;g3b0ee8e70b9_0_60"/>
          <p:cNvGrpSpPr/>
          <p:nvPr/>
        </p:nvGrpSpPr>
        <p:grpSpPr>
          <a:xfrm>
            <a:off x="1083725" y="2187776"/>
            <a:ext cx="4969265" cy="3493311"/>
            <a:chOff x="0" y="-47625"/>
            <a:chExt cx="1808189" cy="1538700"/>
          </a:xfrm>
        </p:grpSpPr>
        <p:sp>
          <p:nvSpPr>
            <p:cNvPr id="1657" name="Google Shape;1657;g3b0ee8e70b9_0_6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58" name="Google Shape;1658;g3b0ee8e70b9_0_6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659" name="Google Shape;1659;g3b0ee8e70b9_0_60"/>
          <p:cNvGrpSpPr/>
          <p:nvPr/>
        </p:nvGrpSpPr>
        <p:grpSpPr>
          <a:xfrm>
            <a:off x="6260350" y="2187774"/>
            <a:ext cx="4577069" cy="4354074"/>
            <a:chOff x="0" y="-47625"/>
            <a:chExt cx="1808189" cy="1790400"/>
          </a:xfrm>
        </p:grpSpPr>
        <p:sp>
          <p:nvSpPr>
            <p:cNvPr id="1660" name="Google Shape;1660;g3b0ee8e70b9_0_6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61" name="Google Shape;1661;g3b0ee8e70b9_0_6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62" name="Google Shape;1662;g3b0ee8e70b9_0_60"/>
          <p:cNvSpPr txBox="1"/>
          <p:nvPr/>
        </p:nvSpPr>
        <p:spPr>
          <a:xfrm>
            <a:off x="6617254" y="2517633"/>
            <a:ext cx="3863100" cy="36075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Clr>
                <a:schemeClr val="dk1"/>
              </a:buClr>
              <a:buSzPts val="1100"/>
              <a:buFont typeface="Arial"/>
              <a:buNone/>
            </a:pPr>
            <a:r>
              <a:rPr b="1" lang="en-US" sz="1133">
                <a:solidFill>
                  <a:srgbClr val="24314F"/>
                </a:solidFill>
                <a:latin typeface="Inter"/>
                <a:ea typeface="Inter"/>
                <a:cs typeface="Inter"/>
                <a:sym typeface="Inter"/>
              </a:rPr>
              <a:t>The vLLM system delivers consistent performance with an average response time of 33ms per request because its PagedAttention algorithm efficiently manages memory for the AI's short-term memory (KV cache), preventing memory waste (fragmentation) by using small, non-contiguous memory blocks.</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Clr>
                <a:schemeClr val="dk1"/>
              </a:buClr>
              <a:buSzPts val="1100"/>
              <a:buFont typeface="Arial"/>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Clr>
                <a:schemeClr val="dk1"/>
              </a:buClr>
              <a:buSzPts val="1100"/>
              <a:buFont typeface="Arial"/>
              <a:buNone/>
            </a:pPr>
            <a:r>
              <a:rPr b="1" lang="en-US" sz="1133">
                <a:solidFill>
                  <a:srgbClr val="24314F"/>
                </a:solidFill>
                <a:latin typeface="Inter"/>
                <a:ea typeface="Inter"/>
                <a:cs typeface="Inter"/>
                <a:sym typeface="Inter"/>
              </a:rPr>
              <a:t>Zero Warm-up Penalty: The text-only model does not require the heavy encoder initialization seen in multimodal tasks, allowing for instant "cold" inference.</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Stability: The line is incredibly flat (the "step" you see is a microscopic difference of only 1ms). This workload is highly predictable.</a:t>
            </a:r>
            <a:endParaRPr b="1" sz="1133">
              <a:solidFill>
                <a:srgbClr val="24314F"/>
              </a:solidFill>
              <a:latin typeface="Inter"/>
              <a:ea typeface="Inter"/>
              <a:cs typeface="Inter"/>
              <a:sym typeface="Inter"/>
            </a:endParaRPr>
          </a:p>
        </p:txBody>
      </p:sp>
      <p:sp>
        <p:nvSpPr>
          <p:cNvPr id="1663" name="Google Shape;1663;g3b0ee8e70b9_0_6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664" name="Google Shape;1664;g3b0ee8e70b9_0_60"/>
          <p:cNvPicPr preferRelativeResize="0"/>
          <p:nvPr/>
        </p:nvPicPr>
        <p:blipFill>
          <a:blip r:embed="rId3">
            <a:alphaModFix/>
          </a:blip>
          <a:stretch>
            <a:fillRect/>
          </a:stretch>
        </p:blipFill>
        <p:spPr>
          <a:xfrm>
            <a:off x="1083726" y="2411800"/>
            <a:ext cx="4969275" cy="289874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grpSp>
        <p:nvGrpSpPr>
          <p:cNvPr id="1669" name="Google Shape;1669;g3b0ee8e70b9_0_8"/>
          <p:cNvGrpSpPr/>
          <p:nvPr/>
        </p:nvGrpSpPr>
        <p:grpSpPr>
          <a:xfrm>
            <a:off x="685800" y="1838306"/>
            <a:ext cx="10820186" cy="5020055"/>
            <a:chOff x="0" y="-47625"/>
            <a:chExt cx="4274726" cy="2214600"/>
          </a:xfrm>
        </p:grpSpPr>
        <p:sp>
          <p:nvSpPr>
            <p:cNvPr id="1670" name="Google Shape;1670;g3b0ee8e70b9_0_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1" name="Google Shape;1671;g3b0ee8e70b9_0_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72" name="Google Shape;1672;g3b0ee8e70b9_0_8"/>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Audio Transcription Performance</a:t>
            </a:r>
            <a:endParaRPr sz="1200"/>
          </a:p>
        </p:txBody>
      </p:sp>
      <p:grpSp>
        <p:nvGrpSpPr>
          <p:cNvPr id="1673" name="Google Shape;1673;g3b0ee8e70b9_0_8"/>
          <p:cNvGrpSpPr/>
          <p:nvPr/>
        </p:nvGrpSpPr>
        <p:grpSpPr>
          <a:xfrm>
            <a:off x="1083725" y="2187773"/>
            <a:ext cx="4969265" cy="3239425"/>
            <a:chOff x="0" y="-47625"/>
            <a:chExt cx="1808189" cy="1538700"/>
          </a:xfrm>
        </p:grpSpPr>
        <p:sp>
          <p:nvSpPr>
            <p:cNvPr id="1674" name="Google Shape;1674;g3b0ee8e70b9_0_8"/>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5" name="Google Shape;1675;g3b0ee8e70b9_0_8"/>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676" name="Google Shape;1676;g3b0ee8e70b9_0_8"/>
          <p:cNvGrpSpPr/>
          <p:nvPr/>
        </p:nvGrpSpPr>
        <p:grpSpPr>
          <a:xfrm>
            <a:off x="6260350" y="2187777"/>
            <a:ext cx="4577069" cy="4159636"/>
            <a:chOff x="0" y="-47625"/>
            <a:chExt cx="1808189" cy="1790400"/>
          </a:xfrm>
        </p:grpSpPr>
        <p:sp>
          <p:nvSpPr>
            <p:cNvPr id="1677" name="Google Shape;1677;g3b0ee8e70b9_0_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8" name="Google Shape;1678;g3b0ee8e70b9_0_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79" name="Google Shape;1679;g3b0ee8e70b9_0_8"/>
          <p:cNvSpPr txBox="1"/>
          <p:nvPr/>
        </p:nvSpPr>
        <p:spPr>
          <a:xfrm>
            <a:off x="6617254" y="2517633"/>
            <a:ext cx="3863100" cy="35940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The "Cold Start" Spike: The massive green spike (Index 0) represents a ~23-second initialization penalty. This latency is attributed to the initialization of the audio encoder and the allocation of multimodal embeddings, effectively blocking the GPU before the first token is generated</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Stabilization: Immediately after the first request, the time drops drastically to under 1 second per file.</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Takeaway: Audio services cannot be spun up on-demand (Serverless/Cold) without incurring unacceptable latency. They must be deployed as persistent services to amortize the 23-second initialization cost across multiple requests</a:t>
            </a:r>
            <a:endParaRPr b="1" sz="1133">
              <a:solidFill>
                <a:srgbClr val="24314F"/>
              </a:solidFill>
              <a:latin typeface="Inter"/>
              <a:ea typeface="Inter"/>
              <a:cs typeface="Inter"/>
              <a:sym typeface="Inter"/>
            </a:endParaRPr>
          </a:p>
        </p:txBody>
      </p:sp>
      <p:sp>
        <p:nvSpPr>
          <p:cNvPr id="1680" name="Google Shape;1680;g3b0ee8e70b9_0_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681" name="Google Shape;1681;g3b0ee8e70b9_0_8"/>
          <p:cNvPicPr preferRelativeResize="0"/>
          <p:nvPr/>
        </p:nvPicPr>
        <p:blipFill>
          <a:blip r:embed="rId3">
            <a:alphaModFix/>
          </a:blip>
          <a:stretch>
            <a:fillRect/>
          </a:stretch>
        </p:blipFill>
        <p:spPr>
          <a:xfrm>
            <a:off x="1177400" y="2369001"/>
            <a:ext cx="4875600" cy="2844089"/>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grpSp>
        <p:nvGrpSpPr>
          <p:cNvPr id="1686" name="Google Shape;1686;g3b0ee8e70b9_0_28"/>
          <p:cNvGrpSpPr/>
          <p:nvPr/>
        </p:nvGrpSpPr>
        <p:grpSpPr>
          <a:xfrm>
            <a:off x="685800" y="1838306"/>
            <a:ext cx="10820186" cy="5020055"/>
            <a:chOff x="0" y="-47625"/>
            <a:chExt cx="4274726" cy="2214600"/>
          </a:xfrm>
        </p:grpSpPr>
        <p:sp>
          <p:nvSpPr>
            <p:cNvPr id="1687" name="Google Shape;1687;g3b0ee8e70b9_0_2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88" name="Google Shape;1688;g3b0ee8e70b9_0_2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89" name="Google Shape;1689;g3b0ee8e70b9_0_28"/>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Latency Comparison (Text is Faster)</a:t>
            </a:r>
            <a:endParaRPr sz="1200"/>
          </a:p>
        </p:txBody>
      </p:sp>
      <p:grpSp>
        <p:nvGrpSpPr>
          <p:cNvPr id="1690" name="Google Shape;1690;g3b0ee8e70b9_0_28"/>
          <p:cNvGrpSpPr/>
          <p:nvPr/>
        </p:nvGrpSpPr>
        <p:grpSpPr>
          <a:xfrm>
            <a:off x="1083725" y="2187774"/>
            <a:ext cx="4969266" cy="3048875"/>
            <a:chOff x="0" y="-47625"/>
            <a:chExt cx="1808189" cy="1538670"/>
          </a:xfrm>
        </p:grpSpPr>
        <p:sp>
          <p:nvSpPr>
            <p:cNvPr id="1691" name="Google Shape;1691;g3b0ee8e70b9_0_28"/>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92" name="Google Shape;1692;g3b0ee8e70b9_0_28"/>
            <p:cNvSpPr txBox="1"/>
            <p:nvPr/>
          </p:nvSpPr>
          <p:spPr>
            <a:xfrm>
              <a:off x="0" y="-47625"/>
              <a:ext cx="1808100" cy="1073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693" name="Google Shape;1693;g3b0ee8e70b9_0_28"/>
          <p:cNvGrpSpPr/>
          <p:nvPr/>
        </p:nvGrpSpPr>
        <p:grpSpPr>
          <a:xfrm>
            <a:off x="6260350" y="2187776"/>
            <a:ext cx="4577069" cy="4450934"/>
            <a:chOff x="0" y="-47625"/>
            <a:chExt cx="1808189" cy="1790400"/>
          </a:xfrm>
        </p:grpSpPr>
        <p:sp>
          <p:nvSpPr>
            <p:cNvPr id="1694" name="Google Shape;1694;g3b0ee8e70b9_0_2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95" name="Google Shape;1695;g3b0ee8e70b9_0_28"/>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696" name="Google Shape;1696;g3b0ee8e70b9_0_28"/>
          <p:cNvSpPr txBox="1"/>
          <p:nvPr/>
        </p:nvSpPr>
        <p:spPr>
          <a:xfrm>
            <a:off x="6617254" y="2517633"/>
            <a:ext cx="3863100" cy="38382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Orange Squares (Text): The Orange Squares (Text) are clustered in the 0-5s range, demonstrating high throughput. vLLM’s continuous batching processes the 100 text requests efficiently in parallel, saturating the GPU compute units quickly,.</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Blue Circles (Audio): The Blue Circles (Audio) span 60s+ with significantly higher per-token latency (0.5s–1.5s). Unlike text, audio inference requires a heavy prefill phase where the audio encoder (e.g., Whisper/Qwen-Audio encoder) processes raw waveforms into embeddings before token generation begins.</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The Gap: A Translation request is "cheap," whereas Audio takes up significant time and compute.</a:t>
            </a:r>
            <a:endParaRPr b="1" sz="1133">
              <a:solidFill>
                <a:srgbClr val="24314F"/>
              </a:solidFill>
              <a:latin typeface="Inter"/>
              <a:ea typeface="Inter"/>
              <a:cs typeface="Inter"/>
              <a:sym typeface="Inter"/>
            </a:endParaRPr>
          </a:p>
        </p:txBody>
      </p:sp>
      <p:sp>
        <p:nvSpPr>
          <p:cNvPr id="1697" name="Google Shape;1697;g3b0ee8e70b9_0_28"/>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698" name="Google Shape;1698;g3b0ee8e70b9_0_28"/>
          <p:cNvPicPr preferRelativeResize="0"/>
          <p:nvPr/>
        </p:nvPicPr>
        <p:blipFill>
          <a:blip r:embed="rId3">
            <a:alphaModFix/>
          </a:blip>
          <a:stretch>
            <a:fillRect/>
          </a:stretch>
        </p:blipFill>
        <p:spPr>
          <a:xfrm>
            <a:off x="1083725" y="2517625"/>
            <a:ext cx="4969277" cy="2484649"/>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grpSp>
        <p:nvGrpSpPr>
          <p:cNvPr id="1703" name="Google Shape;1703;g3b0ee8e70b9_0_44"/>
          <p:cNvGrpSpPr/>
          <p:nvPr/>
        </p:nvGrpSpPr>
        <p:grpSpPr>
          <a:xfrm>
            <a:off x="685800" y="1838306"/>
            <a:ext cx="10820186" cy="5020055"/>
            <a:chOff x="0" y="-47625"/>
            <a:chExt cx="4274726" cy="2214600"/>
          </a:xfrm>
        </p:grpSpPr>
        <p:sp>
          <p:nvSpPr>
            <p:cNvPr id="1704" name="Google Shape;1704;g3b0ee8e70b9_0_4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05" name="Google Shape;1705;g3b0ee8e70b9_0_4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06" name="Google Shape;1706;g3b0ee8e70b9_0_44"/>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Audio latency varies text is constant</a:t>
            </a:r>
            <a:endParaRPr sz="1200"/>
          </a:p>
        </p:txBody>
      </p:sp>
      <p:grpSp>
        <p:nvGrpSpPr>
          <p:cNvPr id="1707" name="Google Shape;1707;g3b0ee8e70b9_0_44"/>
          <p:cNvGrpSpPr/>
          <p:nvPr/>
        </p:nvGrpSpPr>
        <p:grpSpPr>
          <a:xfrm>
            <a:off x="1083725" y="2187777"/>
            <a:ext cx="4969265" cy="3912145"/>
            <a:chOff x="0" y="-47625"/>
            <a:chExt cx="1808189" cy="1538700"/>
          </a:xfrm>
        </p:grpSpPr>
        <p:sp>
          <p:nvSpPr>
            <p:cNvPr id="1708" name="Google Shape;1708;g3b0ee8e70b9_0_44"/>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09" name="Google Shape;1709;g3b0ee8e70b9_0_44"/>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710" name="Google Shape;1710;g3b0ee8e70b9_0_44"/>
          <p:cNvGrpSpPr/>
          <p:nvPr/>
        </p:nvGrpSpPr>
        <p:grpSpPr>
          <a:xfrm>
            <a:off x="6260350" y="2187776"/>
            <a:ext cx="4577069" cy="4504825"/>
            <a:chOff x="0" y="-47625"/>
            <a:chExt cx="1808189" cy="1790400"/>
          </a:xfrm>
        </p:grpSpPr>
        <p:sp>
          <p:nvSpPr>
            <p:cNvPr id="1711" name="Google Shape;1711;g3b0ee8e70b9_0_4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12" name="Google Shape;1712;g3b0ee8e70b9_0_4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13" name="Google Shape;1713;g3b0ee8e70b9_0_44"/>
          <p:cNvSpPr txBox="1"/>
          <p:nvPr/>
        </p:nvSpPr>
        <p:spPr>
          <a:xfrm>
            <a:off x="6617254" y="2517633"/>
            <a:ext cx="3863100" cy="40824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Audio (Left Box): The tall box and extended whiskers indicate that audio latency is highly sensitive to input duration. Longer audio files require linearly more memory for the KV cache and longer processing times, creating a variable load profile that the scheduler must anticipate,.</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Translation (Right Box): The box is a tiny, flat line. This confirms that text translation takes the exact same amount of time regardless of slight input variations.</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Outliers: </a:t>
            </a:r>
            <a:r>
              <a:rPr b="1" lang="en-US" sz="1133">
                <a:solidFill>
                  <a:srgbClr val="24314F"/>
                </a:solidFill>
                <a:latin typeface="Inter"/>
                <a:ea typeface="Inter"/>
                <a:cs typeface="Inter"/>
                <a:sym typeface="Inter"/>
              </a:rPr>
              <a:t>The dots at the top of the Audio lane show the massive initialization outliers (23s+), skewing the average.This statistical outlier confirms that the initialization penalty is a one-time event (loading weights/kernels) rather than a recurring cost, provided the worker remains active.</a:t>
            </a:r>
            <a:endParaRPr b="1" sz="1133">
              <a:solidFill>
                <a:srgbClr val="24314F"/>
              </a:solidFill>
              <a:latin typeface="Inter"/>
              <a:ea typeface="Inter"/>
              <a:cs typeface="Inter"/>
              <a:sym typeface="Inter"/>
            </a:endParaRPr>
          </a:p>
        </p:txBody>
      </p:sp>
      <p:sp>
        <p:nvSpPr>
          <p:cNvPr id="1714" name="Google Shape;1714;g3b0ee8e70b9_0_44"/>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715" name="Google Shape;1715;g3b0ee8e70b9_0_44"/>
          <p:cNvPicPr preferRelativeResize="0"/>
          <p:nvPr/>
        </p:nvPicPr>
        <p:blipFill>
          <a:blip r:embed="rId3">
            <a:alphaModFix/>
          </a:blip>
          <a:stretch>
            <a:fillRect/>
          </a:stretch>
        </p:blipFill>
        <p:spPr>
          <a:xfrm>
            <a:off x="1291075" y="2608600"/>
            <a:ext cx="4577075" cy="3204857"/>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grpSp>
        <p:nvGrpSpPr>
          <p:cNvPr id="1720" name="Google Shape;1720;g3b0ee8e70b9_0_81"/>
          <p:cNvGrpSpPr/>
          <p:nvPr/>
        </p:nvGrpSpPr>
        <p:grpSpPr>
          <a:xfrm>
            <a:off x="685800" y="1838306"/>
            <a:ext cx="10820186" cy="5020055"/>
            <a:chOff x="0" y="-47625"/>
            <a:chExt cx="4274726" cy="2214600"/>
          </a:xfrm>
        </p:grpSpPr>
        <p:sp>
          <p:nvSpPr>
            <p:cNvPr id="1721" name="Google Shape;1721;g3b0ee8e70b9_0_8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22" name="Google Shape;1722;g3b0ee8e70b9_0_8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23" name="Google Shape;1723;g3b0ee8e70b9_0_81"/>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Audio latency varies text is constant</a:t>
            </a:r>
            <a:endParaRPr sz="1200"/>
          </a:p>
        </p:txBody>
      </p:sp>
      <p:grpSp>
        <p:nvGrpSpPr>
          <p:cNvPr id="1724" name="Google Shape;1724;g3b0ee8e70b9_0_81"/>
          <p:cNvGrpSpPr/>
          <p:nvPr/>
        </p:nvGrpSpPr>
        <p:grpSpPr>
          <a:xfrm>
            <a:off x="1083725" y="2187775"/>
            <a:ext cx="4969265" cy="2868697"/>
            <a:chOff x="0" y="-47625"/>
            <a:chExt cx="1808189" cy="1538670"/>
          </a:xfrm>
        </p:grpSpPr>
        <p:sp>
          <p:nvSpPr>
            <p:cNvPr id="1725" name="Google Shape;1725;g3b0ee8e70b9_0_81"/>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26" name="Google Shape;1726;g3b0ee8e70b9_0_81"/>
            <p:cNvSpPr txBox="1"/>
            <p:nvPr/>
          </p:nvSpPr>
          <p:spPr>
            <a:xfrm>
              <a:off x="0" y="-47625"/>
              <a:ext cx="1808100" cy="10293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727" name="Google Shape;1727;g3b0ee8e70b9_0_81"/>
          <p:cNvGrpSpPr/>
          <p:nvPr/>
        </p:nvGrpSpPr>
        <p:grpSpPr>
          <a:xfrm>
            <a:off x="6260350" y="2187776"/>
            <a:ext cx="4577069" cy="4524520"/>
            <a:chOff x="0" y="-47625"/>
            <a:chExt cx="1808189" cy="1790400"/>
          </a:xfrm>
        </p:grpSpPr>
        <p:sp>
          <p:nvSpPr>
            <p:cNvPr id="1728" name="Google Shape;1728;g3b0ee8e70b9_0_8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29" name="Google Shape;1729;g3b0ee8e70b9_0_8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30" name="Google Shape;1730;g3b0ee8e70b9_0_81"/>
          <p:cNvSpPr txBox="1"/>
          <p:nvPr/>
        </p:nvSpPr>
        <p:spPr>
          <a:xfrm>
            <a:off x="6532287" y="2517625"/>
            <a:ext cx="4033200" cy="40824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Key Metrics:</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Mean Latency: Audio (~738ms) is roughly 15x slower than Translation (~49ms).</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Max Latency: Audio hit ~9.5s (excluding the absolute worst case), while Translation never exceeded 0.06s.</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Recommendation:</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Given the massive latency gap, text requests can be effectively interleaved into the GPU's idle cycles (e.g., during audio data fetching or encoder initialization) without degrading the audio service's SLOs. The text workload effectively fills the "bubbles" in the audio computation schedule.</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Resource Management: Audio requires a persistent worker (to avoid cold start). Text can be serverless or on-demand.</a:t>
            </a:r>
            <a:endParaRPr b="1" sz="1133">
              <a:solidFill>
                <a:srgbClr val="24314F"/>
              </a:solidFill>
              <a:latin typeface="Inter"/>
              <a:ea typeface="Inter"/>
              <a:cs typeface="Inter"/>
              <a:sym typeface="Inter"/>
            </a:endParaRPr>
          </a:p>
        </p:txBody>
      </p:sp>
      <p:sp>
        <p:nvSpPr>
          <p:cNvPr id="1731" name="Google Shape;1731;g3b0ee8e70b9_0_81"/>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pic>
        <p:nvPicPr>
          <p:cNvPr id="1732" name="Google Shape;1732;g3b0ee8e70b9_0_81"/>
          <p:cNvPicPr preferRelativeResize="0"/>
          <p:nvPr/>
        </p:nvPicPr>
        <p:blipFill>
          <a:blip r:embed="rId3">
            <a:alphaModFix/>
          </a:blip>
          <a:stretch>
            <a:fillRect/>
          </a:stretch>
        </p:blipFill>
        <p:spPr>
          <a:xfrm>
            <a:off x="1335225" y="2517625"/>
            <a:ext cx="4577075" cy="253885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Google Shape;1738;g3a726d1271e_0_1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 (17/12/2025)</a:t>
            </a:r>
            <a:endParaRPr sz="3400">
              <a:solidFill>
                <a:srgbClr val="FF0000"/>
              </a:solidFill>
            </a:endParaRPr>
          </a:p>
        </p:txBody>
      </p:sp>
      <p:sp>
        <p:nvSpPr>
          <p:cNvPr id="1739" name="Google Shape;1739;g3a726d1271e_0_10"/>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Research reasoning models related to speech-to-speech, text-to-speech, and PDF-to-Podcast workflows.</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Investigate the availability of voice traces, similar to the LMM traces (the input is image) recently released by Azure. </a:t>
            </a:r>
            <a:endParaRPr sz="2900">
              <a:solidFill>
                <a:schemeClr val="dk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g3a6104770f4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746" name="Google Shape;1746;g3a6104770f4_0_0"/>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Write a guidance: How to use container to run tasks in the NSCC cluster</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Review relevant papers for workflows for audio and text multimodal input</a:t>
            </a:r>
            <a:endParaRPr sz="2900">
              <a:solidFill>
                <a:schemeClr val="dk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0" name="Shape 1750"/>
        <p:cNvGrpSpPr/>
        <p:nvPr/>
      </p:nvGrpSpPr>
      <p:grpSpPr>
        <a:xfrm>
          <a:off x="0" y="0"/>
          <a:ext cx="0" cy="0"/>
          <a:chOff x="0" y="0"/>
          <a:chExt cx="0" cy="0"/>
        </a:xfrm>
      </p:grpSpPr>
      <p:grpSp>
        <p:nvGrpSpPr>
          <p:cNvPr id="1751" name="Google Shape;1751;g3aed78800e8_0_20"/>
          <p:cNvGrpSpPr/>
          <p:nvPr/>
        </p:nvGrpSpPr>
        <p:grpSpPr>
          <a:xfrm>
            <a:off x="685800" y="1838306"/>
            <a:ext cx="10820186" cy="5020055"/>
            <a:chOff x="0" y="-47625"/>
            <a:chExt cx="4274726" cy="2214600"/>
          </a:xfrm>
        </p:grpSpPr>
        <p:sp>
          <p:nvSpPr>
            <p:cNvPr id="1752" name="Google Shape;1752;g3aed78800e8_0_2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53" name="Google Shape;1753;g3aed78800e8_0_2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54" name="Google Shape;1754;g3aed78800e8_0_2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NSCC Guide</a:t>
            </a:r>
            <a:endParaRPr sz="1200"/>
          </a:p>
        </p:txBody>
      </p:sp>
      <p:grpSp>
        <p:nvGrpSpPr>
          <p:cNvPr id="1755" name="Google Shape;1755;g3aed78800e8_0_20"/>
          <p:cNvGrpSpPr/>
          <p:nvPr/>
        </p:nvGrpSpPr>
        <p:grpSpPr>
          <a:xfrm>
            <a:off x="867000" y="2187774"/>
            <a:ext cx="5186067" cy="4370216"/>
            <a:chOff x="0" y="-47625"/>
            <a:chExt cx="1808189" cy="1538700"/>
          </a:xfrm>
        </p:grpSpPr>
        <p:sp>
          <p:nvSpPr>
            <p:cNvPr id="1756" name="Google Shape;1756;g3aed78800e8_0_2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57" name="Google Shape;1757;g3aed78800e8_0_2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758" name="Google Shape;1758;g3aed78800e8_0_20"/>
          <p:cNvGrpSpPr/>
          <p:nvPr/>
        </p:nvGrpSpPr>
        <p:grpSpPr>
          <a:xfrm>
            <a:off x="6260355" y="2187775"/>
            <a:ext cx="4577069" cy="4532040"/>
            <a:chOff x="0" y="-47625"/>
            <a:chExt cx="1808189" cy="1790400"/>
          </a:xfrm>
        </p:grpSpPr>
        <p:sp>
          <p:nvSpPr>
            <p:cNvPr id="1759" name="Google Shape;1759;g3aed78800e8_0_2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60" name="Google Shape;1760;g3aed78800e8_0_2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61" name="Google Shape;1761;g3aed78800e8_0_20"/>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200">
                <a:solidFill>
                  <a:srgbClr val="24314F"/>
                </a:solidFill>
                <a:latin typeface="Inter"/>
                <a:ea typeface="Inter"/>
                <a:cs typeface="Inter"/>
                <a:sym typeface="Inter"/>
              </a:rPr>
              <a:t>Access it </a:t>
            </a:r>
            <a:r>
              <a:rPr b="1" lang="en-US" sz="1200">
                <a:solidFill>
                  <a:srgbClr val="24314F"/>
                </a:solidFill>
                <a:latin typeface="Inter"/>
                <a:ea typeface="Inter"/>
                <a:cs typeface="Inter"/>
                <a:sym typeface="Inter"/>
              </a:rPr>
              <a:t>through</a:t>
            </a:r>
            <a:r>
              <a:rPr b="1" lang="en-US" sz="1200">
                <a:solidFill>
                  <a:srgbClr val="24314F"/>
                </a:solidFill>
                <a:latin typeface="Inter"/>
                <a:ea typeface="Inter"/>
                <a:cs typeface="Inter"/>
                <a:sym typeface="Inter"/>
              </a:rPr>
              <a:t> the link</a:t>
            </a:r>
            <a:endParaRPr b="1" sz="1200">
              <a:solidFill>
                <a:srgbClr val="24314F"/>
              </a:solidFill>
              <a:latin typeface="Inter"/>
              <a:ea typeface="Inter"/>
              <a:cs typeface="Inter"/>
              <a:sym typeface="Inter"/>
            </a:endParaRPr>
          </a:p>
        </p:txBody>
      </p:sp>
      <p:sp>
        <p:nvSpPr>
          <p:cNvPr id="1762" name="Google Shape;1762;g3aed78800e8_0_20"/>
          <p:cNvSpPr txBox="1"/>
          <p:nvPr/>
        </p:nvSpPr>
        <p:spPr>
          <a:xfrm>
            <a:off x="1228400" y="5884725"/>
            <a:ext cx="4434000" cy="418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133" u="sng">
                <a:solidFill>
                  <a:schemeClr val="hlink"/>
                </a:solidFill>
                <a:latin typeface="Inter"/>
                <a:ea typeface="Inter"/>
                <a:cs typeface="Inter"/>
                <a:sym typeface="Inter"/>
                <a:hlinkClick r:id="rId3"/>
              </a:rPr>
              <a:t>https://github.com/elyhansee/nscc-guide/blob/main/nsccGuidance.md</a:t>
            </a:r>
            <a:r>
              <a:rPr b="1" lang="en-US" sz="1133">
                <a:latin typeface="Inter"/>
                <a:ea typeface="Inter"/>
                <a:cs typeface="Inter"/>
                <a:sym typeface="Inter"/>
              </a:rPr>
              <a:t> </a:t>
            </a:r>
            <a:endParaRPr sz="1200"/>
          </a:p>
        </p:txBody>
      </p:sp>
      <p:pic>
        <p:nvPicPr>
          <p:cNvPr id="1763" name="Google Shape;1763;g3aed78800e8_0_20"/>
          <p:cNvPicPr preferRelativeResize="0"/>
          <p:nvPr/>
        </p:nvPicPr>
        <p:blipFill>
          <a:blip r:embed="rId4">
            <a:alphaModFix/>
          </a:blip>
          <a:stretch>
            <a:fillRect/>
          </a:stretch>
        </p:blipFill>
        <p:spPr>
          <a:xfrm>
            <a:off x="1228400" y="2500625"/>
            <a:ext cx="4142376" cy="3277875"/>
          </a:xfrm>
          <a:prstGeom prst="rect">
            <a:avLst/>
          </a:prstGeom>
          <a:noFill/>
          <a:ln>
            <a:noFill/>
          </a:ln>
        </p:spPr>
      </p:pic>
      <p:pic>
        <p:nvPicPr>
          <p:cNvPr id="1764" name="Google Shape;1764;g3aed78800e8_0_20"/>
          <p:cNvPicPr preferRelativeResize="0"/>
          <p:nvPr/>
        </p:nvPicPr>
        <p:blipFill>
          <a:blip r:embed="rId5">
            <a:alphaModFix/>
          </a:blip>
          <a:stretch>
            <a:fillRect/>
          </a:stretch>
        </p:blipFill>
        <p:spPr>
          <a:xfrm>
            <a:off x="6480700" y="2500625"/>
            <a:ext cx="4142376" cy="367154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grpSp>
        <p:nvGrpSpPr>
          <p:cNvPr id="1769" name="Google Shape;1769;g3aed78800e8_0_41"/>
          <p:cNvGrpSpPr/>
          <p:nvPr/>
        </p:nvGrpSpPr>
        <p:grpSpPr>
          <a:xfrm>
            <a:off x="685800" y="1838306"/>
            <a:ext cx="10820186" cy="5020055"/>
            <a:chOff x="0" y="-47625"/>
            <a:chExt cx="4274726" cy="2214600"/>
          </a:xfrm>
        </p:grpSpPr>
        <p:sp>
          <p:nvSpPr>
            <p:cNvPr id="1770" name="Google Shape;1770;g3aed78800e8_0_41"/>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71" name="Google Shape;1771;g3aed78800e8_0_41"/>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72" name="Google Shape;1772;g3aed78800e8_0_41"/>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vLLM v0.11.0 Audio Pipeline</a:t>
            </a:r>
            <a:endParaRPr sz="1200"/>
          </a:p>
        </p:txBody>
      </p:sp>
      <p:grpSp>
        <p:nvGrpSpPr>
          <p:cNvPr id="1773" name="Google Shape;1773;g3aed78800e8_0_41"/>
          <p:cNvGrpSpPr/>
          <p:nvPr/>
        </p:nvGrpSpPr>
        <p:grpSpPr>
          <a:xfrm>
            <a:off x="867000" y="2187774"/>
            <a:ext cx="5186067" cy="4370216"/>
            <a:chOff x="0" y="-47625"/>
            <a:chExt cx="1808189" cy="1538700"/>
          </a:xfrm>
        </p:grpSpPr>
        <p:sp>
          <p:nvSpPr>
            <p:cNvPr id="1774" name="Google Shape;1774;g3aed78800e8_0_41"/>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75" name="Google Shape;1775;g3aed78800e8_0_41"/>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776" name="Google Shape;1776;g3aed78800e8_0_41"/>
          <p:cNvGrpSpPr/>
          <p:nvPr/>
        </p:nvGrpSpPr>
        <p:grpSpPr>
          <a:xfrm>
            <a:off x="6260355" y="2187775"/>
            <a:ext cx="4577069" cy="4532040"/>
            <a:chOff x="0" y="-47625"/>
            <a:chExt cx="1808189" cy="1790400"/>
          </a:xfrm>
        </p:grpSpPr>
        <p:sp>
          <p:nvSpPr>
            <p:cNvPr id="1777" name="Google Shape;1777;g3aed78800e8_0_41"/>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78" name="Google Shape;1778;g3aed78800e8_0_41"/>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79" name="Google Shape;1779;g3aed78800e8_0_41"/>
          <p:cNvSpPr txBox="1"/>
          <p:nvPr/>
        </p:nvSpPr>
        <p:spPr>
          <a:xfrm>
            <a:off x="6617254" y="2517633"/>
            <a:ext cx="3863100" cy="40968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Direct Input &amp; Latency Reduction: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vLLM uses AudioEmbeddingMediaIO to ingest audio directly via the API. Bypassing disk I/O which streamlines the data path and reduces fixed latency by 50-100ms per request.</a:t>
            </a:r>
            <a:endParaRPr sz="1200"/>
          </a:p>
          <a:p>
            <a:pPr indent="0" lvl="0" marL="0" marR="0" rtl="0" algn="just">
              <a:lnSpc>
                <a:spcPct val="140000"/>
              </a:lnSpc>
              <a:spcBef>
                <a:spcPts val="0"/>
              </a:spcBef>
              <a:spcAft>
                <a:spcPts val="0"/>
              </a:spcAft>
              <a:buNone/>
            </a:pPr>
            <a:r>
              <a:t/>
            </a:r>
            <a:endParaRPr sz="1200"/>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Automatic Audio Processing: </a:t>
            </a:r>
            <a:endParaRPr sz="1200">
              <a:solidFill>
                <a:schemeClr val="dk1"/>
              </a:solidFill>
            </a:endParaRPr>
          </a:p>
          <a:p>
            <a:pPr indent="0" lvl="0" marL="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The engine uses a built in AudioResampler which automatically converts client audio to the models required format before inference, preventing hallucinations caused by sample rate mismatches</a:t>
            </a:r>
            <a:endParaRPr b="1" sz="1133">
              <a:solidFill>
                <a:srgbClr val="24314F"/>
              </a:solidFill>
              <a:latin typeface="Inter SemiBold"/>
              <a:ea typeface="Inter SemiBold"/>
              <a:cs typeface="Inter SemiBold"/>
              <a:sym typeface="Inter SemiBold"/>
            </a:endParaRPr>
          </a:p>
          <a:p>
            <a:pPr indent="0" lvl="0" marL="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Safety Flag : </a:t>
            </a:r>
            <a:endParaRPr sz="1200">
              <a:solidFill>
                <a:schemeClr val="dk1"/>
              </a:solidFill>
            </a:endParaRPr>
          </a:p>
          <a:p>
            <a:pPr indent="0" lvl="0" marL="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Enforce the flag --limit-mm-per-prompt audio=1. We need this because multimodal inputs are significantly larger than text embeddings and pose a risk of instant VRAM exhaustion.</a:t>
            </a:r>
            <a:endParaRPr b="1" sz="1133">
              <a:solidFill>
                <a:srgbClr val="24314F"/>
              </a:solidFill>
              <a:latin typeface="Inter SemiBold"/>
              <a:ea typeface="Inter SemiBold"/>
              <a:cs typeface="Inter SemiBold"/>
              <a:sym typeface="Inter SemiBold"/>
            </a:endParaRPr>
          </a:p>
        </p:txBody>
      </p:sp>
      <p:sp>
        <p:nvSpPr>
          <p:cNvPr id="1780" name="Google Shape;1780;g3aed78800e8_0_41"/>
          <p:cNvSpPr txBox="1"/>
          <p:nvPr/>
        </p:nvSpPr>
        <p:spPr>
          <a:xfrm>
            <a:off x="7658895" y="654051"/>
            <a:ext cx="3863100" cy="4434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200">
                <a:solidFill>
                  <a:srgbClr val="24314F"/>
                </a:solidFill>
                <a:latin typeface="Inter"/>
                <a:ea typeface="Inter"/>
                <a:cs typeface="Inter"/>
                <a:sym typeface="Inter"/>
              </a:rPr>
              <a:t>Enabling stable, low latency audio serving for omni-modality models</a:t>
            </a:r>
            <a:endParaRPr b="1" sz="1200">
              <a:solidFill>
                <a:srgbClr val="24314F"/>
              </a:solidFill>
              <a:latin typeface="Inter"/>
              <a:ea typeface="Inter"/>
              <a:cs typeface="Inter"/>
              <a:sym typeface="Inter"/>
            </a:endParaRPr>
          </a:p>
        </p:txBody>
      </p:sp>
      <p:pic>
        <p:nvPicPr>
          <p:cNvPr id="1781" name="Google Shape;1781;g3aed78800e8_0_41"/>
          <p:cNvPicPr preferRelativeResize="0"/>
          <p:nvPr/>
        </p:nvPicPr>
        <p:blipFill>
          <a:blip r:embed="rId3">
            <a:alphaModFix/>
          </a:blip>
          <a:stretch>
            <a:fillRect/>
          </a:stretch>
        </p:blipFill>
        <p:spPr>
          <a:xfrm>
            <a:off x="1171499" y="2509085"/>
            <a:ext cx="4577075" cy="3252278"/>
          </a:xfrm>
          <a:prstGeom prst="rect">
            <a:avLst/>
          </a:prstGeom>
          <a:noFill/>
          <a:ln>
            <a:noFill/>
          </a:ln>
        </p:spPr>
      </p:pic>
      <p:sp>
        <p:nvSpPr>
          <p:cNvPr id="1782" name="Google Shape;1782;g3aed78800e8_0_41"/>
          <p:cNvSpPr txBox="1"/>
          <p:nvPr/>
        </p:nvSpPr>
        <p:spPr>
          <a:xfrm>
            <a:off x="1228400" y="5884725"/>
            <a:ext cx="4434000" cy="418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133" u="sng">
                <a:solidFill>
                  <a:schemeClr val="hlink"/>
                </a:solidFill>
                <a:latin typeface="Inter"/>
                <a:ea typeface="Inter"/>
                <a:cs typeface="Inter"/>
                <a:sym typeface="Inter"/>
                <a:hlinkClick r:id="rId4"/>
              </a:rPr>
              <a:t>https://docs.vllm.ai/en/stable/features/multimodal_inputs/#audio-embeddings</a:t>
            </a:r>
            <a:r>
              <a:rPr b="1" lang="en-US" sz="1133">
                <a:solidFill>
                  <a:srgbClr val="24314F"/>
                </a:solidFill>
                <a:latin typeface="Inter"/>
                <a:ea typeface="Inter"/>
                <a:cs typeface="Inter"/>
                <a:sym typeface="Inter"/>
              </a:rPr>
              <a:t> </a:t>
            </a:r>
            <a:endParaRPr sz="1200"/>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grpSp>
        <p:nvGrpSpPr>
          <p:cNvPr id="1787" name="Google Shape;1787;g3af26c9a56b_0_0"/>
          <p:cNvGrpSpPr/>
          <p:nvPr/>
        </p:nvGrpSpPr>
        <p:grpSpPr>
          <a:xfrm>
            <a:off x="685800" y="1838306"/>
            <a:ext cx="10820186" cy="5020055"/>
            <a:chOff x="0" y="-47625"/>
            <a:chExt cx="4274726" cy="2214600"/>
          </a:xfrm>
        </p:grpSpPr>
        <p:sp>
          <p:nvSpPr>
            <p:cNvPr id="1788" name="Google Shape;1788;g3af26c9a56b_0_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89" name="Google Shape;1789;g3af26c9a56b_0_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90" name="Google Shape;1790;g3af26c9a56b_0_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Qwen2.5-Omni (Thinker-Talker Architecture)</a:t>
            </a:r>
            <a:endParaRPr sz="1200"/>
          </a:p>
        </p:txBody>
      </p:sp>
      <p:grpSp>
        <p:nvGrpSpPr>
          <p:cNvPr id="1791" name="Google Shape;1791;g3af26c9a56b_0_0"/>
          <p:cNvGrpSpPr/>
          <p:nvPr/>
        </p:nvGrpSpPr>
        <p:grpSpPr>
          <a:xfrm>
            <a:off x="1083726" y="2187775"/>
            <a:ext cx="4969265" cy="4370216"/>
            <a:chOff x="0" y="-47625"/>
            <a:chExt cx="1808189" cy="1538700"/>
          </a:xfrm>
        </p:grpSpPr>
        <p:sp>
          <p:nvSpPr>
            <p:cNvPr id="1792" name="Google Shape;1792;g3af26c9a56b_0_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93" name="Google Shape;1793;g3af26c9a56b_0_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794" name="Google Shape;1794;g3af26c9a56b_0_0"/>
          <p:cNvGrpSpPr/>
          <p:nvPr/>
        </p:nvGrpSpPr>
        <p:grpSpPr>
          <a:xfrm>
            <a:off x="6260350" y="2187776"/>
            <a:ext cx="4577069" cy="4370187"/>
            <a:chOff x="0" y="-47625"/>
            <a:chExt cx="1808189" cy="1790400"/>
          </a:xfrm>
        </p:grpSpPr>
        <p:sp>
          <p:nvSpPr>
            <p:cNvPr id="1795" name="Google Shape;1795;g3af26c9a56b_0_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96" name="Google Shape;1796;g3af26c9a56b_0_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797" name="Google Shape;1797;g3af26c9a56b_0_0"/>
          <p:cNvSpPr txBox="1"/>
          <p:nvPr/>
        </p:nvSpPr>
        <p:spPr>
          <a:xfrm>
            <a:off x="6617254" y="2517633"/>
            <a:ext cx="3863100" cy="3838200"/>
          </a:xfrm>
          <a:prstGeom prst="rect">
            <a:avLst/>
          </a:prstGeom>
          <a:noFill/>
          <a:ln>
            <a:noFill/>
          </a:ln>
        </p:spPr>
        <p:txBody>
          <a:bodyPr anchorCtr="0" anchor="t" bIns="0" lIns="0" spcFirstLastPara="1" rIns="0" wrap="square" tIns="0">
            <a:spAutoFit/>
          </a:bodyPr>
          <a:lstStyle/>
          <a:p>
            <a:pPr indent="-300546" lvl="0" marL="457200" rtl="0" algn="just">
              <a:lnSpc>
                <a:spcPct val="140060"/>
              </a:lnSpc>
              <a:spcBef>
                <a:spcPts val="0"/>
              </a:spcBef>
              <a:spcAft>
                <a:spcPts val="0"/>
              </a:spcAft>
              <a:buClr>
                <a:srgbClr val="24314F"/>
              </a:buClr>
              <a:buSzPts val="1133"/>
              <a:buFont typeface="Inter SemiBold"/>
              <a:buChar char="-"/>
            </a:pPr>
            <a:r>
              <a:rPr b="1" lang="en-US" sz="1133">
                <a:solidFill>
                  <a:srgbClr val="24314F"/>
                </a:solidFill>
                <a:latin typeface="Inter"/>
                <a:ea typeface="Inter"/>
                <a:cs typeface="Inter"/>
                <a:sym typeface="Inter"/>
              </a:rPr>
              <a:t>The architecture supports chunked input and immediate output. This means that while the Talker is generating the audio for the first segment of the response, the Thinker can potentially start processing the next input segment or reasoning for the subsequent part of the response. </a:t>
            </a:r>
            <a:endParaRPr b="1" sz="1133">
              <a:solidFill>
                <a:srgbClr val="24314F"/>
              </a:solidFill>
              <a:latin typeface="Inter"/>
              <a:ea typeface="Inter"/>
              <a:cs typeface="Inter"/>
              <a:sym typeface="Inter"/>
            </a:endParaRPr>
          </a:p>
          <a:p>
            <a:pPr indent="0" lvl="0" marL="45720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Qwen team provides customized deployment support for Qwen2.5-Omni within vLLM</a:t>
            </a:r>
            <a:endParaRPr b="1" sz="1133">
              <a:solidFill>
                <a:srgbClr val="24314F"/>
              </a:solidFill>
              <a:latin typeface="Inter"/>
              <a:ea typeface="Inter"/>
              <a:cs typeface="Inter"/>
              <a:sym typeface="Inter"/>
            </a:endParaRPr>
          </a:p>
          <a:p>
            <a:pPr indent="0" lvl="0" marL="45720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The model is built to provide real-time streaming responses. This allows the client to receive and play audio chunks immediately, resulting in a low time-to-first-sound experience critical for interactive voice chat</a:t>
            </a:r>
            <a:endParaRPr b="1" sz="1133">
              <a:solidFill>
                <a:srgbClr val="24314F"/>
              </a:solidFill>
              <a:latin typeface="Inter"/>
              <a:ea typeface="Inter"/>
              <a:cs typeface="Inter"/>
              <a:sym typeface="Inter"/>
            </a:endParaRPr>
          </a:p>
        </p:txBody>
      </p:sp>
      <p:sp>
        <p:nvSpPr>
          <p:cNvPr id="1798" name="Google Shape;1798;g3af26c9a56b_0_0"/>
          <p:cNvSpPr txBox="1"/>
          <p:nvPr/>
        </p:nvSpPr>
        <p:spPr>
          <a:xfrm>
            <a:off x="7658895" y="654051"/>
            <a:ext cx="3863100" cy="4434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200">
                <a:solidFill>
                  <a:srgbClr val="24314F"/>
                </a:solidFill>
                <a:latin typeface="Inter"/>
                <a:ea typeface="Inter"/>
                <a:cs typeface="Inter"/>
                <a:sym typeface="Inter"/>
              </a:rPr>
              <a:t>Speech to Speech </a:t>
            </a:r>
            <a:r>
              <a:rPr b="1" lang="en-US" sz="1200">
                <a:solidFill>
                  <a:srgbClr val="24314F"/>
                </a:solidFill>
                <a:latin typeface="Inter"/>
                <a:ea typeface="Inter"/>
                <a:cs typeface="Inter"/>
                <a:sym typeface="Inter"/>
              </a:rPr>
              <a:t>pipeline</a:t>
            </a:r>
            <a:r>
              <a:rPr b="1" lang="en-US" sz="1200">
                <a:solidFill>
                  <a:srgbClr val="24314F"/>
                </a:solidFill>
                <a:latin typeface="Inter"/>
                <a:ea typeface="Inter"/>
                <a:cs typeface="Inter"/>
                <a:sym typeface="Inter"/>
              </a:rPr>
              <a:t> for real-time conversation</a:t>
            </a:r>
            <a:endParaRPr b="1" sz="1200">
              <a:solidFill>
                <a:srgbClr val="24314F"/>
              </a:solidFill>
              <a:latin typeface="Inter"/>
              <a:ea typeface="Inter"/>
              <a:cs typeface="Inter"/>
              <a:sym typeface="Inter"/>
            </a:endParaRPr>
          </a:p>
        </p:txBody>
      </p:sp>
      <p:pic>
        <p:nvPicPr>
          <p:cNvPr id="1799" name="Google Shape;1799;g3af26c9a56b_0_0"/>
          <p:cNvPicPr preferRelativeResize="0"/>
          <p:nvPr/>
        </p:nvPicPr>
        <p:blipFill>
          <a:blip r:embed="rId3">
            <a:alphaModFix/>
          </a:blip>
          <a:stretch>
            <a:fillRect/>
          </a:stretch>
        </p:blipFill>
        <p:spPr>
          <a:xfrm>
            <a:off x="1499425" y="2405550"/>
            <a:ext cx="4137876" cy="2230574"/>
          </a:xfrm>
          <a:prstGeom prst="rect">
            <a:avLst/>
          </a:prstGeom>
          <a:noFill/>
          <a:ln>
            <a:noFill/>
          </a:ln>
        </p:spPr>
      </p:pic>
      <p:graphicFrame>
        <p:nvGraphicFramePr>
          <p:cNvPr id="1800" name="Google Shape;1800;g3af26c9a56b_0_0"/>
          <p:cNvGraphicFramePr/>
          <p:nvPr/>
        </p:nvGraphicFramePr>
        <p:xfrm>
          <a:off x="1279815" y="4748842"/>
          <a:ext cx="3000000" cy="3000000"/>
        </p:xfrm>
        <a:graphic>
          <a:graphicData uri="http://schemas.openxmlformats.org/drawingml/2006/table">
            <a:tbl>
              <a:tblPr>
                <a:noFill/>
                <a:tableStyleId>{EC67A452-83CC-4573-9EBC-7A23179EE2BC}</a:tableStyleId>
              </a:tblPr>
              <a:tblGrid>
                <a:gridCol w="1525700"/>
                <a:gridCol w="1525700"/>
                <a:gridCol w="1525700"/>
              </a:tblGrid>
              <a:tr h="381000">
                <a:tc>
                  <a:txBody>
                    <a:bodyPr/>
                    <a:lstStyle/>
                    <a:p>
                      <a:pPr indent="0" lvl="0" marL="0" rtl="0" algn="l">
                        <a:spcBef>
                          <a:spcPts val="0"/>
                        </a:spcBef>
                        <a:spcAft>
                          <a:spcPts val="0"/>
                        </a:spcAft>
                        <a:buNone/>
                      </a:pPr>
                      <a:r>
                        <a:rPr b="1" lang="en-US" sz="1100">
                          <a:solidFill>
                            <a:srgbClr val="24314F"/>
                          </a:solidFill>
                        </a:rPr>
                        <a:t>Thinker</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Perception and Reasoning</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Processes multimodal inputs and generates the output</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Talker </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Speech Synthesis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Takes the Thinkers generated text and produces the output audio</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801" name="Google Shape;1801;g3af26c9a56b_0_0"/>
          <p:cNvSpPr txBox="1"/>
          <p:nvPr/>
        </p:nvSpPr>
        <p:spPr>
          <a:xfrm>
            <a:off x="685795" y="1211451"/>
            <a:ext cx="3863100" cy="1848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200" u="sng">
                <a:solidFill>
                  <a:schemeClr val="hlink"/>
                </a:solidFill>
                <a:latin typeface="Inter"/>
                <a:ea typeface="Inter"/>
                <a:cs typeface="Inter"/>
                <a:sym typeface="Inter"/>
                <a:hlinkClick r:id="rId4"/>
              </a:rPr>
              <a:t>https://github.com/QwenLM/Qwen2.5-Omni</a:t>
            </a:r>
            <a:r>
              <a:rPr b="1" lang="en-US" sz="1200">
                <a:solidFill>
                  <a:srgbClr val="24314F"/>
                </a:solidFill>
                <a:latin typeface="Inter"/>
                <a:ea typeface="Inter"/>
                <a:cs typeface="Inter"/>
                <a:sym typeface="Inter"/>
              </a:rPr>
              <a:t> </a:t>
            </a:r>
            <a:endParaRPr b="1" sz="1200">
              <a:solidFill>
                <a:srgbClr val="24314F"/>
              </a:solidFill>
              <a:latin typeface="Inter"/>
              <a:ea typeface="Inter"/>
              <a:cs typeface="Inter"/>
              <a:sym typeface="Inte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grpSp>
        <p:nvGrpSpPr>
          <p:cNvPr id="1806" name="Google Shape;1806;g3af26c9a56b_0_24"/>
          <p:cNvGrpSpPr/>
          <p:nvPr/>
        </p:nvGrpSpPr>
        <p:grpSpPr>
          <a:xfrm>
            <a:off x="685800" y="1838306"/>
            <a:ext cx="10820186" cy="5020055"/>
            <a:chOff x="0" y="-47625"/>
            <a:chExt cx="4274726" cy="2214600"/>
          </a:xfrm>
        </p:grpSpPr>
        <p:sp>
          <p:nvSpPr>
            <p:cNvPr id="1807" name="Google Shape;1807;g3af26c9a56b_0_2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08" name="Google Shape;1808;g3af26c9a56b_0_2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09" name="Google Shape;1809;g3af26c9a56b_0_24"/>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GPU Multiplexing Strategy ("Splitwiser")</a:t>
            </a:r>
            <a:endParaRPr sz="1200"/>
          </a:p>
        </p:txBody>
      </p:sp>
      <p:grpSp>
        <p:nvGrpSpPr>
          <p:cNvPr id="1810" name="Google Shape;1810;g3af26c9a56b_0_24"/>
          <p:cNvGrpSpPr/>
          <p:nvPr/>
        </p:nvGrpSpPr>
        <p:grpSpPr>
          <a:xfrm>
            <a:off x="1083726" y="2187775"/>
            <a:ext cx="4969265" cy="4370216"/>
            <a:chOff x="0" y="-47625"/>
            <a:chExt cx="1808189" cy="1538700"/>
          </a:xfrm>
        </p:grpSpPr>
        <p:sp>
          <p:nvSpPr>
            <p:cNvPr id="1811" name="Google Shape;1811;g3af26c9a56b_0_24"/>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12" name="Google Shape;1812;g3af26c9a56b_0_24"/>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813" name="Google Shape;1813;g3af26c9a56b_0_24"/>
          <p:cNvGrpSpPr/>
          <p:nvPr/>
        </p:nvGrpSpPr>
        <p:grpSpPr>
          <a:xfrm>
            <a:off x="6260350" y="2187776"/>
            <a:ext cx="4577069" cy="4370187"/>
            <a:chOff x="0" y="-47625"/>
            <a:chExt cx="1808189" cy="1790400"/>
          </a:xfrm>
        </p:grpSpPr>
        <p:sp>
          <p:nvSpPr>
            <p:cNvPr id="1814" name="Google Shape;1814;g3af26c9a56b_0_2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15" name="Google Shape;1815;g3af26c9a56b_0_2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16" name="Google Shape;1816;g3af26c9a56b_0_24"/>
          <p:cNvSpPr txBox="1"/>
          <p:nvPr/>
        </p:nvSpPr>
        <p:spPr>
          <a:xfrm>
            <a:off x="6617254" y="2517633"/>
            <a:ext cx="3863100" cy="38382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Splitwiser Methodology Phase Splitting:</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Splitwiser </a:t>
            </a:r>
            <a:r>
              <a:rPr b="1" lang="en-US" sz="1133">
                <a:solidFill>
                  <a:srgbClr val="24314F"/>
                </a:solidFill>
                <a:latin typeface="Inter"/>
                <a:ea typeface="Inter"/>
                <a:cs typeface="Inter"/>
                <a:sym typeface="Inter"/>
              </a:rPr>
              <a:t>achievers</a:t>
            </a:r>
            <a:r>
              <a:rPr b="1" lang="en-US" sz="1133">
                <a:solidFill>
                  <a:srgbClr val="24314F"/>
                </a:solidFill>
                <a:latin typeface="Inter"/>
                <a:ea typeface="Inter"/>
                <a:cs typeface="Inter"/>
                <a:sym typeface="Inter"/>
              </a:rPr>
              <a:t> better utilization by focusing on how the inference phases are managed on hardware.</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Splitwiser splits 2 phases of an LLM inference request onto the same GPU</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The design uses a multiprocessing approach </a:t>
            </a:r>
            <a:r>
              <a:rPr b="1" lang="en-US" sz="1133">
                <a:solidFill>
                  <a:srgbClr val="24314F"/>
                </a:solidFill>
                <a:latin typeface="Inter"/>
                <a:ea typeface="Inter"/>
                <a:cs typeface="Inter"/>
                <a:sym typeface="Inter"/>
              </a:rPr>
              <a:t>often</a:t>
            </a:r>
            <a:r>
              <a:rPr b="1" lang="en-US" sz="1133">
                <a:solidFill>
                  <a:srgbClr val="24314F"/>
                </a:solidFill>
                <a:latin typeface="Inter"/>
                <a:ea typeface="Inter"/>
                <a:cs typeface="Inter"/>
                <a:sym typeface="Inter"/>
              </a:rPr>
              <a:t> leveraging NVIDIA MPS to run concurrent inference requeests on a single physical device.</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By running 2 LLM instances it interleaves the high compute demand of one prefill phase with low-compute,high memory demand of another request decode phase.</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The primary objective is to enhance efficiency by optimizing resource access</a:t>
            </a:r>
            <a:endParaRPr b="1" sz="1133">
              <a:solidFill>
                <a:srgbClr val="24314F"/>
              </a:solidFill>
              <a:latin typeface="Inter"/>
              <a:ea typeface="Inter"/>
              <a:cs typeface="Inter"/>
              <a:sym typeface="Inter"/>
            </a:endParaRPr>
          </a:p>
        </p:txBody>
      </p:sp>
      <p:sp>
        <p:nvSpPr>
          <p:cNvPr id="1817" name="Google Shape;1817;g3af26c9a56b_0_24"/>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graphicFrame>
        <p:nvGraphicFramePr>
          <p:cNvPr id="1818" name="Google Shape;1818;g3af26c9a56b_0_24"/>
          <p:cNvGraphicFramePr/>
          <p:nvPr/>
        </p:nvGraphicFramePr>
        <p:xfrm>
          <a:off x="1279815" y="4877063"/>
          <a:ext cx="3000000" cy="3000000"/>
        </p:xfrm>
        <a:graphic>
          <a:graphicData uri="http://schemas.openxmlformats.org/drawingml/2006/table">
            <a:tbl>
              <a:tblPr>
                <a:noFill/>
                <a:tableStyleId>{EC67A452-83CC-4573-9EBC-7A23179EE2BC}</a:tableStyleId>
              </a:tblPr>
              <a:tblGrid>
                <a:gridCol w="1525700"/>
                <a:gridCol w="1525700"/>
                <a:gridCol w="1525700"/>
              </a:tblGrid>
              <a:tr h="381000">
                <a:tc>
                  <a:txBody>
                    <a:bodyPr/>
                    <a:lstStyle/>
                    <a:p>
                      <a:pPr indent="0" lvl="0" marL="0" rtl="0" algn="l">
                        <a:spcBef>
                          <a:spcPts val="0"/>
                        </a:spcBef>
                        <a:spcAft>
                          <a:spcPts val="0"/>
                        </a:spcAft>
                        <a:buNone/>
                      </a:pPr>
                      <a:r>
                        <a:rPr b="1" lang="en-US" sz="1100">
                          <a:solidFill>
                            <a:srgbClr val="24314F"/>
                          </a:solidFill>
                        </a:rPr>
                        <a:t>Prefill/Audio Encode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Compute Heavy</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Prompt computation is highly compute-intensive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Decode/Token generation</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Memory Heavy</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Token generation is  is </a:t>
                      </a:r>
                      <a:r>
                        <a:rPr b="1" lang="en-US" sz="1100">
                          <a:solidFill>
                            <a:srgbClr val="24314F"/>
                          </a:solidFill>
                        </a:rPr>
                        <a:t>memory</a:t>
                      </a:r>
                      <a:r>
                        <a:rPr b="1" lang="en-US" sz="1100">
                          <a:solidFill>
                            <a:srgbClr val="24314F"/>
                          </a:solidFill>
                        </a:rPr>
                        <a:t>-intensive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819" name="Google Shape;1819;g3af26c9a56b_0_24"/>
          <p:cNvPicPr preferRelativeResize="0"/>
          <p:nvPr/>
        </p:nvPicPr>
        <p:blipFill>
          <a:blip r:embed="rId3">
            <a:alphaModFix/>
          </a:blip>
          <a:stretch>
            <a:fillRect/>
          </a:stretch>
        </p:blipFill>
        <p:spPr>
          <a:xfrm>
            <a:off x="1279825" y="2407926"/>
            <a:ext cx="4577075" cy="1812506"/>
          </a:xfrm>
          <a:prstGeom prst="rect">
            <a:avLst/>
          </a:prstGeom>
          <a:noFill/>
          <a:ln>
            <a:noFill/>
          </a:ln>
        </p:spPr>
      </p:pic>
      <p:sp>
        <p:nvSpPr>
          <p:cNvPr id="1820" name="Google Shape;1820;g3af26c9a56b_0_24"/>
          <p:cNvSpPr txBox="1"/>
          <p:nvPr/>
        </p:nvSpPr>
        <p:spPr>
          <a:xfrm>
            <a:off x="685802" y="1211450"/>
            <a:ext cx="5574600" cy="4434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200" u="sng">
                <a:solidFill>
                  <a:schemeClr val="hlink"/>
                </a:solidFill>
                <a:latin typeface="Inter"/>
                <a:ea typeface="Inter"/>
                <a:cs typeface="Inter"/>
                <a:sym typeface="Inter"/>
                <a:hlinkClick r:id="rId4"/>
              </a:rPr>
              <a:t>https://github.com/asad-aali/splitwiser?tab=readme-ov-file</a:t>
            </a:r>
            <a:r>
              <a:rPr b="1" lang="en-US" sz="1200">
                <a:solidFill>
                  <a:srgbClr val="24314F"/>
                </a:solidFill>
                <a:latin typeface="Inter"/>
                <a:ea typeface="Inter"/>
                <a:cs typeface="Inter"/>
                <a:sym typeface="Inter"/>
              </a:rPr>
              <a:t> </a:t>
            </a:r>
            <a:endParaRPr b="1" sz="1200">
              <a:solidFill>
                <a:srgbClr val="24314F"/>
              </a:solidFill>
              <a:latin typeface="Inter"/>
              <a:ea typeface="Inter"/>
              <a:cs typeface="Inter"/>
              <a:sym typeface="Inter"/>
            </a:endParaRPr>
          </a:p>
          <a:p>
            <a:pPr indent="0" lvl="0" marL="0" marR="0" rtl="0" algn="l">
              <a:lnSpc>
                <a:spcPct val="140060"/>
              </a:lnSpc>
              <a:spcBef>
                <a:spcPts val="0"/>
              </a:spcBef>
              <a:spcAft>
                <a:spcPts val="0"/>
              </a:spcAft>
              <a:buNone/>
            </a:pPr>
            <a:r>
              <a:rPr b="1" lang="en-US" sz="1200" u="sng">
                <a:solidFill>
                  <a:schemeClr val="hlink"/>
                </a:solidFill>
                <a:latin typeface="Inter"/>
                <a:ea typeface="Inter"/>
                <a:cs typeface="Inter"/>
                <a:sym typeface="Inter"/>
                <a:hlinkClick r:id="rId5"/>
              </a:rPr>
              <a:t>https://www.arxiv.org/pdf/2505.03763</a:t>
            </a:r>
            <a:r>
              <a:rPr b="1" lang="en-US" sz="1200">
                <a:solidFill>
                  <a:srgbClr val="24314F"/>
                </a:solidFill>
                <a:latin typeface="Inter"/>
                <a:ea typeface="Inter"/>
                <a:cs typeface="Inter"/>
                <a:sym typeface="Inter"/>
              </a:rPr>
              <a:t> </a:t>
            </a:r>
            <a:endParaRPr b="1" sz="1200">
              <a:solidFill>
                <a:srgbClr val="24314F"/>
              </a:solidFill>
              <a:latin typeface="Inter"/>
              <a:ea typeface="Inter"/>
              <a:cs typeface="Inter"/>
              <a:sym typeface="Inter"/>
            </a:endParaRPr>
          </a:p>
        </p:txBody>
      </p:sp>
      <p:sp>
        <p:nvSpPr>
          <p:cNvPr id="1821" name="Google Shape;1821;g3af26c9a56b_0_24"/>
          <p:cNvSpPr txBox="1"/>
          <p:nvPr/>
        </p:nvSpPr>
        <p:spPr>
          <a:xfrm>
            <a:off x="1279824" y="4366975"/>
            <a:ext cx="4577100" cy="418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LLM inference alternates between two distinct, resource-constrained phases, leading to poor GPU utilization:</a:t>
            </a:r>
            <a:endParaRPr b="1" sz="1133">
              <a:solidFill>
                <a:srgbClr val="24314F"/>
              </a:solidFill>
              <a:latin typeface="Inter"/>
              <a:ea typeface="Inter"/>
              <a:cs typeface="Inter"/>
              <a:sym typeface="Inte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grpSp>
        <p:nvGrpSpPr>
          <p:cNvPr id="1826" name="Google Shape;1826;g3af26c9a56b_0_49"/>
          <p:cNvGrpSpPr/>
          <p:nvPr/>
        </p:nvGrpSpPr>
        <p:grpSpPr>
          <a:xfrm>
            <a:off x="685800" y="1838306"/>
            <a:ext cx="10820186" cy="5020055"/>
            <a:chOff x="0" y="-47625"/>
            <a:chExt cx="4274726" cy="2214600"/>
          </a:xfrm>
        </p:grpSpPr>
        <p:sp>
          <p:nvSpPr>
            <p:cNvPr id="1827" name="Google Shape;1827;g3af26c9a56b_0_4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28" name="Google Shape;1828;g3af26c9a56b_0_4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29" name="Google Shape;1829;g3af26c9a56b_0_49"/>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Noisy Neighbour Problem</a:t>
            </a:r>
            <a:endParaRPr sz="1200"/>
          </a:p>
        </p:txBody>
      </p:sp>
      <p:grpSp>
        <p:nvGrpSpPr>
          <p:cNvPr id="1830" name="Google Shape;1830;g3af26c9a56b_0_49"/>
          <p:cNvGrpSpPr/>
          <p:nvPr/>
        </p:nvGrpSpPr>
        <p:grpSpPr>
          <a:xfrm>
            <a:off x="1083726" y="2187775"/>
            <a:ext cx="4969265" cy="4370216"/>
            <a:chOff x="0" y="-47625"/>
            <a:chExt cx="1808189" cy="1538700"/>
          </a:xfrm>
        </p:grpSpPr>
        <p:sp>
          <p:nvSpPr>
            <p:cNvPr id="1831" name="Google Shape;1831;g3af26c9a56b_0_49"/>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32" name="Google Shape;1832;g3af26c9a56b_0_49"/>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833" name="Google Shape;1833;g3af26c9a56b_0_49"/>
          <p:cNvGrpSpPr/>
          <p:nvPr/>
        </p:nvGrpSpPr>
        <p:grpSpPr>
          <a:xfrm>
            <a:off x="6260350" y="2187776"/>
            <a:ext cx="4577069" cy="4370187"/>
            <a:chOff x="0" y="-47625"/>
            <a:chExt cx="1808189" cy="1790400"/>
          </a:xfrm>
        </p:grpSpPr>
        <p:sp>
          <p:nvSpPr>
            <p:cNvPr id="1834" name="Google Shape;1834;g3af26c9a56b_0_49"/>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35" name="Google Shape;1835;g3af26c9a56b_0_49"/>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36" name="Google Shape;1836;g3af26c9a56b_0_49"/>
          <p:cNvSpPr txBox="1"/>
          <p:nvPr/>
        </p:nvSpPr>
        <p:spPr>
          <a:xfrm>
            <a:off x="6617329" y="5190758"/>
            <a:ext cx="3863100" cy="9072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Orion is a software system proposed as a fine-grained, interference-aware GPU scheduler designed to maintain high performance for high-priority workloads while maximizing utilization using spare capacity</a:t>
            </a:r>
            <a:endParaRPr b="1" sz="1133">
              <a:solidFill>
                <a:srgbClr val="24314F"/>
              </a:solidFill>
              <a:latin typeface="Inter"/>
              <a:ea typeface="Inter"/>
              <a:cs typeface="Inter"/>
              <a:sym typeface="Inter"/>
            </a:endParaRPr>
          </a:p>
        </p:txBody>
      </p:sp>
      <p:sp>
        <p:nvSpPr>
          <p:cNvPr id="1837" name="Google Shape;1837;g3af26c9a56b_0_49"/>
          <p:cNvSpPr txBox="1"/>
          <p:nvPr/>
        </p:nvSpPr>
        <p:spPr>
          <a:xfrm>
            <a:off x="7658895" y="654051"/>
            <a:ext cx="3863100" cy="184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t/>
            </a:r>
            <a:endParaRPr b="1" sz="1200">
              <a:solidFill>
                <a:srgbClr val="24314F"/>
              </a:solidFill>
              <a:latin typeface="Inter"/>
              <a:ea typeface="Inter"/>
              <a:cs typeface="Inter"/>
              <a:sym typeface="Inter"/>
            </a:endParaRPr>
          </a:p>
        </p:txBody>
      </p:sp>
      <p:graphicFrame>
        <p:nvGraphicFramePr>
          <p:cNvPr id="1838" name="Google Shape;1838;g3af26c9a56b_0_49"/>
          <p:cNvGraphicFramePr/>
          <p:nvPr/>
        </p:nvGraphicFramePr>
        <p:xfrm>
          <a:off x="1279815" y="3873088"/>
          <a:ext cx="3000000" cy="3000000"/>
        </p:xfrm>
        <a:graphic>
          <a:graphicData uri="http://schemas.openxmlformats.org/drawingml/2006/table">
            <a:tbl>
              <a:tblPr>
                <a:noFill/>
                <a:tableStyleId>{EC67A452-83CC-4573-9EBC-7A23179EE2BC}</a:tableStyleId>
              </a:tblPr>
              <a:tblGrid>
                <a:gridCol w="2288550"/>
                <a:gridCol w="2288550"/>
              </a:tblGrid>
              <a:tr h="381000">
                <a:tc>
                  <a:txBody>
                    <a:bodyPr/>
                    <a:lstStyle/>
                    <a:p>
                      <a:pPr indent="0" lvl="0" marL="0" rtl="0" algn="l">
                        <a:spcBef>
                          <a:spcPts val="0"/>
                        </a:spcBef>
                        <a:spcAft>
                          <a:spcPts val="0"/>
                        </a:spcAft>
                        <a:buNone/>
                      </a:pPr>
                      <a:r>
                        <a:rPr b="1" lang="en-US" sz="1050">
                          <a:solidFill>
                            <a:srgbClr val="303030"/>
                          </a:solidFill>
                          <a:highlight>
                            <a:srgbClr val="FFFFFF"/>
                          </a:highlight>
                        </a:rPr>
                        <a:t>Problem</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Deep Neural Network (DNN) workloads exhibit highly bursty and low average GPU utilization because individual operators often saturate only one resource (compute or memory bandwidth), leaving the other idle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Latency Spike Cause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Traditional sharing methods fail to be sufficiently fine-grained or interference-aware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839" name="Google Shape;1839;g3af26c9a56b_0_49"/>
          <p:cNvSpPr txBox="1"/>
          <p:nvPr/>
        </p:nvSpPr>
        <p:spPr>
          <a:xfrm>
            <a:off x="685802" y="1211450"/>
            <a:ext cx="5574600" cy="184800"/>
          </a:xfrm>
          <a:prstGeom prst="rect">
            <a:avLst/>
          </a:prstGeom>
          <a:noFill/>
          <a:ln>
            <a:noFill/>
          </a:ln>
        </p:spPr>
        <p:txBody>
          <a:bodyPr anchorCtr="0" anchor="t" bIns="0" lIns="0" spcFirstLastPara="1" rIns="0" wrap="square" tIns="0">
            <a:spAutoFit/>
          </a:bodyPr>
          <a:lstStyle/>
          <a:p>
            <a:pPr indent="0" lvl="0" marL="0" marR="0" rtl="0" algn="l">
              <a:lnSpc>
                <a:spcPct val="140060"/>
              </a:lnSpc>
              <a:spcBef>
                <a:spcPts val="0"/>
              </a:spcBef>
              <a:spcAft>
                <a:spcPts val="0"/>
              </a:spcAft>
              <a:buNone/>
            </a:pPr>
            <a:r>
              <a:rPr b="1" lang="en-US" sz="1200" u="sng">
                <a:solidFill>
                  <a:schemeClr val="hlink"/>
                </a:solidFill>
                <a:latin typeface="Inter"/>
                <a:ea typeface="Inter"/>
                <a:cs typeface="Inter"/>
                <a:sym typeface="Inter"/>
                <a:hlinkClick r:id="rId3"/>
              </a:rPr>
              <a:t>https://anakli.inf.ethz.ch/papers/orion_eurosys24.pdf</a:t>
            </a:r>
            <a:r>
              <a:rPr b="1" lang="en-US" sz="1200">
                <a:solidFill>
                  <a:srgbClr val="24314F"/>
                </a:solidFill>
                <a:latin typeface="Inter"/>
                <a:ea typeface="Inter"/>
                <a:cs typeface="Inter"/>
                <a:sym typeface="Inter"/>
              </a:rPr>
              <a:t> </a:t>
            </a:r>
            <a:endParaRPr b="1" sz="1200">
              <a:solidFill>
                <a:srgbClr val="24314F"/>
              </a:solidFill>
              <a:latin typeface="Inter"/>
              <a:ea typeface="Inter"/>
              <a:cs typeface="Inter"/>
              <a:sym typeface="Inter"/>
            </a:endParaRPr>
          </a:p>
        </p:txBody>
      </p:sp>
      <p:sp>
        <p:nvSpPr>
          <p:cNvPr id="1840" name="Google Shape;1840;g3af26c9a56b_0_49"/>
          <p:cNvSpPr txBox="1"/>
          <p:nvPr/>
        </p:nvSpPr>
        <p:spPr>
          <a:xfrm>
            <a:off x="1353099" y="2560963"/>
            <a:ext cx="4577100" cy="11514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The Problem :</a:t>
            </a:r>
            <a:endParaRPr b="1" sz="1133">
              <a:solidFill>
                <a:srgbClr val="24314F"/>
              </a:solidFill>
              <a:latin typeface="Inter"/>
              <a:ea typeface="Inter"/>
              <a:cs typeface="Inter"/>
              <a:sym typeface="Inter"/>
            </a:endParaRPr>
          </a:p>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When multiple models (e.g., a real-time audio encoder and a best-effort decoder) share a single GPU using spatial sharing techniques like NVIDIA MPS, they compete aggressively for resources</a:t>
            </a:r>
            <a:endParaRPr b="1" sz="1133">
              <a:solidFill>
                <a:srgbClr val="24314F"/>
              </a:solidFill>
              <a:latin typeface="Inter"/>
              <a:ea typeface="Inter"/>
              <a:cs typeface="Inter"/>
              <a:sym typeface="Inter"/>
            </a:endParaRPr>
          </a:p>
        </p:txBody>
      </p:sp>
      <p:pic>
        <p:nvPicPr>
          <p:cNvPr id="1841" name="Google Shape;1841;g3af26c9a56b_0_49"/>
          <p:cNvPicPr preferRelativeResize="0"/>
          <p:nvPr/>
        </p:nvPicPr>
        <p:blipFill>
          <a:blip r:embed="rId4">
            <a:alphaModFix/>
          </a:blip>
          <a:stretch>
            <a:fillRect/>
          </a:stretch>
        </p:blipFill>
        <p:spPr>
          <a:xfrm>
            <a:off x="6767450" y="2725825"/>
            <a:ext cx="3562865" cy="231837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g3aed78800e8_0_14"/>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 (10/12/2025)</a:t>
            </a:r>
            <a:endParaRPr sz="3400">
              <a:solidFill>
                <a:srgbClr val="FF0000"/>
              </a:solidFill>
            </a:endParaRPr>
          </a:p>
        </p:txBody>
      </p:sp>
      <p:sp>
        <p:nvSpPr>
          <p:cNvPr id="1848" name="Google Shape;1848;g3aed78800e8_0_14"/>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Run vLLM with Audio</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If there are existing benchmarks run them to access feasibility of GPU multiplexing</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Explore workflows for audio and text multimodal input and implement them on vLLM</a:t>
            </a:r>
            <a:endParaRPr sz="2900">
              <a:solidFill>
                <a:schemeClr val="dk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g39b98479d51_0_26"/>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latin typeface="Verdana"/>
                <a:ea typeface="Verdana"/>
                <a:cs typeface="Verdana"/>
                <a:sym typeface="Verdana"/>
              </a:rPr>
              <a:t>Next Steps (2025/10/30)</a:t>
            </a:r>
            <a:endParaRPr sz="3400">
              <a:solidFill>
                <a:srgbClr val="FF0000"/>
              </a:solidFill>
              <a:latin typeface="Verdana"/>
              <a:ea typeface="Verdana"/>
              <a:cs typeface="Verdana"/>
              <a:sym typeface="Verdana"/>
            </a:endParaRPr>
          </a:p>
        </p:txBody>
      </p:sp>
      <p:sp>
        <p:nvSpPr>
          <p:cNvPr id="1855" name="Google Shape;1855;g39b98479d51_0_26"/>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374650" lvl="0" marL="457200" rtl="0" algn="l">
              <a:lnSpc>
                <a:spcPct val="150000"/>
              </a:lnSpc>
              <a:spcBef>
                <a:spcPts val="0"/>
              </a:spcBef>
              <a:spcAft>
                <a:spcPts val="0"/>
              </a:spcAft>
              <a:buClr>
                <a:schemeClr val="dk1"/>
              </a:buClr>
              <a:buSzPts val="2300"/>
              <a:buFont typeface="Verdana"/>
              <a:buChar char="●"/>
            </a:pPr>
            <a:r>
              <a:rPr lang="en-US" sz="2300">
                <a:solidFill>
                  <a:schemeClr val="dk1"/>
                </a:solidFill>
                <a:latin typeface="Verdana"/>
                <a:ea typeface="Verdana"/>
                <a:cs typeface="Verdana"/>
                <a:sym typeface="Verdana"/>
              </a:rPr>
              <a:t>Write a </a:t>
            </a:r>
            <a:r>
              <a:rPr lang="en-US" sz="2300">
                <a:solidFill>
                  <a:schemeClr val="dk1"/>
                </a:solidFill>
                <a:latin typeface="Verdana"/>
                <a:ea typeface="Verdana"/>
                <a:cs typeface="Verdana"/>
                <a:sym typeface="Verdana"/>
              </a:rPr>
              <a:t>guidance: How to use container to run tasks in the NSCC cluster</a:t>
            </a:r>
            <a:endParaRPr sz="2300">
              <a:solidFill>
                <a:schemeClr val="dk1"/>
              </a:solidFill>
              <a:latin typeface="Verdana"/>
              <a:ea typeface="Verdana"/>
              <a:cs typeface="Verdana"/>
              <a:sym typeface="Verdana"/>
            </a:endParaRPr>
          </a:p>
          <a:p>
            <a:pPr indent="-374650" lvl="0" marL="457200" rtl="0" algn="l">
              <a:lnSpc>
                <a:spcPct val="150000"/>
              </a:lnSpc>
              <a:spcBef>
                <a:spcPts val="0"/>
              </a:spcBef>
              <a:spcAft>
                <a:spcPts val="0"/>
              </a:spcAft>
              <a:buClr>
                <a:schemeClr val="dk1"/>
              </a:buClr>
              <a:buSzPts val="2300"/>
              <a:buFont typeface="Verdana"/>
              <a:buChar char="●"/>
            </a:pPr>
            <a:r>
              <a:rPr lang="en-US" sz="2300">
                <a:solidFill>
                  <a:schemeClr val="dk1"/>
                </a:solidFill>
                <a:latin typeface="Verdana"/>
                <a:ea typeface="Verdana"/>
                <a:cs typeface="Verdana"/>
                <a:sym typeface="Verdana"/>
              </a:rPr>
              <a:t>Select VQA workflows candidates</a:t>
            </a:r>
            <a:endParaRPr sz="2300">
              <a:solidFill>
                <a:schemeClr val="dk1"/>
              </a:solidFill>
              <a:latin typeface="Verdana"/>
              <a:ea typeface="Verdana"/>
              <a:cs typeface="Verdana"/>
              <a:sym typeface="Verdana"/>
            </a:endParaRPr>
          </a:p>
          <a:p>
            <a:pPr indent="-355600" lvl="1" marL="914400" rtl="0" algn="l">
              <a:lnSpc>
                <a:spcPct val="150000"/>
              </a:lnSpc>
              <a:spcBef>
                <a:spcPts val="0"/>
              </a:spcBef>
              <a:spcAft>
                <a:spcPts val="0"/>
              </a:spcAft>
              <a:buClr>
                <a:schemeClr val="dk1"/>
              </a:buClr>
              <a:buSzPts val="2000"/>
              <a:buFont typeface="Verdana"/>
              <a:buChar char="○"/>
            </a:pPr>
            <a:r>
              <a:rPr lang="en-US" sz="2000">
                <a:solidFill>
                  <a:schemeClr val="dk1"/>
                </a:solidFill>
                <a:latin typeface="Verdana"/>
                <a:ea typeface="Verdana"/>
                <a:cs typeface="Verdana"/>
                <a:sym typeface="Verdana"/>
              </a:rPr>
              <a:t>VIVA: An End-to-End System for Interactive Video Analytics</a:t>
            </a:r>
            <a:endParaRPr sz="2000">
              <a:solidFill>
                <a:schemeClr val="dk1"/>
              </a:solidFill>
              <a:latin typeface="Verdana"/>
              <a:ea typeface="Verdana"/>
              <a:cs typeface="Verdana"/>
              <a:sym typeface="Verdana"/>
            </a:endParaRPr>
          </a:p>
          <a:p>
            <a:pPr indent="-355600" lvl="1" marL="914400" rtl="0" algn="l">
              <a:lnSpc>
                <a:spcPct val="150000"/>
              </a:lnSpc>
              <a:spcBef>
                <a:spcPts val="0"/>
              </a:spcBef>
              <a:spcAft>
                <a:spcPts val="0"/>
              </a:spcAft>
              <a:buClr>
                <a:schemeClr val="dk1"/>
              </a:buClr>
              <a:buSzPts val="2000"/>
              <a:buFont typeface="Verdana"/>
              <a:buChar char="○"/>
            </a:pPr>
            <a:r>
              <a:rPr lang="en-US" sz="2000">
                <a:solidFill>
                  <a:schemeClr val="dk1"/>
                </a:solidFill>
                <a:latin typeface="Verdana"/>
                <a:ea typeface="Verdana"/>
                <a:cs typeface="Verdana"/>
                <a:sym typeface="Verdana"/>
              </a:rPr>
              <a:t>MMMU: A Massive Multi-discipline Multimodal Understanding and Reasoning Benchmark for Expert AGI</a:t>
            </a:r>
            <a:endParaRPr sz="2900">
              <a:solidFill>
                <a:schemeClr val="dk1"/>
              </a:solidFill>
              <a:latin typeface="Verdana"/>
              <a:ea typeface="Verdana"/>
              <a:cs typeface="Verdana"/>
              <a:sym typeface="Verdana"/>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grpSp>
        <p:nvGrpSpPr>
          <p:cNvPr id="1860" name="Google Shape;1860;g39edeb6686d_0_0"/>
          <p:cNvGrpSpPr/>
          <p:nvPr/>
        </p:nvGrpSpPr>
        <p:grpSpPr>
          <a:xfrm>
            <a:off x="685800" y="1838306"/>
            <a:ext cx="10820186" cy="5020055"/>
            <a:chOff x="0" y="-47625"/>
            <a:chExt cx="4274726" cy="2214600"/>
          </a:xfrm>
        </p:grpSpPr>
        <p:sp>
          <p:nvSpPr>
            <p:cNvPr id="1861" name="Google Shape;1861;g39edeb6686d_0_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62" name="Google Shape;1862;g39edeb6686d_0_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63" name="Google Shape;1863;g39edeb6686d_0_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What components does VIVA use?</a:t>
            </a:r>
            <a:endParaRPr b="1" sz="2800">
              <a:solidFill>
                <a:srgbClr val="24314F"/>
              </a:solidFill>
              <a:latin typeface="Arial"/>
              <a:ea typeface="Arial"/>
              <a:cs typeface="Arial"/>
              <a:sym typeface="Arial"/>
            </a:endParaRPr>
          </a:p>
        </p:txBody>
      </p:sp>
      <p:grpSp>
        <p:nvGrpSpPr>
          <p:cNvPr id="1864" name="Google Shape;1864;g39edeb6686d_0_0"/>
          <p:cNvGrpSpPr/>
          <p:nvPr/>
        </p:nvGrpSpPr>
        <p:grpSpPr>
          <a:xfrm>
            <a:off x="1072702" y="2124675"/>
            <a:ext cx="3736261" cy="4552090"/>
            <a:chOff x="0" y="-47625"/>
            <a:chExt cx="1808189" cy="1538700"/>
          </a:xfrm>
        </p:grpSpPr>
        <p:sp>
          <p:nvSpPr>
            <p:cNvPr id="1865" name="Google Shape;1865;g39edeb6686d_0_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66" name="Google Shape;1866;g39edeb6686d_0_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1867" name="Google Shape;1867;g39edeb6686d_0_0"/>
          <p:cNvGrpSpPr/>
          <p:nvPr/>
        </p:nvGrpSpPr>
        <p:grpSpPr>
          <a:xfrm>
            <a:off x="5079227" y="2187775"/>
            <a:ext cx="6148204" cy="4532040"/>
            <a:chOff x="0" y="-47625"/>
            <a:chExt cx="1808189" cy="1790400"/>
          </a:xfrm>
        </p:grpSpPr>
        <p:sp>
          <p:nvSpPr>
            <p:cNvPr id="1868" name="Google Shape;1868;g39edeb6686d_0_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69" name="Google Shape;1869;g39edeb6686d_0_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70" name="Google Shape;1870;g39edeb6686d_0_0"/>
          <p:cNvSpPr txBox="1"/>
          <p:nvPr/>
        </p:nvSpPr>
        <p:spPr>
          <a:xfrm>
            <a:off x="685778" y="1241275"/>
            <a:ext cx="10820100" cy="663000"/>
          </a:xfrm>
          <a:prstGeom prst="rect">
            <a:avLst/>
          </a:prstGeom>
          <a:noFill/>
          <a:ln>
            <a:noFill/>
          </a:ln>
        </p:spPr>
        <p:txBody>
          <a:bodyPr anchorCtr="0" anchor="t" bIns="0" lIns="0" spcFirstLastPara="1" rIns="0" wrap="square" tIns="0">
            <a:spAutoFit/>
          </a:bodyPr>
          <a:lstStyle/>
          <a:p>
            <a:pPr indent="0" lvl="2"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But first what is VIVA?</a:t>
            </a:r>
            <a:endParaRPr b="1" sz="1133">
              <a:solidFill>
                <a:srgbClr val="24314F"/>
              </a:solidFill>
              <a:latin typeface="Inter"/>
              <a:ea typeface="Inter"/>
              <a:cs typeface="Inter"/>
              <a:sym typeface="Inter"/>
            </a:endParaRPr>
          </a:p>
          <a:p>
            <a:pPr indent="0" lvl="2"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VIVA is an end-to-end system for interactive video analytics (IVA).Its </a:t>
            </a:r>
            <a:r>
              <a:rPr b="1" lang="en-US" sz="1133">
                <a:solidFill>
                  <a:srgbClr val="24314F"/>
                </a:solidFill>
                <a:latin typeface="Inter"/>
                <a:ea typeface="Inter"/>
                <a:cs typeface="Inter"/>
                <a:sym typeface="Inter"/>
              </a:rPr>
              <a:t>architecture</a:t>
            </a:r>
            <a:r>
              <a:rPr b="1" lang="en-US" sz="1133">
                <a:solidFill>
                  <a:srgbClr val="24314F"/>
                </a:solidFill>
                <a:latin typeface="Inter"/>
                <a:ea typeface="Inter"/>
                <a:cs typeface="Inter"/>
                <a:sym typeface="Inter"/>
              </a:rPr>
              <a:t> is built upon components typically found in data analytic systems. It contains 5 main components designed to address challenges specifying domain knowledge.</a:t>
            </a:r>
            <a:endParaRPr b="1" sz="1133">
              <a:solidFill>
                <a:srgbClr val="24314F"/>
              </a:solidFill>
              <a:latin typeface="Inter"/>
              <a:ea typeface="Inter"/>
              <a:cs typeface="Inter"/>
              <a:sym typeface="Inter"/>
            </a:endParaRPr>
          </a:p>
        </p:txBody>
      </p:sp>
      <p:pic>
        <p:nvPicPr>
          <p:cNvPr id="1871" name="Google Shape;1871;g39edeb6686d_0_0"/>
          <p:cNvPicPr preferRelativeResize="0"/>
          <p:nvPr/>
        </p:nvPicPr>
        <p:blipFill>
          <a:blip r:embed="rId3">
            <a:alphaModFix/>
          </a:blip>
          <a:stretch>
            <a:fillRect/>
          </a:stretch>
        </p:blipFill>
        <p:spPr>
          <a:xfrm>
            <a:off x="1181599" y="2354925"/>
            <a:ext cx="3544301" cy="4233750"/>
          </a:xfrm>
          <a:prstGeom prst="rect">
            <a:avLst/>
          </a:prstGeom>
          <a:noFill/>
          <a:ln>
            <a:noFill/>
          </a:ln>
        </p:spPr>
      </p:pic>
      <p:graphicFrame>
        <p:nvGraphicFramePr>
          <p:cNvPr id="1872" name="Google Shape;1872;g39edeb6686d_0_0"/>
          <p:cNvGraphicFramePr/>
          <p:nvPr/>
        </p:nvGraphicFramePr>
        <p:xfrm>
          <a:off x="5259402" y="2491161"/>
          <a:ext cx="3000000" cy="3000000"/>
        </p:xfrm>
        <a:graphic>
          <a:graphicData uri="http://schemas.openxmlformats.org/drawingml/2006/table">
            <a:tbl>
              <a:tblPr>
                <a:noFill/>
                <a:tableStyleId>{EC67A452-83CC-4573-9EBC-7A23179EE2BC}</a:tableStyleId>
              </a:tblPr>
              <a:tblGrid>
                <a:gridCol w="2893925"/>
                <a:gridCol w="2893925"/>
              </a:tblGrid>
              <a:tr h="381000">
                <a:tc>
                  <a:txBody>
                    <a:bodyPr/>
                    <a:lstStyle/>
                    <a:p>
                      <a:pPr indent="0" lvl="0" marL="0" rtl="0" algn="l">
                        <a:spcBef>
                          <a:spcPts val="0"/>
                        </a:spcBef>
                        <a:spcAft>
                          <a:spcPts val="0"/>
                        </a:spcAft>
                        <a:buClr>
                          <a:schemeClr val="dk1"/>
                        </a:buClr>
                        <a:buSzPts val="1100"/>
                        <a:buFont typeface="Arial"/>
                        <a:buNone/>
                      </a:pPr>
                      <a:r>
                        <a:rPr b="1" lang="en-US" sz="1100">
                          <a:solidFill>
                            <a:srgbClr val="24314F"/>
                          </a:solidFill>
                        </a:rPr>
                        <a:t>Components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Description </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Relational Hints Explorer</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Allows users to express domain-specific relationships through relational hints.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48925">
                <a:tc>
                  <a:txBody>
                    <a:bodyPr/>
                    <a:lstStyle/>
                    <a:p>
                      <a:pPr indent="0" lvl="0" marL="0" rtl="0" algn="l">
                        <a:spcBef>
                          <a:spcPts val="0"/>
                        </a:spcBef>
                        <a:spcAft>
                          <a:spcPts val="0"/>
                        </a:spcAft>
                        <a:buClr>
                          <a:schemeClr val="dk1"/>
                        </a:buClr>
                        <a:buSzPts val="1100"/>
                        <a:buFont typeface="Arial"/>
                        <a:buNone/>
                      </a:pPr>
                      <a:r>
                        <a:rPr b="1" lang="en-US" sz="1100">
                          <a:solidFill>
                            <a:srgbClr val="24314F"/>
                          </a:solidFill>
                        </a:rPr>
                        <a:t>Mixed-data Query Optimizer</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Optimizes queries across both structured records(like structured tables&gt; outputs of previous queries) and unstructured records (like video frames)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Embedding Cache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Extends existing work on video indexing to decide which results/embeddings to store for future queries.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Video File Manager</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Its responsible for fetching </a:t>
                      </a:r>
                      <a:r>
                        <a:rPr b="1" lang="en-US" sz="1100">
                          <a:solidFill>
                            <a:srgbClr val="24314F"/>
                          </a:solidFill>
                        </a:rPr>
                        <a:t>video files from storage, decides which frames or chunks should be cached or pre-fetched and how video should be formatted.</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Accelerator-based Execution Engine</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It co-optimizes storage and query execution selecting and managing </a:t>
                      </a:r>
                      <a:r>
                        <a:rPr b="1" lang="en-US" sz="1100">
                          <a:solidFill>
                            <a:srgbClr val="24314F"/>
                          </a:solidFill>
                        </a:rPr>
                        <a:t>heterogeneous</a:t>
                      </a:r>
                      <a:r>
                        <a:rPr b="1" lang="en-US" sz="1100">
                          <a:solidFill>
                            <a:srgbClr val="24314F"/>
                          </a:solidFill>
                        </a:rPr>
                        <a:t> hardware backends that span DNN accelerators.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grpSp>
        <p:nvGrpSpPr>
          <p:cNvPr id="1877" name="Google Shape;1877;g39edeb6686d_0_15"/>
          <p:cNvGrpSpPr/>
          <p:nvPr/>
        </p:nvGrpSpPr>
        <p:grpSpPr>
          <a:xfrm>
            <a:off x="685800" y="1838306"/>
            <a:ext cx="10820186" cy="5020055"/>
            <a:chOff x="0" y="-47625"/>
            <a:chExt cx="4274726" cy="2214600"/>
          </a:xfrm>
        </p:grpSpPr>
        <p:sp>
          <p:nvSpPr>
            <p:cNvPr id="1878" name="Google Shape;1878;g39edeb6686d_0_1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79" name="Google Shape;1879;g39edeb6686d_0_1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80" name="Google Shape;1880;g39edeb6686d_0_15"/>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MMMU Paper</a:t>
            </a:r>
            <a:endParaRPr b="1" sz="2800">
              <a:solidFill>
                <a:srgbClr val="24314F"/>
              </a:solidFill>
              <a:latin typeface="Arial"/>
              <a:ea typeface="Arial"/>
              <a:cs typeface="Arial"/>
              <a:sym typeface="Arial"/>
            </a:endParaRPr>
          </a:p>
        </p:txBody>
      </p:sp>
      <p:grpSp>
        <p:nvGrpSpPr>
          <p:cNvPr id="1881" name="Google Shape;1881;g39edeb6686d_0_15"/>
          <p:cNvGrpSpPr/>
          <p:nvPr/>
        </p:nvGrpSpPr>
        <p:grpSpPr>
          <a:xfrm>
            <a:off x="979075" y="2124675"/>
            <a:ext cx="10273768" cy="4552090"/>
            <a:chOff x="0" y="-47625"/>
            <a:chExt cx="1808189" cy="1538700"/>
          </a:xfrm>
        </p:grpSpPr>
        <p:sp>
          <p:nvSpPr>
            <p:cNvPr id="1882" name="Google Shape;1882;g39edeb6686d_0_15"/>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83" name="Google Shape;1883;g39edeb6686d_0_15"/>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pic>
        <p:nvPicPr>
          <p:cNvPr id="1884" name="Google Shape;1884;g39edeb6686d_0_15"/>
          <p:cNvPicPr preferRelativeResize="0"/>
          <p:nvPr/>
        </p:nvPicPr>
        <p:blipFill>
          <a:blip r:embed="rId3">
            <a:alphaModFix/>
          </a:blip>
          <a:stretch>
            <a:fillRect/>
          </a:stretch>
        </p:blipFill>
        <p:spPr>
          <a:xfrm>
            <a:off x="1226950" y="2426025"/>
            <a:ext cx="5051458" cy="2609001"/>
          </a:xfrm>
          <a:prstGeom prst="rect">
            <a:avLst/>
          </a:prstGeom>
          <a:noFill/>
          <a:ln>
            <a:noFill/>
          </a:ln>
        </p:spPr>
      </p:pic>
      <p:sp>
        <p:nvSpPr>
          <p:cNvPr id="1885" name="Google Shape;1885;g39edeb6686d_0_15"/>
          <p:cNvSpPr txBox="1"/>
          <p:nvPr/>
        </p:nvSpPr>
        <p:spPr>
          <a:xfrm>
            <a:off x="685778" y="1241275"/>
            <a:ext cx="10820100" cy="663000"/>
          </a:xfrm>
          <a:prstGeom prst="rect">
            <a:avLst/>
          </a:prstGeom>
          <a:noFill/>
          <a:ln>
            <a:noFill/>
          </a:ln>
        </p:spPr>
        <p:txBody>
          <a:bodyPr anchorCtr="0" anchor="t" bIns="0" lIns="0" spcFirstLastPara="1" rIns="0" wrap="square" tIns="0">
            <a:spAutoFit/>
          </a:bodyPr>
          <a:lstStyle/>
          <a:p>
            <a:pPr indent="0" lvl="2"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But first what is MMMU?</a:t>
            </a:r>
            <a:endParaRPr b="1" sz="1133">
              <a:solidFill>
                <a:srgbClr val="24314F"/>
              </a:solidFill>
              <a:latin typeface="Inter"/>
              <a:ea typeface="Inter"/>
              <a:cs typeface="Inter"/>
              <a:sym typeface="Inter"/>
            </a:endParaRPr>
          </a:p>
          <a:p>
            <a:pPr indent="0" lvl="2"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MMMU is a new </a:t>
            </a:r>
            <a:r>
              <a:rPr b="1" lang="en-US" sz="1133">
                <a:solidFill>
                  <a:srgbClr val="24314F"/>
                </a:solidFill>
                <a:latin typeface="Inter"/>
                <a:ea typeface="Inter"/>
                <a:cs typeface="Inter"/>
                <a:sym typeface="Inter"/>
              </a:rPr>
              <a:t>benchmark</a:t>
            </a:r>
            <a:r>
              <a:rPr b="1" lang="en-US" sz="1133">
                <a:solidFill>
                  <a:srgbClr val="24314F"/>
                </a:solidFill>
                <a:latin typeface="Inter"/>
                <a:ea typeface="Inter"/>
                <a:cs typeface="Inter"/>
                <a:sym typeface="Inter"/>
              </a:rPr>
              <a:t> designed to evaluate multimodal models (LMMs) on tasks demanding college-level subject knowledge and deliberate reasoning .It aims to stimulate the development of foundation models capable of achieving Expert Artificial General Intelligence (AGI).</a:t>
            </a:r>
            <a:endParaRPr b="1" sz="1133">
              <a:solidFill>
                <a:srgbClr val="24314F"/>
              </a:solidFill>
              <a:latin typeface="Inter"/>
              <a:ea typeface="Inter"/>
              <a:cs typeface="Inter"/>
              <a:sym typeface="Inter"/>
            </a:endParaRPr>
          </a:p>
        </p:txBody>
      </p:sp>
      <p:sp>
        <p:nvSpPr>
          <p:cNvPr id="1886" name="Google Shape;1886;g39edeb6686d_0_15"/>
          <p:cNvSpPr txBox="1"/>
          <p:nvPr/>
        </p:nvSpPr>
        <p:spPr>
          <a:xfrm>
            <a:off x="1226948" y="5231213"/>
            <a:ext cx="5803800" cy="174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Covers 30 subjects and 183 sub fields across six core discipline</a:t>
            </a:r>
            <a:endParaRPr b="1" sz="1133">
              <a:solidFill>
                <a:srgbClr val="24314F"/>
              </a:solidFill>
              <a:latin typeface="Inter SemiBold"/>
              <a:ea typeface="Inter SemiBold"/>
              <a:cs typeface="Inter SemiBold"/>
              <a:sym typeface="Inter SemiBold"/>
            </a:endParaRPr>
          </a:p>
        </p:txBody>
      </p:sp>
      <p:sp>
        <p:nvSpPr>
          <p:cNvPr id="1887" name="Google Shape;1887;g39edeb6686d_0_15"/>
          <p:cNvSpPr txBox="1"/>
          <p:nvPr/>
        </p:nvSpPr>
        <p:spPr>
          <a:xfrm>
            <a:off x="6604825" y="2536175"/>
            <a:ext cx="4215600" cy="23727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Heterogeneous Image Types: Includes 30 highly diverse image formats, testing perceptual capabilities across various domains: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 Diagrams, Tables, Plots and Charts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 Photographs, Paintings, and Comics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 Chemical Structures, Geometric Shapes, and Mathematical Notations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    ◦ Medical Images (MRI, CT scans, Pathology images, Microscopic Images), and Sheet Music</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p:txBody>
      </p:sp>
      <p:sp>
        <p:nvSpPr>
          <p:cNvPr id="1888" name="Google Shape;1888;g39edeb6686d_0_15"/>
          <p:cNvSpPr txBox="1"/>
          <p:nvPr/>
        </p:nvSpPr>
        <p:spPr>
          <a:xfrm>
            <a:off x="1226944" y="5522613"/>
            <a:ext cx="9812400" cy="9072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Unlike existing benchmarks focusing on commonsense knowledge, MMMU requires models to perform tasks akin to those faced by experts, including logical, spatial commonsense, and mathematical reasoning, supported by deep domain expertise. Questions feature interleaved text and images. The model must jointly understand both modalities, often requiring the recall of deep subject knowledge and complex reasoning to derive a solution.</a:t>
            </a:r>
            <a:endParaRPr b="1" sz="1133">
              <a:solidFill>
                <a:srgbClr val="24314F"/>
              </a:solidFill>
              <a:latin typeface="Inter"/>
              <a:ea typeface="Inter"/>
              <a:cs typeface="Inter"/>
              <a:sym typeface="Inter"/>
            </a:endParaRPr>
          </a:p>
        </p:txBody>
      </p:sp>
      <p:sp>
        <p:nvSpPr>
          <p:cNvPr id="1889" name="Google Shape;1889;g39edeb6686d_0_15"/>
          <p:cNvSpPr txBox="1"/>
          <p:nvPr/>
        </p:nvSpPr>
        <p:spPr>
          <a:xfrm>
            <a:off x="7643020" y="654051"/>
            <a:ext cx="3863100" cy="418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Human experts achieved a best validation accuracy of 88.6% while advanced models achieved around 55% </a:t>
            </a:r>
            <a:endParaRPr sz="1200"/>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grpSp>
        <p:nvGrpSpPr>
          <p:cNvPr id="1894" name="Google Shape;1894;g39edeb6686d_0_66"/>
          <p:cNvGrpSpPr/>
          <p:nvPr/>
        </p:nvGrpSpPr>
        <p:grpSpPr>
          <a:xfrm>
            <a:off x="685800" y="1838306"/>
            <a:ext cx="10820186" cy="5020055"/>
            <a:chOff x="0" y="-47625"/>
            <a:chExt cx="4274726" cy="2214600"/>
          </a:xfrm>
        </p:grpSpPr>
        <p:sp>
          <p:nvSpPr>
            <p:cNvPr id="1895" name="Google Shape;1895;g39edeb6686d_0_6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96" name="Google Shape;1896;g39edeb6686d_0_6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897" name="Google Shape;1897;g39edeb6686d_0_66"/>
          <p:cNvSpPr txBox="1"/>
          <p:nvPr/>
        </p:nvSpPr>
        <p:spPr>
          <a:xfrm>
            <a:off x="685800" y="596900"/>
            <a:ext cx="108201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Workflow Candidates (End-to-End Query and Reasoning Pipeline)</a:t>
            </a:r>
            <a:endParaRPr b="1" sz="2800">
              <a:solidFill>
                <a:srgbClr val="24314F"/>
              </a:solidFill>
              <a:latin typeface="Arial"/>
              <a:ea typeface="Arial"/>
              <a:cs typeface="Arial"/>
              <a:sym typeface="Arial"/>
            </a:endParaRPr>
          </a:p>
        </p:txBody>
      </p:sp>
      <p:grpSp>
        <p:nvGrpSpPr>
          <p:cNvPr id="1898" name="Google Shape;1898;g39edeb6686d_0_66"/>
          <p:cNvGrpSpPr/>
          <p:nvPr/>
        </p:nvGrpSpPr>
        <p:grpSpPr>
          <a:xfrm>
            <a:off x="1295600" y="2124675"/>
            <a:ext cx="9604558" cy="4552090"/>
            <a:chOff x="0" y="-47625"/>
            <a:chExt cx="1808189" cy="1538700"/>
          </a:xfrm>
        </p:grpSpPr>
        <p:sp>
          <p:nvSpPr>
            <p:cNvPr id="1899" name="Google Shape;1899;g39edeb6686d_0_66"/>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00" name="Google Shape;1900;g39edeb6686d_0_66"/>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01" name="Google Shape;1901;g39edeb6686d_0_66"/>
          <p:cNvSpPr txBox="1"/>
          <p:nvPr/>
        </p:nvSpPr>
        <p:spPr>
          <a:xfrm>
            <a:off x="3689850" y="3402098"/>
            <a:ext cx="5143500" cy="9621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u="sng">
                <a:solidFill>
                  <a:schemeClr val="hlink"/>
                </a:solidFill>
                <a:latin typeface="Inter"/>
                <a:ea typeface="Inter"/>
                <a:cs typeface="Inter"/>
                <a:sym typeface="Inter"/>
                <a:hlinkClick r:id="rId3"/>
              </a:rPr>
              <a:t>https://www.canva.com/design/DAG3YJNAP-A/EL_4Ap7KSGxZpyDlahI8Bg/edit?utm_content=DAG3YJNAP-A&amp;utm_campaign=designshare&amp;utm_medium=link2&amp;utm_source=sharebutton</a:t>
            </a:r>
            <a:r>
              <a:rPr b="1" lang="en-US" sz="1133">
                <a:solidFill>
                  <a:srgbClr val="24314F"/>
                </a:solidFill>
                <a:latin typeface="Inter"/>
                <a:ea typeface="Inter"/>
                <a:cs typeface="Inter"/>
                <a:sym typeface="Inter"/>
              </a:rPr>
              <a:t> </a:t>
            </a:r>
            <a:endParaRPr b="1" sz="1133">
              <a:solidFill>
                <a:srgbClr val="24314F"/>
              </a:solidFill>
              <a:latin typeface="Inter"/>
              <a:ea typeface="Inter"/>
              <a:cs typeface="Inter"/>
              <a:sym typeface="Inter"/>
            </a:endParaRPr>
          </a:p>
        </p:txBody>
      </p:sp>
      <p:pic>
        <p:nvPicPr>
          <p:cNvPr id="1902" name="Google Shape;1902;g39edeb6686d_0_66"/>
          <p:cNvPicPr preferRelativeResize="0"/>
          <p:nvPr/>
        </p:nvPicPr>
        <p:blipFill rotWithShape="1">
          <a:blip r:embed="rId4">
            <a:alphaModFix/>
          </a:blip>
          <a:srcRect b="12297" l="0" r="0" t="8876"/>
          <a:stretch/>
        </p:blipFill>
        <p:spPr>
          <a:xfrm>
            <a:off x="1417125" y="2309025"/>
            <a:ext cx="9431774" cy="418192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grpSp>
        <p:nvGrpSpPr>
          <p:cNvPr id="1908" name="Google Shape;1908;g39edeb6686d_0_145"/>
          <p:cNvGrpSpPr/>
          <p:nvPr/>
        </p:nvGrpSpPr>
        <p:grpSpPr>
          <a:xfrm>
            <a:off x="685800" y="1838306"/>
            <a:ext cx="10820186" cy="5020055"/>
            <a:chOff x="0" y="-47625"/>
            <a:chExt cx="4274726" cy="2214600"/>
          </a:xfrm>
        </p:grpSpPr>
        <p:sp>
          <p:nvSpPr>
            <p:cNvPr id="1909" name="Google Shape;1909;g39edeb6686d_0_14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10" name="Google Shape;1910;g39edeb6686d_0_145"/>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11" name="Google Shape;1911;g39edeb6686d_0_145"/>
          <p:cNvSpPr txBox="1"/>
          <p:nvPr/>
        </p:nvSpPr>
        <p:spPr>
          <a:xfrm>
            <a:off x="685800" y="596900"/>
            <a:ext cx="62190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What Datasets I would suggest</a:t>
            </a:r>
            <a:endParaRPr b="1" sz="2800">
              <a:solidFill>
                <a:srgbClr val="24314F"/>
              </a:solidFill>
            </a:endParaRPr>
          </a:p>
        </p:txBody>
      </p:sp>
      <p:grpSp>
        <p:nvGrpSpPr>
          <p:cNvPr id="1912" name="Google Shape;1912;g39edeb6686d_0_145"/>
          <p:cNvGrpSpPr/>
          <p:nvPr/>
        </p:nvGrpSpPr>
        <p:grpSpPr>
          <a:xfrm>
            <a:off x="1295625" y="2126176"/>
            <a:ext cx="4577069" cy="2673337"/>
            <a:chOff x="0" y="-47625"/>
            <a:chExt cx="1808189" cy="1538700"/>
          </a:xfrm>
        </p:grpSpPr>
        <p:sp>
          <p:nvSpPr>
            <p:cNvPr id="1913" name="Google Shape;1913;g39edeb6686d_0_145"/>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14" name="Google Shape;1914;g39edeb6686d_0_145"/>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15" name="Google Shape;1915;g39edeb6686d_0_145"/>
          <p:cNvSpPr txBox="1"/>
          <p:nvPr/>
        </p:nvSpPr>
        <p:spPr>
          <a:xfrm>
            <a:off x="1652536" y="2460511"/>
            <a:ext cx="3863100" cy="21285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Foundational Video Understanding and Feature Extraction:</a:t>
            </a:r>
            <a:endParaRPr b="1" sz="1133">
              <a:solidFill>
                <a:srgbClr val="24314F"/>
              </a:solidFill>
              <a:latin typeface="Inter"/>
              <a:ea typeface="Inter"/>
              <a:cs typeface="Inter"/>
              <a:sym typeface="Inter"/>
            </a:endParaRPr>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Dataset : </a:t>
            </a:r>
            <a:r>
              <a:rPr b="1" lang="en-US" sz="1133" u="sng">
                <a:solidFill>
                  <a:schemeClr val="hlink"/>
                </a:solidFill>
                <a:latin typeface="Inter"/>
                <a:ea typeface="Inter"/>
                <a:cs typeface="Inter"/>
                <a:sym typeface="Inter"/>
                <a:hlinkClick r:id="rId3"/>
              </a:rPr>
              <a:t>FineVideo </a:t>
            </a:r>
            <a:r>
              <a:rPr b="1" lang="en-US" sz="1133">
                <a:solidFill>
                  <a:srgbClr val="24314F"/>
                </a:solidFill>
                <a:latin typeface="Inter"/>
                <a:ea typeface="Inter"/>
                <a:cs typeface="Inter"/>
                <a:sym typeface="Inter"/>
              </a:rPr>
              <a:t> by HuggingFace FV </a:t>
            </a:r>
            <a:endParaRPr b="1" sz="1133">
              <a:solidFill>
                <a:srgbClr val="24314F"/>
              </a:solidFill>
              <a:latin typeface="Inter"/>
              <a:ea typeface="Inter"/>
              <a:cs typeface="Inter"/>
              <a:sym typeface="Inter"/>
            </a:endParaRPr>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Training our encoders on this data will provide the necessary foundational capabilities for analyzing the "visual, audio, and textual features" that populate the Feature Bank.</a:t>
            </a:r>
            <a:endParaRPr b="1" sz="1133">
              <a:solidFill>
                <a:srgbClr val="24314F"/>
              </a:solidFill>
              <a:latin typeface="Inter"/>
              <a:ea typeface="Inter"/>
              <a:cs typeface="Inter"/>
              <a:sym typeface="Inter"/>
            </a:endParaRPr>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Model: </a:t>
            </a:r>
            <a:r>
              <a:rPr b="1" lang="en-US" sz="1133" u="sng">
                <a:solidFill>
                  <a:schemeClr val="hlink"/>
                </a:solidFill>
                <a:latin typeface="Inter"/>
                <a:ea typeface="Inter"/>
                <a:cs typeface="Inter"/>
                <a:sym typeface="Inter"/>
                <a:hlinkClick r:id="rId4"/>
              </a:rPr>
              <a:t>SigLIP </a:t>
            </a:r>
            <a:r>
              <a:rPr b="1" lang="en-US" sz="1133">
                <a:solidFill>
                  <a:srgbClr val="24314F"/>
                </a:solidFill>
                <a:latin typeface="Inter"/>
                <a:ea typeface="Inter"/>
                <a:cs typeface="Inter"/>
                <a:sym typeface="Inter"/>
              </a:rPr>
              <a:t>or </a:t>
            </a:r>
            <a:r>
              <a:rPr b="1" lang="en-US" sz="1133" u="sng">
                <a:solidFill>
                  <a:schemeClr val="hlink"/>
                </a:solidFill>
                <a:latin typeface="Inter"/>
                <a:ea typeface="Inter"/>
                <a:cs typeface="Inter"/>
                <a:sym typeface="Inter"/>
                <a:hlinkClick r:id="rId5"/>
              </a:rPr>
              <a:t>InternVideo2</a:t>
            </a:r>
            <a:endParaRPr b="1" sz="1133">
              <a:solidFill>
                <a:srgbClr val="24314F"/>
              </a:solidFill>
              <a:latin typeface="Inter"/>
              <a:ea typeface="Inter"/>
              <a:cs typeface="Inter"/>
              <a:sym typeface="Inter"/>
            </a:endParaRPr>
          </a:p>
        </p:txBody>
      </p:sp>
      <p:grpSp>
        <p:nvGrpSpPr>
          <p:cNvPr id="1916" name="Google Shape;1916;g39edeb6686d_0_145"/>
          <p:cNvGrpSpPr/>
          <p:nvPr/>
        </p:nvGrpSpPr>
        <p:grpSpPr>
          <a:xfrm>
            <a:off x="6260350" y="2201877"/>
            <a:ext cx="4577069" cy="4176824"/>
            <a:chOff x="0" y="-47625"/>
            <a:chExt cx="1808189" cy="1790400"/>
          </a:xfrm>
        </p:grpSpPr>
        <p:sp>
          <p:nvSpPr>
            <p:cNvPr id="1917" name="Google Shape;1917;g39edeb6686d_0_14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18" name="Google Shape;1918;g39edeb6686d_0_145"/>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19" name="Google Shape;1919;g39edeb6686d_0_145"/>
          <p:cNvSpPr txBox="1"/>
          <p:nvPr/>
        </p:nvSpPr>
        <p:spPr>
          <a:xfrm>
            <a:off x="6617254" y="2517633"/>
            <a:ext cx="3863100" cy="35940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Complex Reasoning and Question Answering Structure: </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Dataset: </a:t>
            </a:r>
            <a:r>
              <a:rPr b="1" lang="en-US" sz="1133" u="sng">
                <a:solidFill>
                  <a:schemeClr val="hlink"/>
                </a:solidFill>
                <a:latin typeface="Inter"/>
                <a:ea typeface="Inter"/>
                <a:cs typeface="Inter"/>
                <a:sym typeface="Inter"/>
                <a:hlinkClick r:id="rId6"/>
              </a:rPr>
              <a:t>MMMU </a:t>
            </a:r>
            <a:r>
              <a:rPr b="1" lang="en-US" sz="1133">
                <a:solidFill>
                  <a:srgbClr val="24314F"/>
                </a:solidFill>
                <a:latin typeface="Inter"/>
                <a:ea typeface="Inter"/>
                <a:cs typeface="Inter"/>
                <a:sym typeface="Inter"/>
              </a:rPr>
              <a:t>or </a:t>
            </a:r>
            <a:r>
              <a:rPr b="1" lang="en-US" sz="1133" u="sng">
                <a:solidFill>
                  <a:schemeClr val="hlink"/>
                </a:solidFill>
                <a:latin typeface="Inter"/>
                <a:ea typeface="Inter"/>
                <a:cs typeface="Inter"/>
                <a:sym typeface="Inter"/>
                <a:hlinkClick r:id="rId7"/>
              </a:rPr>
              <a:t>TVQA+</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MMMU is designed to evaluate multimodal models on tasks demanding college-level subject knowledge and deliberate reasoning.</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MMMU's structured format is highly valuable, as it includes fields for question, options, and detailed explanation. The presence of the explanation field is crucial for supervising the Fusion Layer and training the final model to produce a natural-language response supported by evidence.</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Model: </a:t>
            </a:r>
            <a:r>
              <a:rPr b="1" lang="en-US" sz="1133" u="sng">
                <a:solidFill>
                  <a:schemeClr val="hlink"/>
                </a:solidFill>
                <a:latin typeface="Inter"/>
                <a:ea typeface="Inter"/>
                <a:cs typeface="Inter"/>
                <a:sym typeface="Inter"/>
                <a:hlinkClick r:id="rId8"/>
              </a:rPr>
              <a:t>Llama 3 70B Instruct</a:t>
            </a:r>
            <a:r>
              <a:rPr b="1" lang="en-US" sz="1133">
                <a:solidFill>
                  <a:srgbClr val="24314F"/>
                </a:solidFill>
                <a:latin typeface="Inter"/>
                <a:ea typeface="Inter"/>
                <a:cs typeface="Inter"/>
                <a:sym typeface="Inter"/>
              </a:rPr>
              <a:t> or </a:t>
            </a:r>
            <a:r>
              <a:rPr b="1" lang="en-US" sz="1133" u="sng">
                <a:solidFill>
                  <a:schemeClr val="hlink"/>
                </a:solidFill>
                <a:latin typeface="Inter"/>
                <a:ea typeface="Inter"/>
                <a:cs typeface="Inter"/>
                <a:sym typeface="Inter"/>
                <a:hlinkClick r:id="rId9"/>
              </a:rPr>
              <a:t>Qwen2 72B Instruct</a:t>
            </a:r>
            <a:endParaRPr b="1" sz="1133">
              <a:solidFill>
                <a:srgbClr val="24314F"/>
              </a:solidFill>
              <a:latin typeface="Inter"/>
              <a:ea typeface="Inter"/>
              <a:cs typeface="Inter"/>
              <a:sym typeface="Inte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4" name="Shape 1924"/>
        <p:cNvGrpSpPr/>
        <p:nvPr/>
      </p:nvGrpSpPr>
      <p:grpSpPr>
        <a:xfrm>
          <a:off x="0" y="0"/>
          <a:ext cx="0" cy="0"/>
          <a:chOff x="0" y="0"/>
          <a:chExt cx="0" cy="0"/>
        </a:xfrm>
      </p:grpSpPr>
      <p:grpSp>
        <p:nvGrpSpPr>
          <p:cNvPr id="1925" name="Google Shape;1925;g39edeb6686d_0_170"/>
          <p:cNvGrpSpPr/>
          <p:nvPr/>
        </p:nvGrpSpPr>
        <p:grpSpPr>
          <a:xfrm>
            <a:off x="685800" y="1838306"/>
            <a:ext cx="10820186" cy="5020055"/>
            <a:chOff x="0" y="-47625"/>
            <a:chExt cx="4274726" cy="2214600"/>
          </a:xfrm>
        </p:grpSpPr>
        <p:sp>
          <p:nvSpPr>
            <p:cNvPr id="1926" name="Google Shape;1926;g39edeb6686d_0_17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27" name="Google Shape;1927;g39edeb6686d_0_17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28" name="Google Shape;1928;g39edeb6686d_0_170"/>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What Datasets I would suggest</a:t>
            </a:r>
            <a:endParaRPr b="1" sz="2800">
              <a:solidFill>
                <a:srgbClr val="24314F"/>
              </a:solidFill>
            </a:endParaRPr>
          </a:p>
        </p:txBody>
      </p:sp>
      <p:grpSp>
        <p:nvGrpSpPr>
          <p:cNvPr id="1929" name="Google Shape;1929;g39edeb6686d_0_170"/>
          <p:cNvGrpSpPr/>
          <p:nvPr/>
        </p:nvGrpSpPr>
        <p:grpSpPr>
          <a:xfrm>
            <a:off x="1295625" y="2126176"/>
            <a:ext cx="4577069" cy="2673337"/>
            <a:chOff x="0" y="-47625"/>
            <a:chExt cx="1808189" cy="1538700"/>
          </a:xfrm>
        </p:grpSpPr>
        <p:sp>
          <p:nvSpPr>
            <p:cNvPr id="1930" name="Google Shape;1930;g39edeb6686d_0_17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31" name="Google Shape;1931;g39edeb6686d_0_17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32" name="Google Shape;1932;g39edeb6686d_0_170"/>
          <p:cNvSpPr txBox="1"/>
          <p:nvPr/>
        </p:nvSpPr>
        <p:spPr>
          <a:xfrm>
            <a:off x="1652536" y="2460511"/>
            <a:ext cx="3863100" cy="21285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Agentic Decomposition and Chain-of-Thought (CoT) Training: OpenO1-SFT</a:t>
            </a:r>
            <a:r>
              <a:rPr b="1" lang="en-US" sz="1133">
                <a:solidFill>
                  <a:srgbClr val="24314F"/>
                </a:solidFill>
                <a:latin typeface="Inter"/>
                <a:ea typeface="Inter"/>
                <a:cs typeface="Inter"/>
                <a:sym typeface="Inter"/>
              </a:rPr>
              <a:t>:</a:t>
            </a:r>
            <a:endParaRPr b="1" sz="1133">
              <a:solidFill>
                <a:srgbClr val="24314F"/>
              </a:solidFill>
              <a:latin typeface="Inter"/>
              <a:ea typeface="Inter"/>
              <a:cs typeface="Inter"/>
              <a:sym typeface="Inter"/>
            </a:endParaRPr>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Dataset: OpenO1-SFT by O1-OPEN.</a:t>
            </a:r>
            <a:endParaRPr b="1" sz="1133">
              <a:solidFill>
                <a:srgbClr val="24314F"/>
              </a:solidFill>
              <a:latin typeface="Inter"/>
              <a:ea typeface="Inter"/>
              <a:cs typeface="Inter"/>
              <a:sym typeface="Inter"/>
            </a:endParaRPr>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This dataset supports Supervised Fine-Tuning (SFT) specifically for Chain-of-Thought (CoT) reasoning. It includes structured responses that guide the model toward coherent reasoning sequences.</a:t>
            </a:r>
            <a:endParaRPr b="1" sz="1133">
              <a:solidFill>
                <a:srgbClr val="24314F"/>
              </a:solidFill>
              <a:latin typeface="Inter"/>
              <a:ea typeface="Inter"/>
              <a:cs typeface="Inter"/>
              <a:sym typeface="Inter"/>
            </a:endParaRPr>
          </a:p>
          <a:p>
            <a:pPr indent="0" lvl="0" marL="0" marR="0" rtl="0" algn="just">
              <a:lnSpc>
                <a:spcPct val="140060"/>
              </a:lnSpc>
              <a:spcBef>
                <a:spcPts val="0"/>
              </a:spcBef>
              <a:spcAft>
                <a:spcPts val="0"/>
              </a:spcAft>
              <a:buNone/>
            </a:pPr>
            <a:r>
              <a:t/>
            </a:r>
            <a:endParaRPr b="1" sz="1133">
              <a:solidFill>
                <a:srgbClr val="24314F"/>
              </a:solidFill>
              <a:latin typeface="Inter"/>
              <a:ea typeface="Inter"/>
              <a:cs typeface="Inter"/>
              <a:sym typeface="Inter"/>
            </a:endParaRPr>
          </a:p>
        </p:txBody>
      </p:sp>
      <p:grpSp>
        <p:nvGrpSpPr>
          <p:cNvPr id="1933" name="Google Shape;1933;g39edeb6686d_0_170"/>
          <p:cNvGrpSpPr/>
          <p:nvPr/>
        </p:nvGrpSpPr>
        <p:grpSpPr>
          <a:xfrm>
            <a:off x="6260350" y="2201870"/>
            <a:ext cx="4577069" cy="1494626"/>
            <a:chOff x="0" y="-47625"/>
            <a:chExt cx="1808189" cy="1790400"/>
          </a:xfrm>
        </p:grpSpPr>
        <p:sp>
          <p:nvSpPr>
            <p:cNvPr id="1934" name="Google Shape;1934;g39edeb6686d_0_1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35" name="Google Shape;1935;g39edeb6686d_0_17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36" name="Google Shape;1936;g39edeb6686d_0_170"/>
          <p:cNvSpPr txBox="1"/>
          <p:nvPr/>
        </p:nvSpPr>
        <p:spPr>
          <a:xfrm>
            <a:off x="6617254" y="2517633"/>
            <a:ext cx="3863100" cy="9072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Efficient Large-Scale Video Data Management</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The WebDataset format consists of TAR archives containing audio files and their metadata and is optimized for streaming.</a:t>
            </a:r>
            <a:endParaRPr b="1" sz="1133">
              <a:solidFill>
                <a:srgbClr val="24314F"/>
              </a:solidFill>
              <a:latin typeface="Inter"/>
              <a:ea typeface="Inter"/>
              <a:cs typeface="Inter"/>
              <a:sym typeface="Inter"/>
            </a:endParaRPr>
          </a:p>
        </p:txBody>
      </p:sp>
      <p:grpSp>
        <p:nvGrpSpPr>
          <p:cNvPr id="1937" name="Google Shape;1937;g39edeb6686d_0_170"/>
          <p:cNvGrpSpPr/>
          <p:nvPr/>
        </p:nvGrpSpPr>
        <p:grpSpPr>
          <a:xfrm>
            <a:off x="6260275" y="4021150"/>
            <a:ext cx="4577069" cy="1008711"/>
            <a:chOff x="0" y="-47625"/>
            <a:chExt cx="1808189" cy="1790400"/>
          </a:xfrm>
        </p:grpSpPr>
        <p:sp>
          <p:nvSpPr>
            <p:cNvPr id="1938" name="Google Shape;1938;g39edeb6686d_0_17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39" name="Google Shape;1939;g39edeb6686d_0_170"/>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40" name="Google Shape;1940;g39edeb6686d_0_170"/>
          <p:cNvSpPr txBox="1"/>
          <p:nvPr/>
        </p:nvSpPr>
        <p:spPr>
          <a:xfrm>
            <a:off x="6617166" y="4336908"/>
            <a:ext cx="3863100" cy="418800"/>
          </a:xfrm>
          <a:prstGeom prst="rect">
            <a:avLst/>
          </a:prstGeom>
          <a:noFill/>
          <a:ln>
            <a:noFill/>
          </a:ln>
        </p:spPr>
        <p:txBody>
          <a:bodyPr anchorCtr="0" anchor="t" bIns="0" lIns="0" spcFirstLastPara="1" rIns="0" wrap="square" tIns="0">
            <a:spAutoFit/>
          </a:bodyPr>
          <a:lstStyle/>
          <a:p>
            <a:pPr indent="0" lvl="0" marL="0" rtl="0" algn="just">
              <a:lnSpc>
                <a:spcPct val="140060"/>
              </a:lnSpc>
              <a:spcBef>
                <a:spcPts val="0"/>
              </a:spcBef>
              <a:spcAft>
                <a:spcPts val="0"/>
              </a:spcAft>
              <a:buNone/>
            </a:pPr>
            <a:r>
              <a:rPr b="1" lang="en-US" sz="1133">
                <a:solidFill>
                  <a:srgbClr val="24314F"/>
                </a:solidFill>
                <a:latin typeface="Inter"/>
                <a:ea typeface="Inter"/>
                <a:cs typeface="Inter"/>
                <a:sym typeface="Inter"/>
              </a:rPr>
              <a:t>Fusion Layer</a:t>
            </a:r>
            <a:endParaRPr b="1" sz="1133">
              <a:solidFill>
                <a:srgbClr val="24314F"/>
              </a:solidFill>
              <a:latin typeface="Inter"/>
              <a:ea typeface="Inter"/>
              <a:cs typeface="Inter"/>
              <a:sym typeface="Inter"/>
            </a:endParaRPr>
          </a:p>
          <a:p>
            <a:pPr indent="-300546" lvl="0" marL="45720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Suggested Models: </a:t>
            </a:r>
            <a:r>
              <a:rPr b="1" lang="en-US" sz="1133" u="sng">
                <a:solidFill>
                  <a:schemeClr val="hlink"/>
                </a:solidFill>
                <a:latin typeface="Inter"/>
                <a:ea typeface="Inter"/>
                <a:cs typeface="Inter"/>
                <a:sym typeface="Inter"/>
                <a:hlinkClick r:id="rId3"/>
              </a:rPr>
              <a:t>Qwen2.5-VL</a:t>
            </a:r>
            <a:r>
              <a:rPr b="1" lang="en-US" sz="1133">
                <a:solidFill>
                  <a:srgbClr val="24314F"/>
                </a:solidFill>
                <a:latin typeface="Inter"/>
                <a:ea typeface="Inter"/>
                <a:cs typeface="Inter"/>
                <a:sym typeface="Inter"/>
              </a:rPr>
              <a:t> or </a:t>
            </a:r>
            <a:r>
              <a:rPr b="1" lang="en-US" sz="1133" u="sng">
                <a:solidFill>
                  <a:schemeClr val="hlink"/>
                </a:solidFill>
                <a:latin typeface="Inter"/>
                <a:ea typeface="Inter"/>
                <a:cs typeface="Inter"/>
                <a:sym typeface="Inter"/>
                <a:hlinkClick r:id="rId4"/>
              </a:rPr>
              <a:t> GLM-4.5V</a:t>
            </a:r>
            <a:endParaRPr b="1" sz="1133">
              <a:solidFill>
                <a:srgbClr val="24314F"/>
              </a:solidFill>
              <a:latin typeface="Inter"/>
              <a:ea typeface="Inter"/>
              <a:cs typeface="Inter"/>
              <a:sym typeface="Inte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grpSp>
        <p:nvGrpSpPr>
          <p:cNvPr id="1945" name="Google Shape;1945;g39fc91e5e21_0_20"/>
          <p:cNvGrpSpPr/>
          <p:nvPr/>
        </p:nvGrpSpPr>
        <p:grpSpPr>
          <a:xfrm>
            <a:off x="685800" y="1838306"/>
            <a:ext cx="10820186" cy="5020055"/>
            <a:chOff x="0" y="-47625"/>
            <a:chExt cx="4274726" cy="2214600"/>
          </a:xfrm>
        </p:grpSpPr>
        <p:sp>
          <p:nvSpPr>
            <p:cNvPr id="1946" name="Google Shape;1946;g39fc91e5e21_0_2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47" name="Google Shape;1947;g39fc91e5e21_0_2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48" name="Google Shape;1948;g39fc91e5e21_0_20"/>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Workflow Candidates (Uncertainty-Aware Cascade)</a:t>
            </a:r>
            <a:endParaRPr b="1" sz="2800">
              <a:solidFill>
                <a:srgbClr val="24314F"/>
              </a:solidFill>
              <a:latin typeface="Arial"/>
              <a:ea typeface="Arial"/>
              <a:cs typeface="Arial"/>
              <a:sym typeface="Arial"/>
            </a:endParaRPr>
          </a:p>
        </p:txBody>
      </p:sp>
      <p:grpSp>
        <p:nvGrpSpPr>
          <p:cNvPr id="1949" name="Google Shape;1949;g39fc91e5e21_0_20"/>
          <p:cNvGrpSpPr/>
          <p:nvPr/>
        </p:nvGrpSpPr>
        <p:grpSpPr>
          <a:xfrm>
            <a:off x="1295600" y="2124675"/>
            <a:ext cx="9604558" cy="4552090"/>
            <a:chOff x="0" y="-47625"/>
            <a:chExt cx="1808189" cy="1538700"/>
          </a:xfrm>
        </p:grpSpPr>
        <p:sp>
          <p:nvSpPr>
            <p:cNvPr id="1950" name="Google Shape;1950;g39fc91e5e21_0_2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51" name="Google Shape;1951;g39fc91e5e21_0_20"/>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52" name="Google Shape;1952;g39fc91e5e21_0_20"/>
          <p:cNvSpPr txBox="1"/>
          <p:nvPr/>
        </p:nvSpPr>
        <p:spPr>
          <a:xfrm>
            <a:off x="3689850" y="3402098"/>
            <a:ext cx="5143500" cy="6630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u="sng">
                <a:solidFill>
                  <a:schemeClr val="hlink"/>
                </a:solidFill>
                <a:latin typeface="Inter"/>
                <a:ea typeface="Inter"/>
                <a:cs typeface="Inter"/>
                <a:sym typeface="Inter"/>
                <a:hlinkClick r:id="rId3"/>
              </a:rPr>
              <a:t>https://www.canva.com/design/DAG3YJNAP-A/EL_4Ap7KSGxZpyDlahI8Bg/edit?utm_content=DAG3YJNAP-A&amp;utm_campaign=designshare&amp;utm_medium=link2&amp;utm_source=sharebutton</a:t>
            </a:r>
            <a:r>
              <a:rPr b="1" lang="en-US" sz="1133">
                <a:solidFill>
                  <a:srgbClr val="24314F"/>
                </a:solidFill>
                <a:latin typeface="Inter"/>
                <a:ea typeface="Inter"/>
                <a:cs typeface="Inter"/>
                <a:sym typeface="Inter"/>
              </a:rPr>
              <a:t> </a:t>
            </a:r>
            <a:endParaRPr b="1" sz="1133">
              <a:solidFill>
                <a:srgbClr val="24314F"/>
              </a:solidFill>
              <a:latin typeface="Inter"/>
              <a:ea typeface="Inter"/>
              <a:cs typeface="Inter"/>
              <a:sym typeface="Inter"/>
            </a:endParaRPr>
          </a:p>
        </p:txBody>
      </p:sp>
      <p:pic>
        <p:nvPicPr>
          <p:cNvPr id="1953" name="Google Shape;1953;g39fc91e5e21_0_20"/>
          <p:cNvPicPr preferRelativeResize="0"/>
          <p:nvPr/>
        </p:nvPicPr>
        <p:blipFill rotWithShape="1">
          <a:blip r:embed="rId4">
            <a:alphaModFix/>
          </a:blip>
          <a:srcRect b="24267" l="0" r="0" t="26797"/>
          <a:stretch/>
        </p:blipFill>
        <p:spPr>
          <a:xfrm>
            <a:off x="1295600" y="3078850"/>
            <a:ext cx="9604550" cy="2643751"/>
          </a:xfrm>
          <a:prstGeom prst="rect">
            <a:avLst/>
          </a:prstGeom>
          <a:noFill/>
          <a:ln>
            <a:noFill/>
          </a:ln>
        </p:spPr>
      </p:pic>
      <p:sp>
        <p:nvSpPr>
          <p:cNvPr id="1954" name="Google Shape;1954;g39fc91e5e21_0_20"/>
          <p:cNvSpPr txBox="1"/>
          <p:nvPr/>
        </p:nvSpPr>
        <p:spPr>
          <a:xfrm>
            <a:off x="7642870" y="1223751"/>
            <a:ext cx="3863100" cy="418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maybe its possible to add some internal metric to determine what model should be used</a:t>
            </a:r>
            <a:endParaRPr sz="1200"/>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grpSp>
        <p:nvGrpSpPr>
          <p:cNvPr id="1959" name="Google Shape;1959;g39fc91e5e21_0_34"/>
          <p:cNvGrpSpPr/>
          <p:nvPr/>
        </p:nvGrpSpPr>
        <p:grpSpPr>
          <a:xfrm>
            <a:off x="685800" y="1838306"/>
            <a:ext cx="10820186" cy="5020055"/>
            <a:chOff x="0" y="-47625"/>
            <a:chExt cx="4274726" cy="2214600"/>
          </a:xfrm>
        </p:grpSpPr>
        <p:sp>
          <p:nvSpPr>
            <p:cNvPr id="1960" name="Google Shape;1960;g39fc91e5e21_0_3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61" name="Google Shape;1961;g39fc91e5e21_0_3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62" name="Google Shape;1962;g39fc91e5e21_0_34"/>
          <p:cNvSpPr txBox="1"/>
          <p:nvPr/>
        </p:nvSpPr>
        <p:spPr>
          <a:xfrm>
            <a:off x="685800" y="596900"/>
            <a:ext cx="10820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Workflow Candidates </a:t>
            </a:r>
            <a:endParaRPr b="1" sz="2800">
              <a:solidFill>
                <a:srgbClr val="24314F"/>
              </a:solidFill>
              <a:latin typeface="Arial"/>
              <a:ea typeface="Arial"/>
              <a:cs typeface="Arial"/>
              <a:sym typeface="Arial"/>
            </a:endParaRPr>
          </a:p>
        </p:txBody>
      </p:sp>
      <p:grpSp>
        <p:nvGrpSpPr>
          <p:cNvPr id="1963" name="Google Shape;1963;g39fc91e5e21_0_34"/>
          <p:cNvGrpSpPr/>
          <p:nvPr/>
        </p:nvGrpSpPr>
        <p:grpSpPr>
          <a:xfrm>
            <a:off x="1295600" y="2124675"/>
            <a:ext cx="9604558" cy="4552090"/>
            <a:chOff x="0" y="-47625"/>
            <a:chExt cx="1808189" cy="1538700"/>
          </a:xfrm>
        </p:grpSpPr>
        <p:sp>
          <p:nvSpPr>
            <p:cNvPr id="1964" name="Google Shape;1964;g39fc91e5e21_0_34"/>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65" name="Google Shape;1965;g39fc91e5e21_0_34"/>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66" name="Google Shape;1966;g39fc91e5e21_0_34"/>
          <p:cNvSpPr txBox="1"/>
          <p:nvPr/>
        </p:nvSpPr>
        <p:spPr>
          <a:xfrm>
            <a:off x="3689850" y="3402098"/>
            <a:ext cx="5143500" cy="6630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u="sng">
                <a:solidFill>
                  <a:schemeClr val="hlink"/>
                </a:solidFill>
                <a:latin typeface="Inter"/>
                <a:ea typeface="Inter"/>
                <a:cs typeface="Inter"/>
                <a:sym typeface="Inter"/>
                <a:hlinkClick r:id="rId3"/>
              </a:rPr>
              <a:t>https://www.canva.com/design/DAG3YJNAP-A/EL_4Ap7KSGxZpyDlahI8Bg/edit?utm_content=DAG3YJNAP-A&amp;utm_campaign=designshare&amp;utm_medium=link2&amp;utm_source=sharebutton</a:t>
            </a:r>
            <a:r>
              <a:rPr b="1" lang="en-US" sz="1133">
                <a:solidFill>
                  <a:srgbClr val="24314F"/>
                </a:solidFill>
                <a:latin typeface="Inter"/>
                <a:ea typeface="Inter"/>
                <a:cs typeface="Inter"/>
                <a:sym typeface="Inter"/>
              </a:rPr>
              <a:t> </a:t>
            </a:r>
            <a:endParaRPr b="1" sz="1133">
              <a:solidFill>
                <a:srgbClr val="24314F"/>
              </a:solidFill>
              <a:latin typeface="Inter"/>
              <a:ea typeface="Inter"/>
              <a:cs typeface="Inter"/>
              <a:sym typeface="Inter"/>
            </a:endParaRPr>
          </a:p>
        </p:txBody>
      </p:sp>
      <p:pic>
        <p:nvPicPr>
          <p:cNvPr id="1967" name="Google Shape;1967;g39fc91e5e21_0_34"/>
          <p:cNvPicPr preferRelativeResize="0"/>
          <p:nvPr/>
        </p:nvPicPr>
        <p:blipFill rotWithShape="1">
          <a:blip r:embed="rId4">
            <a:alphaModFix/>
          </a:blip>
          <a:srcRect b="24373" l="5958" r="3224" t="24379"/>
          <a:stretch/>
        </p:blipFill>
        <p:spPr>
          <a:xfrm>
            <a:off x="1295600" y="2689685"/>
            <a:ext cx="9604550" cy="3048457"/>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Google Shape;1973;g39edeb6686d_0_138"/>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 </a:t>
            </a:r>
            <a:r>
              <a:rPr lang="en-US" sz="3400">
                <a:solidFill>
                  <a:srgbClr val="FF0000"/>
                </a:solidFill>
                <a:latin typeface="Verdana"/>
                <a:ea typeface="Verdana"/>
                <a:cs typeface="Verdana"/>
                <a:sym typeface="Verdana"/>
              </a:rPr>
              <a:t>(2025/11/5)</a:t>
            </a:r>
            <a:endParaRPr sz="3400">
              <a:solidFill>
                <a:srgbClr val="FF0000"/>
              </a:solidFill>
            </a:endParaRPr>
          </a:p>
        </p:txBody>
      </p:sp>
      <p:sp>
        <p:nvSpPr>
          <p:cNvPr id="1974" name="Google Shape;1974;g39edeb6686d_0_138"/>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Write a guidance: How to use container to run tasks in the NSCC cluster</a:t>
            </a:r>
            <a:endParaRPr sz="2900">
              <a:solidFill>
                <a:schemeClr val="dk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g39e69710cb9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981" name="Google Shape;1981;g39e69710cb9_0_0"/>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Run the VQA workflow with vLLM</a:t>
            </a:r>
            <a:endParaRPr sz="2900">
              <a:solidFill>
                <a:schemeClr val="dk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grpSp>
        <p:nvGrpSpPr>
          <p:cNvPr id="1987" name="Google Shape;1987;g394f5161039_0_18"/>
          <p:cNvGrpSpPr/>
          <p:nvPr/>
        </p:nvGrpSpPr>
        <p:grpSpPr>
          <a:xfrm>
            <a:off x="685800" y="1838306"/>
            <a:ext cx="10820186" cy="5020055"/>
            <a:chOff x="0" y="-47625"/>
            <a:chExt cx="4274726" cy="2214600"/>
          </a:xfrm>
        </p:grpSpPr>
        <p:sp>
          <p:nvSpPr>
            <p:cNvPr id="1988" name="Google Shape;1988;g394f5161039_0_1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89" name="Google Shape;1989;g394f5161039_0_1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1990" name="Google Shape;1990;g394f5161039_0_18"/>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rPr>
              <a:t>stuck </a:t>
            </a:r>
            <a:endParaRPr b="1" sz="2800">
              <a:solidFill>
                <a:srgbClr val="24314F"/>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g39d7fe7c776_0_0"/>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Recap</a:t>
            </a:r>
            <a:endParaRPr sz="3400">
              <a:solidFill>
                <a:srgbClr val="FF0000"/>
              </a:solidFill>
            </a:endParaRPr>
          </a:p>
        </p:txBody>
      </p:sp>
      <p:sp>
        <p:nvSpPr>
          <p:cNvPr id="1997" name="Google Shape;1997;g39d7fe7c776_0_0"/>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Modify the scheduling policy in vLLM</a:t>
            </a:r>
            <a:endParaRPr sz="2900">
              <a:solidFill>
                <a:schemeClr val="dk1"/>
              </a:solidFill>
            </a:endParaRPr>
          </a:p>
          <a:p>
            <a:pPr indent="-412750" lvl="0" marL="457200" rtl="0" algn="l">
              <a:lnSpc>
                <a:spcPct val="150000"/>
              </a:lnSpc>
              <a:spcBef>
                <a:spcPts val="0"/>
              </a:spcBef>
              <a:spcAft>
                <a:spcPts val="0"/>
              </a:spcAft>
              <a:buClr>
                <a:schemeClr val="dk1"/>
              </a:buClr>
              <a:buSzPts val="2900"/>
              <a:buChar char="●"/>
            </a:pPr>
            <a:r>
              <a:rPr lang="en-US" sz="2900">
                <a:solidFill>
                  <a:schemeClr val="dk1"/>
                </a:solidFill>
              </a:rPr>
              <a:t>Run the VQA workflow with vLLM</a:t>
            </a:r>
            <a:endParaRPr sz="2900">
              <a:solidFill>
                <a:schemeClr val="dk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grpSp>
        <p:nvGrpSpPr>
          <p:cNvPr id="2003" name="Google Shape;2003;g39d7fe7c776_0_6"/>
          <p:cNvGrpSpPr/>
          <p:nvPr/>
        </p:nvGrpSpPr>
        <p:grpSpPr>
          <a:xfrm>
            <a:off x="685800" y="1838306"/>
            <a:ext cx="10820186" cy="5020055"/>
            <a:chOff x="0" y="-47625"/>
            <a:chExt cx="4274726" cy="2214600"/>
          </a:xfrm>
        </p:grpSpPr>
        <p:sp>
          <p:nvSpPr>
            <p:cNvPr id="2004" name="Google Shape;2004;g39d7fe7c776_0_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05" name="Google Shape;2005;g39d7fe7c776_0_6"/>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06" name="Google Shape;2006;g39d7fe7c776_0_6"/>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Clr>
                <a:schemeClr val="dk1"/>
              </a:buClr>
              <a:buFont typeface="Arial"/>
              <a:buNone/>
            </a:pPr>
            <a:r>
              <a:rPr b="1" lang="en-US" sz="2800">
                <a:solidFill>
                  <a:srgbClr val="24314F"/>
                </a:solidFill>
              </a:rPr>
              <a:t>SPF vs. FIFO</a:t>
            </a:r>
            <a:endParaRPr sz="1200">
              <a:solidFill>
                <a:schemeClr val="dk1"/>
              </a:solidFill>
            </a:endParaRPr>
          </a:p>
          <a:p>
            <a:pPr indent="0" lvl="0" marL="0" marR="0" rtl="0" algn="l">
              <a:lnSpc>
                <a:spcPct val="130000"/>
              </a:lnSpc>
              <a:spcBef>
                <a:spcPts val="0"/>
              </a:spcBef>
              <a:spcAft>
                <a:spcPts val="0"/>
              </a:spcAft>
              <a:buNone/>
            </a:pPr>
            <a:r>
              <a:t/>
            </a:r>
            <a:endParaRPr b="1" sz="2800">
              <a:solidFill>
                <a:srgbClr val="24314F"/>
              </a:solidFill>
            </a:endParaRPr>
          </a:p>
        </p:txBody>
      </p:sp>
      <p:grpSp>
        <p:nvGrpSpPr>
          <p:cNvPr id="2007" name="Google Shape;2007;g39d7fe7c776_0_6"/>
          <p:cNvGrpSpPr/>
          <p:nvPr/>
        </p:nvGrpSpPr>
        <p:grpSpPr>
          <a:xfrm>
            <a:off x="6322061" y="4655477"/>
            <a:ext cx="4577069" cy="1441809"/>
            <a:chOff x="0" y="-47625"/>
            <a:chExt cx="1808189" cy="1790400"/>
          </a:xfrm>
        </p:grpSpPr>
        <p:sp>
          <p:nvSpPr>
            <p:cNvPr id="2008" name="Google Shape;2008;g39d7fe7c776_0_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09" name="Google Shape;2009;g39d7fe7c776_0_6"/>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10" name="Google Shape;2010;g39d7fe7c776_0_6"/>
          <p:cNvSpPr txBox="1"/>
          <p:nvPr/>
        </p:nvSpPr>
        <p:spPr>
          <a:xfrm>
            <a:off x="6678954" y="4935652"/>
            <a:ext cx="3863100" cy="11616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Throughput (Req/s):</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As SPF minimizes the average waiting time across all req by clearing short tasks quickly, it is able to achieve higher request throughput for the system</a:t>
            </a:r>
            <a:endParaRPr sz="1200"/>
          </a:p>
          <a:p>
            <a:pPr indent="0" lvl="0" marL="914400" marR="0" rtl="0" algn="just">
              <a:lnSpc>
                <a:spcPct val="186700"/>
              </a:lnSpc>
              <a:spcBef>
                <a:spcPts val="0"/>
              </a:spcBef>
              <a:spcAft>
                <a:spcPts val="0"/>
              </a:spcAft>
              <a:buNone/>
            </a:pPr>
            <a:r>
              <a:t/>
            </a:r>
            <a:endParaRPr sz="1200"/>
          </a:p>
        </p:txBody>
      </p:sp>
      <p:sp>
        <p:nvSpPr>
          <p:cNvPr id="2011" name="Google Shape;2011;g39d7fe7c776_0_6"/>
          <p:cNvSpPr txBox="1"/>
          <p:nvPr/>
        </p:nvSpPr>
        <p:spPr>
          <a:xfrm>
            <a:off x="7643020" y="654051"/>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pic>
        <p:nvPicPr>
          <p:cNvPr id="2012" name="Google Shape;2012;g39d7fe7c776_0_6"/>
          <p:cNvPicPr preferRelativeResize="0"/>
          <p:nvPr/>
        </p:nvPicPr>
        <p:blipFill>
          <a:blip r:embed="rId3">
            <a:alphaModFix/>
          </a:blip>
          <a:stretch>
            <a:fillRect/>
          </a:stretch>
        </p:blipFill>
        <p:spPr>
          <a:xfrm>
            <a:off x="1098675" y="2473950"/>
            <a:ext cx="4998334" cy="37487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grpSp>
        <p:nvGrpSpPr>
          <p:cNvPr id="2018" name="Google Shape;2018;g38d7132e677_1_8"/>
          <p:cNvGrpSpPr/>
          <p:nvPr/>
        </p:nvGrpSpPr>
        <p:grpSpPr>
          <a:xfrm>
            <a:off x="685800" y="837109"/>
            <a:ext cx="10820186" cy="6021276"/>
            <a:chOff x="0" y="-47625"/>
            <a:chExt cx="4274726" cy="2214600"/>
          </a:xfrm>
        </p:grpSpPr>
        <p:sp>
          <p:nvSpPr>
            <p:cNvPr id="2019" name="Google Shape;2019;g38d7132e677_1_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20" name="Google Shape;2020;g38d7132e677_1_8"/>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21" name="Google Shape;2021;g38d7132e677_1_8"/>
          <p:cNvSpPr txBox="1"/>
          <p:nvPr/>
        </p:nvSpPr>
        <p:spPr>
          <a:xfrm>
            <a:off x="685800" y="338175"/>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SPF vs. FIFO</a:t>
            </a:r>
            <a:endParaRPr sz="1200"/>
          </a:p>
        </p:txBody>
      </p:sp>
      <p:sp>
        <p:nvSpPr>
          <p:cNvPr id="2022" name="Google Shape;2022;g38d7132e677_1_8"/>
          <p:cNvSpPr txBox="1"/>
          <p:nvPr/>
        </p:nvSpPr>
        <p:spPr>
          <a:xfrm>
            <a:off x="7643020" y="494473"/>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sp>
        <p:nvSpPr>
          <p:cNvPr id="2023" name="Google Shape;2023;g38d7132e677_1_8"/>
          <p:cNvSpPr txBox="1"/>
          <p:nvPr/>
        </p:nvSpPr>
        <p:spPr>
          <a:xfrm>
            <a:off x="961923" y="4359875"/>
            <a:ext cx="5017800" cy="174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With SPF ( Mean TTFT: 2350.43ms) </a:t>
            </a:r>
            <a:endParaRPr sz="1200"/>
          </a:p>
        </p:txBody>
      </p:sp>
      <p:sp>
        <p:nvSpPr>
          <p:cNvPr id="2024" name="Google Shape;2024;g38d7132e677_1_8"/>
          <p:cNvSpPr txBox="1"/>
          <p:nvPr/>
        </p:nvSpPr>
        <p:spPr>
          <a:xfrm>
            <a:off x="6096000" y="4359875"/>
            <a:ext cx="5295300" cy="174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With FIFO (default)( Mean  TTFT: 2122.65 ms) </a:t>
            </a:r>
            <a:endParaRPr b="1" sz="1133">
              <a:solidFill>
                <a:srgbClr val="24314F"/>
              </a:solidFill>
              <a:latin typeface="Inter SemiBold"/>
              <a:ea typeface="Inter SemiBold"/>
              <a:cs typeface="Inter SemiBold"/>
              <a:sym typeface="Inter SemiBold"/>
            </a:endParaRPr>
          </a:p>
        </p:txBody>
      </p:sp>
      <p:graphicFrame>
        <p:nvGraphicFramePr>
          <p:cNvPr id="2025" name="Google Shape;2025;g38d7132e677_1_8"/>
          <p:cNvGraphicFramePr/>
          <p:nvPr/>
        </p:nvGraphicFramePr>
        <p:xfrm>
          <a:off x="961925" y="4607450"/>
          <a:ext cx="3000000" cy="3000000"/>
        </p:xfrm>
        <a:graphic>
          <a:graphicData uri="http://schemas.openxmlformats.org/drawingml/2006/table">
            <a:tbl>
              <a:tblPr>
                <a:noFill/>
                <a:tableStyleId>{EC67A452-83CC-4573-9EBC-7A23179EE2BC}</a:tableStyleId>
              </a:tblPr>
              <a:tblGrid>
                <a:gridCol w="2508850"/>
                <a:gridCol w="2508850"/>
              </a:tblGrid>
              <a:tr h="381000">
                <a:tc>
                  <a:txBody>
                    <a:bodyPr/>
                    <a:lstStyle/>
                    <a:p>
                      <a:pPr indent="0" lvl="0" marL="0" rtl="0" algn="l">
                        <a:spcBef>
                          <a:spcPts val="0"/>
                        </a:spcBef>
                        <a:spcAft>
                          <a:spcPts val="0"/>
                        </a:spcAft>
                        <a:buNone/>
                      </a:pPr>
                      <a:r>
                        <a:rPr b="1" lang="en-US" sz="1100">
                          <a:solidFill>
                            <a:srgbClr val="24314F"/>
                          </a:solidFill>
                        </a:rPr>
                        <a:t>P99 </a:t>
                      </a:r>
                      <a:r>
                        <a:rPr b="1" lang="en-US" sz="1100">
                          <a:solidFill>
                            <a:srgbClr val="24314F"/>
                          </a:solidFill>
                        </a:rPr>
                        <a:t>TTFT</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10,471 ms</a:t>
                      </a:r>
                      <a:endParaRPr b="1" sz="1100">
                        <a:solidFill>
                          <a:srgbClr val="24314F"/>
                        </a:solidFill>
                      </a:endParaRPr>
                    </a:p>
                  </a:txBody>
                  <a:tcPr marT="91425" marB="91425" marR="91425" marL="91425"/>
                </a:tc>
              </a:tr>
              <a:tr h="381000">
                <a:tc>
                  <a:txBody>
                    <a:bodyPr/>
                    <a:lstStyle/>
                    <a:p>
                      <a:pPr indent="0" lvl="0" marL="0" rtl="0" algn="l">
                        <a:spcBef>
                          <a:spcPts val="0"/>
                        </a:spcBef>
                        <a:spcAft>
                          <a:spcPts val="0"/>
                        </a:spcAft>
                        <a:buNone/>
                      </a:pPr>
                      <a:r>
                        <a:rPr b="1" lang="en-US" sz="1100">
                          <a:solidFill>
                            <a:srgbClr val="24314F"/>
                          </a:solidFill>
                        </a:rPr>
                        <a:t>Outlier Location</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Heavily clustered at Short </a:t>
                      </a:r>
                      <a:r>
                        <a:rPr b="1" lang="en-US" sz="1100">
                          <a:solidFill>
                            <a:srgbClr val="24314F"/>
                          </a:solidFill>
                        </a:rPr>
                        <a:t>prompt</a:t>
                      </a:r>
                      <a:r>
                        <a:rPr b="1" lang="en-US" sz="1100">
                          <a:solidFill>
                            <a:srgbClr val="24314F"/>
                          </a:solidFill>
                        </a:rPr>
                        <a:t> lengths</a:t>
                      </a:r>
                      <a:endParaRPr b="1" sz="1100">
                        <a:solidFill>
                          <a:srgbClr val="24314F"/>
                        </a:solidFill>
                      </a:endParaRPr>
                    </a:p>
                  </a:txBody>
                  <a:tcPr marT="91425" marB="91425" marR="91425" marL="91425"/>
                </a:tc>
              </a:tr>
              <a:tr h="381000">
                <a:tc>
                  <a:txBody>
                    <a:bodyPr/>
                    <a:lstStyle/>
                    <a:p>
                      <a:pPr indent="0" lvl="0" marL="0" rtl="0" algn="l">
                        <a:spcBef>
                          <a:spcPts val="0"/>
                        </a:spcBef>
                        <a:spcAft>
                          <a:spcPts val="0"/>
                        </a:spcAft>
                        <a:buNone/>
                      </a:pPr>
                      <a:r>
                        <a:rPr b="1" lang="en-US" sz="1100">
                          <a:solidFill>
                            <a:srgbClr val="24314F"/>
                          </a:solidFill>
                        </a:rPr>
                        <a:t>Interpretation</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By</a:t>
                      </a:r>
                      <a:r>
                        <a:rPr b="1" lang="en-US" sz="1100">
                          <a:solidFill>
                            <a:srgbClr val="24314F"/>
                          </a:solidFill>
                        </a:rPr>
                        <a:t> </a:t>
                      </a:r>
                      <a:r>
                        <a:rPr b="1" lang="en-US" sz="1100">
                          <a:solidFill>
                            <a:srgbClr val="24314F"/>
                          </a:solidFill>
                        </a:rPr>
                        <a:t>prioritizing</a:t>
                      </a:r>
                      <a:r>
                        <a:rPr b="1" lang="en-US" sz="1100">
                          <a:solidFill>
                            <a:srgbClr val="24314F"/>
                          </a:solidFill>
                        </a:rPr>
                        <a:t> shorter reqs it causes longer reqs to wait longer increasing their TTFT. Short reqs also had high TTFT because they were blocked by earlier, deprioritized long reqs.</a:t>
                      </a:r>
                      <a:endParaRPr b="1" sz="1100">
                        <a:solidFill>
                          <a:srgbClr val="24314F"/>
                        </a:solidFill>
                      </a:endParaRPr>
                    </a:p>
                  </a:txBody>
                  <a:tcPr marT="91425" marB="91425" marR="91425" marL="91425"/>
                </a:tc>
              </a:tr>
            </a:tbl>
          </a:graphicData>
        </a:graphic>
      </p:graphicFrame>
      <p:graphicFrame>
        <p:nvGraphicFramePr>
          <p:cNvPr id="2026" name="Google Shape;2026;g38d7132e677_1_8"/>
          <p:cNvGraphicFramePr/>
          <p:nvPr/>
        </p:nvGraphicFramePr>
        <p:xfrm>
          <a:off x="6141988" y="4607450"/>
          <a:ext cx="3000000" cy="3000000"/>
        </p:xfrm>
        <a:graphic>
          <a:graphicData uri="http://schemas.openxmlformats.org/drawingml/2006/table">
            <a:tbl>
              <a:tblPr>
                <a:noFill/>
                <a:tableStyleId>{EC67A452-83CC-4573-9EBC-7A23179EE2BC}</a:tableStyleId>
              </a:tblPr>
              <a:tblGrid>
                <a:gridCol w="2508850"/>
                <a:gridCol w="2508850"/>
              </a:tblGrid>
              <a:tr h="381000">
                <a:tc>
                  <a:txBody>
                    <a:bodyPr/>
                    <a:lstStyle/>
                    <a:p>
                      <a:pPr indent="0" lvl="0" marL="0" rtl="0" algn="l">
                        <a:spcBef>
                          <a:spcPts val="0"/>
                        </a:spcBef>
                        <a:spcAft>
                          <a:spcPts val="0"/>
                        </a:spcAft>
                        <a:buClr>
                          <a:schemeClr val="dk1"/>
                        </a:buClr>
                        <a:buSzPts val="1100"/>
                        <a:buFont typeface="Arial"/>
                        <a:buNone/>
                      </a:pPr>
                      <a:r>
                        <a:rPr b="1" lang="en-US" sz="1100">
                          <a:solidFill>
                            <a:srgbClr val="24314F"/>
                          </a:solidFill>
                        </a:rPr>
                        <a:t>P99 TTFT</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9,260 ms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100">
                          <a:solidFill>
                            <a:srgbClr val="24314F"/>
                          </a:solidFill>
                        </a:rPr>
                        <a:t>Outlier Location</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More dispersed across prompt lengths</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b="1" lang="en-US" sz="1100">
                          <a:solidFill>
                            <a:srgbClr val="24314F"/>
                          </a:solidFill>
                        </a:rPr>
                        <a:t>Interpretation</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100">
                          <a:solidFill>
                            <a:srgbClr val="24314F"/>
                          </a:solidFill>
                        </a:rPr>
                        <a:t>As FIFO ensures fairness in queue time the policy processes strictly by arrival order. Which prevents long-term starvation seen in SPF. This keeps the worst-case queuing delay better controlled.</a:t>
                      </a:r>
                      <a:endParaRPr b="1" sz="1100">
                        <a:solidFill>
                          <a:srgbClr val="24314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2027" name="Google Shape;2027;g38d7132e677_1_8" title="ttft_distribution_comparison.png"/>
          <p:cNvPicPr preferRelativeResize="0"/>
          <p:nvPr/>
        </p:nvPicPr>
        <p:blipFill>
          <a:blip r:embed="rId3">
            <a:alphaModFix/>
          </a:blip>
          <a:stretch>
            <a:fillRect/>
          </a:stretch>
        </p:blipFill>
        <p:spPr>
          <a:xfrm>
            <a:off x="6177050" y="1268377"/>
            <a:ext cx="5017701" cy="2926999"/>
          </a:xfrm>
          <a:prstGeom prst="rect">
            <a:avLst/>
          </a:prstGeom>
          <a:noFill/>
          <a:ln>
            <a:noFill/>
          </a:ln>
        </p:spPr>
      </p:pic>
      <p:pic>
        <p:nvPicPr>
          <p:cNvPr id="2028" name="Google Shape;2028;g38d7132e677_1_8" title="ttft_vs_prompt_length_comparison.png"/>
          <p:cNvPicPr preferRelativeResize="0"/>
          <p:nvPr/>
        </p:nvPicPr>
        <p:blipFill>
          <a:blip r:embed="rId4">
            <a:alphaModFix/>
          </a:blip>
          <a:stretch>
            <a:fillRect/>
          </a:stretch>
        </p:blipFill>
        <p:spPr>
          <a:xfrm>
            <a:off x="923826" y="1267169"/>
            <a:ext cx="5017701" cy="2926952"/>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grpSp>
        <p:nvGrpSpPr>
          <p:cNvPr id="2034" name="Google Shape;2034;g394f5161039_0_34"/>
          <p:cNvGrpSpPr/>
          <p:nvPr/>
        </p:nvGrpSpPr>
        <p:grpSpPr>
          <a:xfrm>
            <a:off x="685800" y="1838306"/>
            <a:ext cx="10820186" cy="5020055"/>
            <a:chOff x="0" y="-47625"/>
            <a:chExt cx="4274726" cy="2214600"/>
          </a:xfrm>
        </p:grpSpPr>
        <p:sp>
          <p:nvSpPr>
            <p:cNvPr id="2035" name="Google Shape;2035;g394f5161039_0_3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36" name="Google Shape;2036;g394f5161039_0_34"/>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37" name="Google Shape;2037;g394f5161039_0_34"/>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US" sz="2800">
                <a:solidFill>
                  <a:srgbClr val="24314F"/>
                </a:solidFill>
              </a:rPr>
              <a:t>SPF vs. FIFO (Conclusion)</a:t>
            </a:r>
            <a:endParaRPr sz="1200">
              <a:solidFill>
                <a:schemeClr val="dk1"/>
              </a:solidFill>
            </a:endParaRPr>
          </a:p>
          <a:p>
            <a:pPr indent="0" lvl="0" marL="0" marR="0" rtl="0" algn="l">
              <a:lnSpc>
                <a:spcPct val="130000"/>
              </a:lnSpc>
              <a:spcBef>
                <a:spcPts val="0"/>
              </a:spcBef>
              <a:spcAft>
                <a:spcPts val="0"/>
              </a:spcAft>
              <a:buNone/>
            </a:pPr>
            <a:r>
              <a:t/>
            </a:r>
            <a:endParaRPr b="1" sz="2800">
              <a:solidFill>
                <a:srgbClr val="24314F"/>
              </a:solidFill>
            </a:endParaRPr>
          </a:p>
        </p:txBody>
      </p:sp>
      <p:sp>
        <p:nvSpPr>
          <p:cNvPr id="2038" name="Google Shape;2038;g394f5161039_0_34"/>
          <p:cNvSpPr txBox="1"/>
          <p:nvPr/>
        </p:nvSpPr>
        <p:spPr>
          <a:xfrm>
            <a:off x="7643020" y="654051"/>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sp>
        <p:nvSpPr>
          <p:cNvPr id="2039" name="Google Shape;2039;g394f5161039_0_34"/>
          <p:cNvSpPr txBox="1"/>
          <p:nvPr/>
        </p:nvSpPr>
        <p:spPr>
          <a:xfrm>
            <a:off x="1652536" y="2460511"/>
            <a:ext cx="3863100" cy="43371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SPF Optimizes System Throughput at the Cost of Latency Fairness:</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The Shortest Processing First policy is the throughput optimizer. By prioritizing requests with the shortest initial workload (prefill), the system maximizes resource utilization and quickly clears the queue of easy jobs..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SPF achieved a higher request throughput 4.76 req/s vs. 4.68req/s for FIFO.</a:t>
            </a:r>
            <a:endParaRPr sz="1200"/>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SPF severely compromises user experience for the "unlucky" few. Its P99 TTFT (9,920 ms) is substantially worse than FIFO’s (9,260 ms). This is the visual signature of starvation, where high-latency requests (often long-prompt requests, or short requests stuck behind long ones) are indefinitely delayed.</a:t>
            </a:r>
            <a:endParaRPr sz="1200"/>
          </a:p>
          <a:p>
            <a:pPr indent="0" lvl="0" marL="914400" marR="0" rtl="0" algn="just">
              <a:lnSpc>
                <a:spcPct val="140060"/>
              </a:lnSpc>
              <a:spcBef>
                <a:spcPts val="0"/>
              </a:spcBef>
              <a:spcAft>
                <a:spcPts val="0"/>
              </a:spcAft>
              <a:buNone/>
            </a:pPr>
            <a:r>
              <a:t/>
            </a:r>
            <a:endParaRPr sz="1200"/>
          </a:p>
        </p:txBody>
      </p:sp>
      <p:grpSp>
        <p:nvGrpSpPr>
          <p:cNvPr id="2040" name="Google Shape;2040;g394f5161039_0_34"/>
          <p:cNvGrpSpPr/>
          <p:nvPr/>
        </p:nvGrpSpPr>
        <p:grpSpPr>
          <a:xfrm>
            <a:off x="1295637" y="2126175"/>
            <a:ext cx="4577069" cy="4503313"/>
            <a:chOff x="0" y="-47625"/>
            <a:chExt cx="1808189" cy="1538700"/>
          </a:xfrm>
        </p:grpSpPr>
        <p:sp>
          <p:nvSpPr>
            <p:cNvPr id="2041" name="Google Shape;2041;g394f5161039_0_34"/>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42" name="Google Shape;2042;g394f5161039_0_34"/>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43" name="Google Shape;2043;g394f5161039_0_34"/>
          <p:cNvSpPr txBox="1"/>
          <p:nvPr/>
        </p:nvSpPr>
        <p:spPr>
          <a:xfrm>
            <a:off x="1652536" y="2460511"/>
            <a:ext cx="3863100" cy="43371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SPF Optimizes System Throughput at the Cost of Latency Fairness:</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The Shortest Processing First policy is the throughput optimizer. By prioritizing requests with the shortest initial workload (prefill), the system maximizes resource utilization and quickly clears the queue of easy jobs.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SPF achieved a higher request throughput 4.76 req/s vs. 4.68req/s for FIFO.</a:t>
            </a:r>
            <a:endParaRPr sz="1200"/>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SPF severely compromises user experience for the "unlucky" few. Its P99 TTFT (9,920 ms) is substantially worse than FIFO’s (9,260 ms). This is the visual signature of starvation, where high-latency requests (often long-prompt requests, or short requests stuck behind long ones) are indefinitely delayed.</a:t>
            </a:r>
            <a:endParaRPr sz="1200"/>
          </a:p>
          <a:p>
            <a:pPr indent="0" lvl="0" marL="914400" marR="0" rtl="0" algn="just">
              <a:lnSpc>
                <a:spcPct val="140060"/>
              </a:lnSpc>
              <a:spcBef>
                <a:spcPts val="0"/>
              </a:spcBef>
              <a:spcAft>
                <a:spcPts val="0"/>
              </a:spcAft>
              <a:buNone/>
            </a:pPr>
            <a:r>
              <a:t/>
            </a:r>
            <a:endParaRPr sz="1200"/>
          </a:p>
        </p:txBody>
      </p:sp>
      <p:grpSp>
        <p:nvGrpSpPr>
          <p:cNvPr id="2044" name="Google Shape;2044;g394f5161039_0_34"/>
          <p:cNvGrpSpPr/>
          <p:nvPr/>
        </p:nvGrpSpPr>
        <p:grpSpPr>
          <a:xfrm>
            <a:off x="6260355" y="2201867"/>
            <a:ext cx="4577069" cy="4002260"/>
            <a:chOff x="0" y="-47625"/>
            <a:chExt cx="1808189" cy="1790400"/>
          </a:xfrm>
        </p:grpSpPr>
        <p:sp>
          <p:nvSpPr>
            <p:cNvPr id="2045" name="Google Shape;2045;g394f5161039_0_3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46" name="Google Shape;2046;g394f5161039_0_34"/>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47" name="Google Shape;2047;g394f5161039_0_34"/>
          <p:cNvSpPr txBox="1"/>
          <p:nvPr/>
        </p:nvSpPr>
        <p:spPr>
          <a:xfrm>
            <a:off x="6617254" y="2517633"/>
            <a:ext cx="3863100" cy="35940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FIFO Maintains Latency Fairness and Stability</a:t>
            </a:r>
            <a:r>
              <a:rPr b="1" lang="en-US" sz="1133">
                <a:solidFill>
                  <a:srgbClr val="24314F"/>
                </a:solidFill>
                <a:latin typeface="Inter"/>
                <a:ea typeface="Inter"/>
                <a:cs typeface="Inter"/>
                <a:sym typeface="Inter"/>
              </a:rPr>
              <a:t>: </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1" marL="143946"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The First-In, First-Out policy ensures a more predictable and fair waiting experience, preventing starvation.</a:t>
            </a:r>
            <a:endParaRPr sz="1200"/>
          </a:p>
          <a:p>
            <a:pPr indent="-131247" lvl="1" marL="287892" rtl="0" algn="just">
              <a:lnSpc>
                <a:spcPct val="140060"/>
              </a:lnSpc>
              <a:spcBef>
                <a:spcPts val="0"/>
              </a:spcBef>
              <a:spcAft>
                <a:spcPts val="0"/>
              </a:spcAft>
              <a:buClr>
                <a:srgbClr val="24314F"/>
              </a:buClr>
              <a:buSzPts val="1133"/>
              <a:buChar char="•"/>
            </a:pPr>
            <a:r>
              <a:rPr b="1" lang="en-US" sz="1133">
                <a:solidFill>
                  <a:srgbClr val="24314F"/>
                </a:solidFill>
                <a:latin typeface="Inter SemiBold"/>
                <a:ea typeface="Inter SemiBold"/>
                <a:cs typeface="Inter SemiBold"/>
                <a:sym typeface="Inter SemiBold"/>
              </a:rPr>
              <a:t>FIFO maintained a slightly better median TTFT (886.20 ms vs 903.69ms for SPF) and a much lower TTFT. By strictly adhering to arrival order, it limits the maximum time any request can be delayed, keeping the tail latency under better control.</a:t>
            </a:r>
            <a:endParaRPr b="1" sz="1133">
              <a:solidFill>
                <a:srgbClr val="24314F"/>
              </a:solidFill>
              <a:latin typeface="Inter SemiBold"/>
              <a:ea typeface="Inter SemiBold"/>
              <a:cs typeface="Inter SemiBold"/>
              <a:sym typeface="Inter SemiBold"/>
            </a:endParaRPr>
          </a:p>
          <a:p>
            <a:pPr indent="-131247" lvl="1" marL="287892" rtl="0" algn="just">
              <a:lnSpc>
                <a:spcPct val="140060"/>
              </a:lnSpc>
              <a:spcBef>
                <a:spcPts val="0"/>
              </a:spcBef>
              <a:spcAft>
                <a:spcPts val="0"/>
              </a:spcAft>
              <a:buClr>
                <a:srgbClr val="24314F"/>
              </a:buClr>
              <a:buSzPts val="1133"/>
              <a:buFont typeface="Inter SemiBold"/>
              <a:buChar char="•"/>
            </a:pPr>
            <a:r>
              <a:rPr b="1" lang="en-US" sz="1133">
                <a:solidFill>
                  <a:srgbClr val="24314F"/>
                </a:solidFill>
                <a:latin typeface="Inter SemiBold"/>
                <a:ea typeface="Inter SemiBold"/>
                <a:cs typeface="Inter SemiBold"/>
                <a:sym typeface="Inter SemiBold"/>
              </a:rPr>
              <a:t>Trade-off(Head-of-Line Blocking): In the case where a single, long request arriving first can temporarily increase the latency for all subsequent short requests.</a:t>
            </a:r>
            <a:endParaRPr b="1" sz="1133">
              <a:solidFill>
                <a:srgbClr val="24314F"/>
              </a:solidFill>
              <a:latin typeface="Inter SemiBold"/>
              <a:ea typeface="Inter SemiBold"/>
              <a:cs typeface="Inter SemiBold"/>
              <a:sym typeface="Inter SemiBo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grpSp>
        <p:nvGrpSpPr>
          <p:cNvPr id="2053" name="Google Shape;2053;g394f5161039_0_59"/>
          <p:cNvGrpSpPr/>
          <p:nvPr/>
        </p:nvGrpSpPr>
        <p:grpSpPr>
          <a:xfrm>
            <a:off x="685800" y="1838306"/>
            <a:ext cx="10820186" cy="5020055"/>
            <a:chOff x="0" y="-47625"/>
            <a:chExt cx="4274726" cy="2214600"/>
          </a:xfrm>
        </p:grpSpPr>
        <p:sp>
          <p:nvSpPr>
            <p:cNvPr id="2054" name="Google Shape;2054;g394f5161039_0_5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55" name="Google Shape;2055;g394f5161039_0_59"/>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56" name="Google Shape;2056;g394f5161039_0_59"/>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b="1" lang="en-US" sz="2800">
                <a:solidFill>
                  <a:srgbClr val="24314F"/>
                </a:solidFill>
              </a:rPr>
              <a:t>SPF vs. FIFO (Use Case)</a:t>
            </a:r>
            <a:endParaRPr sz="1200">
              <a:solidFill>
                <a:schemeClr val="dk1"/>
              </a:solidFill>
            </a:endParaRPr>
          </a:p>
          <a:p>
            <a:pPr indent="0" lvl="0" marL="0" marR="0" rtl="0" algn="l">
              <a:lnSpc>
                <a:spcPct val="130000"/>
              </a:lnSpc>
              <a:spcBef>
                <a:spcPts val="0"/>
              </a:spcBef>
              <a:spcAft>
                <a:spcPts val="0"/>
              </a:spcAft>
              <a:buNone/>
            </a:pPr>
            <a:r>
              <a:t/>
            </a:r>
            <a:endParaRPr b="1" sz="2800">
              <a:solidFill>
                <a:srgbClr val="24314F"/>
              </a:solidFill>
            </a:endParaRPr>
          </a:p>
        </p:txBody>
      </p:sp>
      <p:sp>
        <p:nvSpPr>
          <p:cNvPr id="2057" name="Google Shape;2057;g394f5161039_0_59"/>
          <p:cNvSpPr txBox="1"/>
          <p:nvPr/>
        </p:nvSpPr>
        <p:spPr>
          <a:xfrm>
            <a:off x="7643020" y="654051"/>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grpSp>
        <p:nvGrpSpPr>
          <p:cNvPr id="2058" name="Google Shape;2058;g394f5161039_0_59"/>
          <p:cNvGrpSpPr/>
          <p:nvPr/>
        </p:nvGrpSpPr>
        <p:grpSpPr>
          <a:xfrm>
            <a:off x="1110125" y="2286025"/>
            <a:ext cx="5742808" cy="3213410"/>
            <a:chOff x="0" y="-47625"/>
            <a:chExt cx="1808189" cy="1790400"/>
          </a:xfrm>
        </p:grpSpPr>
        <p:sp>
          <p:nvSpPr>
            <p:cNvPr id="2059" name="Google Shape;2059;g394f5161039_0_59"/>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0" name="Google Shape;2060;g394f5161039_0_59"/>
            <p:cNvSpPr txBox="1"/>
            <p:nvPr/>
          </p:nvSpPr>
          <p:spPr>
            <a:xfrm>
              <a:off x="0" y="-47625"/>
              <a:ext cx="1808100" cy="17904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aphicFrame>
        <p:nvGraphicFramePr>
          <p:cNvPr id="2061" name="Google Shape;2061;g394f5161039_0_59"/>
          <p:cNvGraphicFramePr/>
          <p:nvPr/>
        </p:nvGraphicFramePr>
        <p:xfrm>
          <a:off x="1498900" y="2681188"/>
          <a:ext cx="3000000" cy="3000000"/>
        </p:xfrm>
        <a:graphic>
          <a:graphicData uri="http://schemas.openxmlformats.org/drawingml/2006/table">
            <a:tbl>
              <a:tblPr>
                <a:noFill/>
                <a:tableStyleId>{EC67A452-83CC-4573-9EBC-7A23179EE2BC}</a:tableStyleId>
              </a:tblPr>
              <a:tblGrid>
                <a:gridCol w="1655075"/>
                <a:gridCol w="1655075"/>
                <a:gridCol w="1655075"/>
              </a:tblGrid>
              <a:tr h="381000">
                <a:tc>
                  <a:txBody>
                    <a:bodyPr/>
                    <a:lstStyle/>
                    <a:p>
                      <a:pPr indent="0" lvl="0" marL="0" rtl="0" algn="l">
                        <a:spcBef>
                          <a:spcPts val="0"/>
                        </a:spcBef>
                        <a:spcAft>
                          <a:spcPts val="0"/>
                        </a:spcAft>
                        <a:buNone/>
                      </a:pPr>
                      <a:r>
                        <a:rPr b="1" lang="en-US" sz="1100">
                          <a:solidFill>
                            <a:srgbClr val="24314F"/>
                          </a:solidFill>
                        </a:rPr>
                        <a:t>Use Case</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Optimal Policy</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Reason</a:t>
                      </a:r>
                      <a:endParaRPr b="1" sz="1100">
                        <a:solidFill>
                          <a:srgbClr val="24314F"/>
                        </a:solidFill>
                      </a:endParaRPr>
                    </a:p>
                  </a:txBody>
                  <a:tcPr marT="91425" marB="91425" marR="91425" marL="91425"/>
                </a:tc>
              </a:tr>
              <a:tr h="381000">
                <a:tc>
                  <a:txBody>
                    <a:bodyPr/>
                    <a:lstStyle/>
                    <a:p>
                      <a:pPr indent="0" lvl="0" marL="0" rtl="0" algn="l">
                        <a:spcBef>
                          <a:spcPts val="0"/>
                        </a:spcBef>
                        <a:spcAft>
                          <a:spcPts val="0"/>
                        </a:spcAft>
                        <a:buNone/>
                      </a:pPr>
                      <a:r>
                        <a:rPr b="1" lang="en-US" sz="1100">
                          <a:solidFill>
                            <a:srgbClr val="24314F"/>
                          </a:solidFill>
                        </a:rPr>
                        <a:t>Batch/Offline Processing</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SPF</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Maximizes overall job completion rate; individual latency is less critical.</a:t>
                      </a:r>
                      <a:endParaRPr b="1" sz="1100">
                        <a:solidFill>
                          <a:srgbClr val="24314F"/>
                        </a:solidFill>
                      </a:endParaRPr>
                    </a:p>
                  </a:txBody>
                  <a:tcPr marT="91425" marB="91425" marR="91425" marL="91425"/>
                </a:tc>
              </a:tr>
              <a:tr h="381000">
                <a:tc>
                  <a:txBody>
                    <a:bodyPr/>
                    <a:lstStyle/>
                    <a:p>
                      <a:pPr indent="0" lvl="0" marL="0" rtl="0" algn="l">
                        <a:spcBef>
                          <a:spcPts val="0"/>
                        </a:spcBef>
                        <a:spcAft>
                          <a:spcPts val="0"/>
                        </a:spcAft>
                        <a:buNone/>
                      </a:pPr>
                      <a:r>
                        <a:rPr b="1" lang="en-US" sz="1100">
                          <a:solidFill>
                            <a:srgbClr val="24314F"/>
                          </a:solidFill>
                        </a:rPr>
                        <a:t>Interactive Chatbots/Agents</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FIFO</a:t>
                      </a:r>
                      <a:endParaRPr b="1" sz="1100">
                        <a:solidFill>
                          <a:srgbClr val="24314F"/>
                        </a:solidFill>
                      </a:endParaRPr>
                    </a:p>
                  </a:txBody>
                  <a:tcPr marT="91425" marB="91425" marR="91425" marL="91425"/>
                </a:tc>
                <a:tc>
                  <a:txBody>
                    <a:bodyPr/>
                    <a:lstStyle/>
                    <a:p>
                      <a:pPr indent="0" lvl="0" marL="0" rtl="0" algn="l">
                        <a:spcBef>
                          <a:spcPts val="0"/>
                        </a:spcBef>
                        <a:spcAft>
                          <a:spcPts val="0"/>
                        </a:spcAft>
                        <a:buNone/>
                      </a:pPr>
                      <a:r>
                        <a:rPr b="1" lang="en-US" sz="1100">
                          <a:solidFill>
                            <a:srgbClr val="24314F"/>
                          </a:solidFill>
                        </a:rPr>
                        <a:t>Minimizes the chance of extreme latency outliers and provides a fairer, more stable experience across all users.</a:t>
                      </a:r>
                      <a:endParaRPr b="1" sz="1100">
                        <a:solidFill>
                          <a:srgbClr val="24314F"/>
                        </a:solidFill>
                      </a:endParaRPr>
                    </a:p>
                  </a:txBody>
                  <a:tcPr marT="91425" marB="91425" marR="91425" marL="91425"/>
                </a:tc>
              </a:tr>
            </a:tbl>
          </a:graphicData>
        </a:graphic>
      </p:graphicFrame>
      <p:grpSp>
        <p:nvGrpSpPr>
          <p:cNvPr id="2062" name="Google Shape;2062;g394f5161039_0_59"/>
          <p:cNvGrpSpPr/>
          <p:nvPr/>
        </p:nvGrpSpPr>
        <p:grpSpPr>
          <a:xfrm>
            <a:off x="7062600" y="2291975"/>
            <a:ext cx="4093559" cy="2717190"/>
            <a:chOff x="0" y="-47625"/>
            <a:chExt cx="1808189" cy="1538700"/>
          </a:xfrm>
        </p:grpSpPr>
        <p:sp>
          <p:nvSpPr>
            <p:cNvPr id="2063" name="Google Shape;2063;g394f5161039_0_59"/>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4" name="Google Shape;2064;g394f5161039_0_59"/>
            <p:cNvSpPr txBox="1"/>
            <p:nvPr/>
          </p:nvSpPr>
          <p:spPr>
            <a:xfrm>
              <a:off x="0" y="-47625"/>
              <a:ext cx="1808100" cy="15387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65" name="Google Shape;2065;g394f5161039_0_59"/>
          <p:cNvSpPr txBox="1"/>
          <p:nvPr/>
        </p:nvSpPr>
        <p:spPr>
          <a:xfrm>
            <a:off x="7419502" y="2626299"/>
            <a:ext cx="3310500" cy="23829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What I changed in the code</a:t>
            </a:r>
            <a:r>
              <a:rPr b="1" lang="en-US" sz="1133">
                <a:solidFill>
                  <a:srgbClr val="24314F"/>
                </a:solidFill>
                <a:latin typeface="Inter"/>
                <a:ea typeface="Inter"/>
                <a:cs typeface="Inter"/>
                <a:sym typeface="Inter"/>
              </a:rPr>
              <a:t>:</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Instead of using vllm.entrypoints.cli.main i used threading request and random to</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Simulate 200 concurrent users based on a possession arrival process,</a:t>
            </a:r>
            <a:endParaRPr sz="1200"/>
          </a:p>
          <a:p>
            <a:pPr indent="-131247" lvl="1" marL="287892" marR="0" rtl="0" algn="just">
              <a:lnSpc>
                <a:spcPct val="140060"/>
              </a:lnSpc>
              <a:spcBef>
                <a:spcPts val="0"/>
              </a:spcBef>
              <a:spcAft>
                <a:spcPts val="0"/>
              </a:spcAft>
              <a:buClr>
                <a:srgbClr val="24314F"/>
              </a:buClr>
              <a:buSzPts val="1133"/>
              <a:buFont typeface="Arial"/>
              <a:buChar char="•"/>
            </a:pPr>
            <a:r>
              <a:rPr b="1" lang="en-US" sz="1133">
                <a:solidFill>
                  <a:srgbClr val="24314F"/>
                </a:solidFill>
                <a:latin typeface="Inter SemiBold"/>
                <a:ea typeface="Inter SemiBold"/>
                <a:cs typeface="Inter SemiBold"/>
                <a:sym typeface="Inter SemiBold"/>
              </a:rPr>
              <a:t>Use the benchmark_worker function to run on multiple threads, to generate concurrent load.</a:t>
            </a:r>
            <a:endParaRPr b="1" sz="1133">
              <a:solidFill>
                <a:srgbClr val="24314F"/>
              </a:solidFill>
              <a:latin typeface="Inter SemiBold"/>
              <a:ea typeface="Inter SemiBold"/>
              <a:cs typeface="Inter SemiBold"/>
              <a:sym typeface="Inter SemiBold"/>
            </a:endParaRPr>
          </a:p>
          <a:p>
            <a:pPr indent="0" lvl="0" marL="914400" marR="0" rtl="0" algn="just">
              <a:lnSpc>
                <a:spcPct val="140060"/>
              </a:lnSpc>
              <a:spcBef>
                <a:spcPts val="0"/>
              </a:spcBef>
              <a:spcAft>
                <a:spcPts val="0"/>
              </a:spcAft>
              <a:buNone/>
            </a:pPr>
            <a:r>
              <a:t/>
            </a:r>
            <a:endParaRPr sz="1200"/>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sp>
        <p:nvSpPr>
          <p:cNvPr id="2071" name="Google Shape;2071;g39b98479d51_0_32"/>
          <p:cNvSpPr txBox="1"/>
          <p:nvPr/>
        </p:nvSpPr>
        <p:spPr>
          <a:xfrm>
            <a:off x="596775" y="381525"/>
            <a:ext cx="96363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a:solidFill>
                  <a:srgbClr val="FF0000"/>
                </a:solidFill>
              </a:rPr>
              <a:t>Next Step</a:t>
            </a:r>
            <a:endParaRPr sz="3400">
              <a:solidFill>
                <a:srgbClr val="FF0000"/>
              </a:solidFill>
            </a:endParaRPr>
          </a:p>
        </p:txBody>
      </p:sp>
      <p:sp>
        <p:nvSpPr>
          <p:cNvPr id="2072" name="Google Shape;2072;g39b98479d51_0_32"/>
          <p:cNvSpPr txBox="1"/>
          <p:nvPr/>
        </p:nvSpPr>
        <p:spPr>
          <a:xfrm>
            <a:off x="758925" y="1463325"/>
            <a:ext cx="9636300" cy="45924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dk1"/>
              </a:buClr>
              <a:buSzPts val="2900"/>
              <a:buChar char="●"/>
            </a:pPr>
            <a:r>
              <a:rPr lang="en-US" sz="2900">
                <a:solidFill>
                  <a:schemeClr val="dk1"/>
                </a:solidFill>
              </a:rPr>
              <a:t>Run the VQA workflow with vLLM</a:t>
            </a:r>
            <a:endParaRPr sz="2900">
              <a:solidFill>
                <a:schemeClr val="dk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7" name="Shape 2077"/>
        <p:cNvGrpSpPr/>
        <p:nvPr/>
      </p:nvGrpSpPr>
      <p:grpSpPr>
        <a:xfrm>
          <a:off x="0" y="0"/>
          <a:ext cx="0" cy="0"/>
          <a:chOff x="0" y="0"/>
          <a:chExt cx="0" cy="0"/>
        </a:xfrm>
      </p:grpSpPr>
      <p:grpSp>
        <p:nvGrpSpPr>
          <p:cNvPr id="2078" name="Google Shape;2078;g394f1823905_0_0"/>
          <p:cNvGrpSpPr/>
          <p:nvPr/>
        </p:nvGrpSpPr>
        <p:grpSpPr>
          <a:xfrm>
            <a:off x="685800" y="837109"/>
            <a:ext cx="10820186" cy="6021276"/>
            <a:chOff x="0" y="-47625"/>
            <a:chExt cx="4274726" cy="2214600"/>
          </a:xfrm>
        </p:grpSpPr>
        <p:sp>
          <p:nvSpPr>
            <p:cNvPr id="2079" name="Google Shape;2079;g394f1823905_0_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80" name="Google Shape;2080;g394f1823905_0_0"/>
            <p:cNvSpPr txBox="1"/>
            <p:nvPr/>
          </p:nvSpPr>
          <p:spPr>
            <a:xfrm>
              <a:off x="0" y="-47625"/>
              <a:ext cx="4274700" cy="2214600"/>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081" name="Google Shape;2081;g394f1823905_0_0"/>
          <p:cNvSpPr txBox="1"/>
          <p:nvPr/>
        </p:nvSpPr>
        <p:spPr>
          <a:xfrm>
            <a:off x="685800" y="338175"/>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SPF vs. FIFO</a:t>
            </a:r>
            <a:endParaRPr sz="1200"/>
          </a:p>
        </p:txBody>
      </p:sp>
      <p:sp>
        <p:nvSpPr>
          <p:cNvPr id="2082" name="Google Shape;2082;g394f1823905_0_0"/>
          <p:cNvSpPr txBox="1"/>
          <p:nvPr/>
        </p:nvSpPr>
        <p:spPr>
          <a:xfrm>
            <a:off x="7643020" y="494473"/>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pic>
        <p:nvPicPr>
          <p:cNvPr id="2083" name="Google Shape;2083;g394f1823905_0_0"/>
          <p:cNvPicPr preferRelativeResize="0"/>
          <p:nvPr/>
        </p:nvPicPr>
        <p:blipFill rotWithShape="1">
          <a:blip r:embed="rId3">
            <a:alphaModFix/>
          </a:blip>
          <a:srcRect b="0" l="0" r="0" t="0"/>
          <a:stretch/>
        </p:blipFill>
        <p:spPr>
          <a:xfrm>
            <a:off x="961931" y="1328664"/>
            <a:ext cx="4067691" cy="3712261"/>
          </a:xfrm>
          <a:prstGeom prst="rect">
            <a:avLst/>
          </a:prstGeom>
          <a:noFill/>
          <a:ln>
            <a:noFill/>
          </a:ln>
        </p:spPr>
      </p:pic>
      <p:pic>
        <p:nvPicPr>
          <p:cNvPr id="2084" name="Google Shape;2084;g394f1823905_0_0"/>
          <p:cNvPicPr preferRelativeResize="0"/>
          <p:nvPr/>
        </p:nvPicPr>
        <p:blipFill rotWithShape="1">
          <a:blip r:embed="rId4">
            <a:alphaModFix/>
          </a:blip>
          <a:srcRect b="0" l="0" r="0" t="0"/>
          <a:stretch/>
        </p:blipFill>
        <p:spPr>
          <a:xfrm>
            <a:off x="6096000" y="1370106"/>
            <a:ext cx="4442682" cy="3712261"/>
          </a:xfrm>
          <a:prstGeom prst="rect">
            <a:avLst/>
          </a:prstGeom>
          <a:noFill/>
          <a:ln>
            <a:noFill/>
          </a:ln>
        </p:spPr>
      </p:pic>
      <p:sp>
        <p:nvSpPr>
          <p:cNvPr id="2085" name="Google Shape;2085;g394f1823905_0_0"/>
          <p:cNvSpPr txBox="1"/>
          <p:nvPr/>
        </p:nvSpPr>
        <p:spPr>
          <a:xfrm>
            <a:off x="961931" y="1097189"/>
            <a:ext cx="3863100" cy="174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With SPF (cat SPF.o12054748)</a:t>
            </a:r>
            <a:endParaRPr sz="1200"/>
          </a:p>
        </p:txBody>
      </p:sp>
      <p:sp>
        <p:nvSpPr>
          <p:cNvPr id="2086" name="Google Shape;2086;g394f1823905_0_0"/>
          <p:cNvSpPr txBox="1"/>
          <p:nvPr/>
        </p:nvSpPr>
        <p:spPr>
          <a:xfrm>
            <a:off x="6096000" y="1097189"/>
            <a:ext cx="3863100" cy="174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With FIFO (default) (cat FIFO.o12054930)</a:t>
            </a:r>
            <a:endParaRPr b="1" sz="1133">
              <a:solidFill>
                <a:srgbClr val="24314F"/>
              </a:solidFill>
              <a:latin typeface="Inter SemiBold"/>
              <a:ea typeface="Inter SemiBold"/>
              <a:cs typeface="Inter SemiBold"/>
              <a:sym typeface="Inter SemiBold"/>
            </a:endParaRPr>
          </a:p>
        </p:txBody>
      </p:sp>
      <p:sp>
        <p:nvSpPr>
          <p:cNvPr id="2087" name="Google Shape;2087;g394f1823905_0_0"/>
          <p:cNvSpPr txBox="1"/>
          <p:nvPr/>
        </p:nvSpPr>
        <p:spPr>
          <a:xfrm>
            <a:off x="915906" y="5161591"/>
            <a:ext cx="10360200" cy="1639800"/>
          </a:xfrm>
          <a:prstGeom prst="rect">
            <a:avLst/>
          </a:prstGeom>
          <a:noFill/>
          <a:ln>
            <a:noFill/>
          </a:ln>
        </p:spPr>
        <p:txBody>
          <a:bodyPr anchorCtr="0" anchor="t" bIns="0" lIns="0" spcFirstLastPara="1" rIns="0" wrap="square" tIns="0">
            <a:spAutoFit/>
          </a:bodyPr>
          <a:lstStyle/>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With SPF it processes 5.40 requests/second which is 14% higher than FIFO’s 4.75 req/s</a:t>
            </a:r>
            <a:endParaRPr sz="1200"/>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FIFO has a slightly better median TTFT (907ms vs 919ms). This is because FIFO immediately serves the newest request that just arrived.</a:t>
            </a:r>
            <a:endParaRPr sz="1200"/>
          </a:p>
          <a:p>
            <a:pPr indent="-300546" lvl="0" marL="457200" marR="0" rtl="0" algn="just">
              <a:lnSpc>
                <a:spcPct val="140060"/>
              </a:lnSpc>
              <a:spcBef>
                <a:spcPts val="0"/>
              </a:spcBef>
              <a:spcAft>
                <a:spcPts val="0"/>
              </a:spcAft>
              <a:buClr>
                <a:srgbClr val="24314F"/>
              </a:buClr>
              <a:buSzPts val="1133"/>
              <a:buFont typeface="Inter"/>
              <a:buChar char="-"/>
            </a:pPr>
            <a:r>
              <a:rPr b="1" lang="en-US" sz="1133">
                <a:solidFill>
                  <a:srgbClr val="24314F"/>
                </a:solidFill>
                <a:latin typeface="Inter"/>
                <a:ea typeface="Inter"/>
                <a:cs typeface="Inter"/>
                <a:sym typeface="Inter"/>
              </a:rPr>
              <a:t>The P99 TTFT shows that in FIFO, the slowest 1% of requests took over 9.5 seconds to get a response, while SPF took 8.8 seconds. I suspect this is due to Head-of-Line(HoL) blocking, With FIFO, if a short, easy request gets stuck in the queue behind a very long, slow request, it simply has to wait. SPF avoids this by allowing the short request to "jump the line," which significantly improves the worst-case wait time.</a:t>
            </a:r>
            <a:endParaRPr sz="1200"/>
          </a:p>
          <a:p>
            <a:pPr indent="-300546" lvl="0" marL="457200" marR="0" rtl="0" algn="just">
              <a:lnSpc>
                <a:spcPct val="140060"/>
              </a:lnSpc>
              <a:spcBef>
                <a:spcPts val="0"/>
              </a:spcBef>
              <a:spcAft>
                <a:spcPts val="0"/>
              </a:spcAft>
              <a:buClr>
                <a:srgbClr val="24314F"/>
              </a:buClr>
              <a:buSzPts val="1133"/>
              <a:buFont typeface="Inter SemiBold"/>
              <a:buChar char="-"/>
            </a:pPr>
            <a:r>
              <a:rPr b="1" lang="en-US" sz="1133">
                <a:solidFill>
                  <a:srgbClr val="24314F"/>
                </a:solidFill>
                <a:latin typeface="Inter SemiBold"/>
                <a:ea typeface="Inter SemiBold"/>
                <a:cs typeface="Inter SemiBold"/>
                <a:sym typeface="Inter SemiBold"/>
              </a:rPr>
              <a:t>FIFO has a better median, this is probably because SPF has a small overhead where it has to sort the waiting requests to find the shortest one.</a:t>
            </a:r>
            <a:endParaRPr sz="1200"/>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1" name="Shape 2091"/>
        <p:cNvGrpSpPr/>
        <p:nvPr/>
      </p:nvGrpSpPr>
      <p:grpSpPr>
        <a:xfrm>
          <a:off x="0" y="0"/>
          <a:ext cx="0" cy="0"/>
          <a:chOff x="0" y="0"/>
          <a:chExt cx="0" cy="0"/>
        </a:xfrm>
      </p:grpSpPr>
      <p:sp>
        <p:nvSpPr>
          <p:cNvPr id="2092" name="Google Shape;209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ADLaM Display"/>
              <a:buNone/>
            </a:pPr>
            <a:r>
              <a:rPr lang="en-US">
                <a:solidFill>
                  <a:srgbClr val="FF0000"/>
                </a:solidFill>
                <a:latin typeface="ADLaM Display"/>
                <a:ea typeface="ADLaM Display"/>
                <a:cs typeface="ADLaM Display"/>
                <a:sym typeface="ADLaM Display"/>
              </a:rPr>
              <a:t>Plans-02/10/2025</a:t>
            </a:r>
            <a:endParaRPr>
              <a:solidFill>
                <a:srgbClr val="FF0000"/>
              </a:solidFill>
              <a:latin typeface="ADLaM Display"/>
              <a:ea typeface="ADLaM Display"/>
              <a:cs typeface="ADLaM Display"/>
              <a:sym typeface="ADLaM Display"/>
            </a:endParaRPr>
          </a:p>
        </p:txBody>
      </p:sp>
      <p:sp>
        <p:nvSpPr>
          <p:cNvPr id="2093" name="Google Shape;209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TODO</a:t>
            </a:r>
            <a:endParaRPr/>
          </a:p>
          <a:p>
            <a:pPr indent="-228600" lvl="1" marL="685800" rtl="0" algn="l">
              <a:lnSpc>
                <a:spcPct val="90000"/>
              </a:lnSpc>
              <a:spcBef>
                <a:spcPts val="500"/>
              </a:spcBef>
              <a:spcAft>
                <a:spcPts val="0"/>
              </a:spcAft>
              <a:buClr>
                <a:schemeClr val="dk1"/>
              </a:buClr>
              <a:buSzPts val="2400"/>
              <a:buChar char="•"/>
            </a:pPr>
            <a:r>
              <a:rPr lang="en-US"/>
              <a:t>Read the paper of vLLM</a:t>
            </a:r>
            <a:r>
              <a:rPr baseline="30000" lang="en-US"/>
              <a:t>[1]</a:t>
            </a:r>
            <a:endParaRPr/>
          </a:p>
          <a:p>
            <a:pPr indent="-228600" lvl="1" marL="685800" rtl="0" algn="l">
              <a:lnSpc>
                <a:spcPct val="90000"/>
              </a:lnSpc>
              <a:spcBef>
                <a:spcPts val="500"/>
              </a:spcBef>
              <a:spcAft>
                <a:spcPts val="0"/>
              </a:spcAft>
              <a:buClr>
                <a:schemeClr val="dk1"/>
              </a:buClr>
              <a:buSzPts val="2400"/>
              <a:buChar char="•"/>
            </a:pPr>
            <a:r>
              <a:rPr lang="en-US"/>
              <a:t>Conduct a small experiment with vLLM using NSCC cluster</a:t>
            </a:r>
            <a:endParaRPr/>
          </a:p>
          <a:p>
            <a:pPr indent="-228600" lvl="1" marL="685800" rtl="0" algn="l">
              <a:lnSpc>
                <a:spcPct val="90000"/>
              </a:lnSpc>
              <a:spcBef>
                <a:spcPts val="500"/>
              </a:spcBef>
              <a:spcAft>
                <a:spcPts val="0"/>
              </a:spcAft>
              <a:buClr>
                <a:schemeClr val="dk1"/>
              </a:buClr>
              <a:buSzPts val="2400"/>
              <a:buChar char="•"/>
            </a:pPr>
            <a:r>
              <a:rPr lang="en-US"/>
              <a:t>Understand the workflow details of vLLM</a:t>
            </a:r>
            <a:endParaRPr/>
          </a:p>
          <a:p>
            <a:pPr indent="-228600" lvl="1" marL="685800" rtl="0" algn="l">
              <a:lnSpc>
                <a:spcPct val="90000"/>
              </a:lnSpc>
              <a:spcBef>
                <a:spcPts val="500"/>
              </a:spcBef>
              <a:spcAft>
                <a:spcPts val="0"/>
              </a:spcAft>
              <a:buClr>
                <a:schemeClr val="dk1"/>
              </a:buClr>
              <a:buSzPts val="2400"/>
              <a:buChar char="•"/>
            </a:pPr>
            <a:r>
              <a:rPr lang="en-US"/>
              <a:t>Modify the scheduling policies in vLLM</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Read the paper of Agent Workflow</a:t>
            </a:r>
            <a:r>
              <a:rPr baseline="30000" lang="en-US"/>
              <a:t>[2] </a:t>
            </a:r>
            <a:endParaRPr/>
          </a:p>
          <a:p>
            <a:pPr indent="-228600" lvl="1" marL="685800" rtl="0" algn="l">
              <a:lnSpc>
                <a:spcPct val="90000"/>
              </a:lnSpc>
              <a:spcBef>
                <a:spcPts val="500"/>
              </a:spcBef>
              <a:spcAft>
                <a:spcPts val="0"/>
              </a:spcAft>
              <a:buClr>
                <a:schemeClr val="dk1"/>
              </a:buClr>
              <a:buSzPts val="2400"/>
              <a:buChar char="•"/>
            </a:pPr>
            <a:r>
              <a:rPr lang="en-US"/>
              <a:t>Run the video &amp; Q/A application with vLLM</a:t>
            </a:r>
            <a:endParaRPr/>
          </a:p>
          <a:p>
            <a:pPr indent="-76200" lvl="1" marL="685800" rtl="0" algn="l">
              <a:lnSpc>
                <a:spcPct val="90000"/>
              </a:lnSpc>
              <a:spcBef>
                <a:spcPts val="500"/>
              </a:spcBef>
              <a:spcAft>
                <a:spcPts val="0"/>
              </a:spcAft>
              <a:buClr>
                <a:schemeClr val="dk1"/>
              </a:buClr>
              <a:buSzPts val="2400"/>
              <a:buNone/>
            </a:pPr>
            <a:r>
              <a:t/>
            </a:r>
            <a:endParaRPr/>
          </a:p>
        </p:txBody>
      </p:sp>
      <p:sp>
        <p:nvSpPr>
          <p:cNvPr id="2094" name="Google Shape;2094;p2"/>
          <p:cNvSpPr txBox="1"/>
          <p:nvPr/>
        </p:nvSpPr>
        <p:spPr>
          <a:xfrm>
            <a:off x="957421" y="5915350"/>
            <a:ext cx="4759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[1] </a:t>
            </a:r>
            <a:r>
              <a:rPr b="0" i="0" lang="en-US" sz="1400" u="sng" cap="none" strike="noStrike">
                <a:solidFill>
                  <a:schemeClr val="dk1"/>
                </a:solidFill>
                <a:latin typeface="Arial"/>
                <a:ea typeface="Arial"/>
                <a:cs typeface="Arial"/>
                <a:sym typeface="Arial"/>
                <a:hlinkClick r:id="rId3">
                  <a:extLst>
                    <a:ext uri="{A12FA001-AC4F-418D-AE19-62706E023703}">
                      <ahyp:hlinkClr val="tx"/>
                    </a:ext>
                  </a:extLst>
                </a:hlinkClick>
              </a:rPr>
              <a:t>https://arxiv.org/abs/2309.06180</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[2] </a:t>
            </a:r>
            <a:r>
              <a:rPr lang="en-US" sz="1400" u="sng">
                <a:solidFill>
                  <a:schemeClr val="dk1"/>
                </a:solidFill>
                <a:latin typeface="Arial"/>
                <a:ea typeface="Arial"/>
                <a:cs typeface="Arial"/>
                <a:sym typeface="Arial"/>
                <a:hlinkClick r:id="rId4">
                  <a:extLst>
                    <a:ext uri="{A12FA001-AC4F-418D-AE19-62706E023703}">
                      <ahyp:hlinkClr val="tx"/>
                    </a:ext>
                  </a:extLst>
                </a:hlinkClick>
              </a:rPr>
              <a:t>https://arxiv.org/abs/2508.18298</a:t>
            </a:r>
            <a:endParaRPr sz="1400">
              <a:solidFill>
                <a:schemeClr val="dk1"/>
              </a:solidFill>
              <a:latin typeface="Arial"/>
              <a:ea typeface="Arial"/>
              <a:cs typeface="Arial"/>
              <a:sym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grpSp>
        <p:nvGrpSpPr>
          <p:cNvPr id="2099" name="Google Shape;2099;p3"/>
          <p:cNvGrpSpPr/>
          <p:nvPr/>
        </p:nvGrpSpPr>
        <p:grpSpPr>
          <a:xfrm>
            <a:off x="685800" y="1838306"/>
            <a:ext cx="10820400" cy="5019694"/>
            <a:chOff x="0" y="-47625"/>
            <a:chExt cx="4274726" cy="2214456"/>
          </a:xfrm>
        </p:grpSpPr>
        <p:sp>
          <p:nvSpPr>
            <p:cNvPr id="2100" name="Google Shape;2100;p3"/>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01" name="Google Shape;2101;p3"/>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grpSp>
        <p:nvGrpSpPr>
          <p:cNvPr id="2102" name="Google Shape;2102;p3"/>
          <p:cNvGrpSpPr/>
          <p:nvPr/>
        </p:nvGrpSpPr>
        <p:grpSpPr>
          <a:xfrm>
            <a:off x="868061" y="2028861"/>
            <a:ext cx="10379059" cy="4232241"/>
            <a:chOff x="0" y="-47625"/>
            <a:chExt cx="1808189" cy="1538670"/>
          </a:xfrm>
        </p:grpSpPr>
        <p:sp>
          <p:nvSpPr>
            <p:cNvPr id="2103" name="Google Shape;2103;p3"/>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04" name="Google Shape;2104;p3"/>
            <p:cNvSpPr txBox="1"/>
            <p:nvPr/>
          </p:nvSpPr>
          <p:spPr>
            <a:xfrm>
              <a:off x="0" y="-47625"/>
              <a:ext cx="1808189" cy="1538669"/>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05" name="Google Shape;2105;p3"/>
          <p:cNvSpPr txBox="1"/>
          <p:nvPr/>
        </p:nvSpPr>
        <p:spPr>
          <a:xfrm>
            <a:off x="685800" y="596900"/>
            <a:ext cx="108204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Efficient Memory Management for Large Language Model Serving with PagedAttention</a:t>
            </a:r>
            <a:endParaRPr b="1" sz="2800">
              <a:solidFill>
                <a:srgbClr val="24314F"/>
              </a:solidFill>
              <a:latin typeface="Arial"/>
              <a:ea typeface="Arial"/>
              <a:cs typeface="Arial"/>
              <a:sym typeface="Arial"/>
            </a:endParaRPr>
          </a:p>
        </p:txBody>
      </p:sp>
      <p:sp>
        <p:nvSpPr>
          <p:cNvPr id="2106" name="Google Shape;2106;p3"/>
          <p:cNvSpPr txBox="1"/>
          <p:nvPr/>
        </p:nvSpPr>
        <p:spPr>
          <a:xfrm>
            <a:off x="987480" y="2311830"/>
            <a:ext cx="9849900" cy="37266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00">
                <a:solidFill>
                  <a:srgbClr val="24314F"/>
                </a:solidFill>
                <a:latin typeface="Inter"/>
                <a:ea typeface="Inter"/>
                <a:cs typeface="Inter"/>
                <a:sym typeface="Inter"/>
              </a:rPr>
              <a:t>The Problem:</a:t>
            </a:r>
            <a:r>
              <a:rPr b="1" lang="en-US" sz="1100">
                <a:solidFill>
                  <a:srgbClr val="24314F"/>
                </a:solidFill>
                <a:latin typeface="Inter SemiBold"/>
                <a:ea typeface="Inter SemiBold"/>
                <a:cs typeface="Inter SemiBold"/>
                <a:sym typeface="Inter SemiBold"/>
              </a:rPr>
              <a:t> </a:t>
            </a:r>
            <a:endParaRPr sz="1100"/>
          </a:p>
          <a:p>
            <a:pPr indent="0" lvl="0" marL="0" marR="0" rtl="0" algn="just">
              <a:lnSpc>
                <a:spcPct val="140060"/>
              </a:lnSpc>
              <a:spcBef>
                <a:spcPts val="0"/>
              </a:spcBef>
              <a:spcAft>
                <a:spcPts val="0"/>
              </a:spcAft>
              <a:buNone/>
            </a:pPr>
            <a:r>
              <a:rPr b="1" lang="en-US" sz="1100">
                <a:solidFill>
                  <a:srgbClr val="24314F"/>
                </a:solidFill>
                <a:latin typeface="Inter SemiBold"/>
                <a:ea typeface="Inter SemiBold"/>
                <a:cs typeface="Inter SemiBold"/>
                <a:sym typeface="Inter SemiBold"/>
              </a:rPr>
              <a:t>Serving LLMs is surprisingly slow and expensive $$$. Microsoft has even struggled to secure GPUs for its service.</a:t>
            </a:r>
            <a:endParaRPr sz="1100"/>
          </a:p>
          <a:p>
            <a:pPr indent="-129151" lvl="1" marL="287892" marR="0" rtl="0" algn="just">
              <a:lnSpc>
                <a:spcPct val="140060"/>
              </a:lnSpc>
              <a:spcBef>
                <a:spcPts val="0"/>
              </a:spcBef>
              <a:spcAft>
                <a:spcPts val="0"/>
              </a:spcAft>
              <a:buClr>
                <a:srgbClr val="24314F"/>
              </a:buClr>
              <a:buSzPts val="1100"/>
              <a:buFont typeface="Arial"/>
              <a:buChar char="•"/>
            </a:pPr>
            <a:r>
              <a:rPr b="1" i="0" lang="en-US" sz="1100" u="none" cap="none" strike="noStrike">
                <a:solidFill>
                  <a:srgbClr val="24314F"/>
                </a:solidFill>
                <a:latin typeface="Inter SemiBold"/>
                <a:ea typeface="Inter SemiBold"/>
                <a:cs typeface="Inter SemiBold"/>
                <a:sym typeface="Inter SemiBold"/>
              </a:rPr>
              <a:t>Low GPU Utilization</a:t>
            </a:r>
            <a:endParaRPr sz="1100"/>
          </a:p>
          <a:p>
            <a:pPr indent="-270955" lvl="2" marL="669606" marR="0" rtl="0" algn="just">
              <a:lnSpc>
                <a:spcPct val="140060"/>
              </a:lnSpc>
              <a:spcBef>
                <a:spcPts val="0"/>
              </a:spcBef>
              <a:spcAft>
                <a:spcPts val="0"/>
              </a:spcAft>
              <a:buClr>
                <a:srgbClr val="24314F"/>
              </a:buClr>
              <a:buSzPts val="1100"/>
              <a:buFont typeface="Inter SemiBold"/>
              <a:buChar char="-"/>
            </a:pPr>
            <a:r>
              <a:rPr b="1" i="0" lang="en-US" sz="1100" u="none" cap="none" strike="noStrike">
                <a:solidFill>
                  <a:srgbClr val="24314F"/>
                </a:solidFill>
                <a:latin typeface="Inter SemiBold"/>
                <a:ea typeface="Inter SemiBold"/>
                <a:cs typeface="Inter SemiBold"/>
                <a:sym typeface="Inter SemiBold"/>
              </a:rPr>
              <a:t>LLMs generate one token at a time (autoregressively). The token is dependent on the previous one. Which is difficult to parallelize as it cant be executed simultaneously. </a:t>
            </a:r>
            <a:endParaRPr sz="1100"/>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0" lvl="2" marL="383856" marR="0" rtl="0" algn="just">
              <a:lnSpc>
                <a:spcPct val="140060"/>
              </a:lnSpc>
              <a:spcBef>
                <a:spcPts val="0"/>
              </a:spcBef>
              <a:spcAft>
                <a:spcPts val="0"/>
              </a:spcAft>
              <a:buNone/>
            </a:pPr>
            <a:r>
              <a:t/>
            </a:r>
            <a:endParaRPr b="1" i="0" sz="1100" u="none" cap="none" strike="noStrike">
              <a:solidFill>
                <a:srgbClr val="24314F"/>
              </a:solidFill>
              <a:latin typeface="Inter SemiBold"/>
              <a:ea typeface="Inter SemiBold"/>
              <a:cs typeface="Inter SemiBold"/>
              <a:sym typeface="Inter SemiBold"/>
            </a:endParaRPr>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270955" lvl="2" marL="669606" marR="0" rtl="0" algn="just">
              <a:lnSpc>
                <a:spcPct val="140060"/>
              </a:lnSpc>
              <a:spcBef>
                <a:spcPts val="0"/>
              </a:spcBef>
              <a:spcAft>
                <a:spcPts val="0"/>
              </a:spcAft>
              <a:buClr>
                <a:srgbClr val="24314F"/>
              </a:buClr>
              <a:buSzPts val="1100"/>
              <a:buFont typeface="Inter SemiBold"/>
              <a:buChar char="-"/>
            </a:pPr>
            <a:r>
              <a:rPr b="1" i="0" lang="en-US" sz="1100" u="none" cap="none" strike="noStrike">
                <a:solidFill>
                  <a:srgbClr val="24314F"/>
                </a:solidFill>
                <a:latin typeface="Inter SemiBold"/>
                <a:ea typeface="Inter SemiBold"/>
                <a:cs typeface="Inter SemiBold"/>
                <a:sym typeface="Inter SemiBold"/>
              </a:rPr>
              <a:t>Because of this sequential nature the workload becomes memory-bound rather than compute-bound. This means the GPU spends more time waiting for data to be loaded from memory than on performing calculations, leading to wasted computational resources.</a:t>
            </a:r>
            <a:endParaRPr sz="1100"/>
          </a:p>
          <a:p>
            <a:pPr indent="-201104" lvl="2" marL="669606" marR="0" rtl="0" algn="just">
              <a:lnSpc>
                <a:spcPct val="140060"/>
              </a:lnSpc>
              <a:spcBef>
                <a:spcPts val="0"/>
              </a:spcBef>
              <a:spcAft>
                <a:spcPts val="0"/>
              </a:spcAft>
              <a:buClr>
                <a:schemeClr val="dk1"/>
              </a:buClr>
              <a:buSzPts val="1333"/>
              <a:buFont typeface="Arial"/>
              <a:buNone/>
            </a:pPr>
            <a:r>
              <a:t/>
            </a:r>
            <a:endParaRPr b="1" i="0" sz="1100" u="none" cap="none" strike="noStrike">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t/>
            </a:r>
            <a:endParaRPr b="1" sz="1100">
              <a:solidFill>
                <a:srgbClr val="24314F"/>
              </a:solidFill>
              <a:latin typeface="Inter SemiBold"/>
              <a:ea typeface="Inter SemiBold"/>
              <a:cs typeface="Inter SemiBold"/>
              <a:sym typeface="Inter SemiBold"/>
            </a:endParaRPr>
          </a:p>
        </p:txBody>
      </p:sp>
      <p:sp>
        <p:nvSpPr>
          <p:cNvPr id="2107" name="Google Shape;2107;p3"/>
          <p:cNvSpPr txBox="1"/>
          <p:nvPr/>
        </p:nvSpPr>
        <p:spPr>
          <a:xfrm>
            <a:off x="6260355" y="2503935"/>
            <a:ext cx="4576979" cy="4104737"/>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sp>
        <p:nvSpPr>
          <p:cNvPr id="2108" name="Google Shape;2108;p3"/>
          <p:cNvSpPr txBox="1"/>
          <p:nvPr/>
        </p:nvSpPr>
        <p:spPr>
          <a:xfrm>
            <a:off x="685800" y="1636385"/>
            <a:ext cx="10820400" cy="123000"/>
          </a:xfrm>
          <a:prstGeom prst="rect">
            <a:avLst/>
          </a:prstGeom>
          <a:noFill/>
          <a:ln>
            <a:noFill/>
          </a:ln>
        </p:spPr>
        <p:txBody>
          <a:bodyPr anchorCtr="0" anchor="t" bIns="0" lIns="0" spcFirstLastPara="1" rIns="0" wrap="square" tIns="0">
            <a:spAutoFit/>
          </a:bodyPr>
          <a:lstStyle/>
          <a:p>
            <a:pPr indent="0" lvl="0" marL="0" marR="0" rtl="0" algn="l">
              <a:lnSpc>
                <a:spcPct val="186700"/>
              </a:lnSpc>
              <a:spcBef>
                <a:spcPts val="0"/>
              </a:spcBef>
              <a:spcAft>
                <a:spcPts val="0"/>
              </a:spcAft>
              <a:buNone/>
            </a:pPr>
            <a:r>
              <a:rPr b="1" lang="en-US" sz="800">
                <a:solidFill>
                  <a:srgbClr val="24314F"/>
                </a:solidFill>
                <a:latin typeface="Inter"/>
                <a:ea typeface="Inter"/>
                <a:cs typeface="Inter"/>
                <a:sym typeface="Inter"/>
              </a:rPr>
              <a:t>ACM SIGOPS. (2024, October 12). SOSP '23 | Efficient Memory Management for Large Language Model Serving with PagedAttention. YouTube. </a:t>
            </a:r>
            <a:r>
              <a:rPr b="1" lang="en-US" sz="800" u="sng">
                <a:solidFill>
                  <a:srgbClr val="24314F"/>
                </a:solidFill>
                <a:latin typeface="Inter"/>
                <a:ea typeface="Inter"/>
                <a:cs typeface="Inter"/>
                <a:sym typeface="Inter"/>
                <a:hlinkClick r:id="rId3">
                  <a:extLst>
                    <a:ext uri="{A12FA001-AC4F-418D-AE19-62706E023703}">
                      <ahyp:hlinkClr val="tx"/>
                    </a:ext>
                  </a:extLst>
                </a:hlinkClick>
              </a:rPr>
              <a:t>https://www.youtube.com/watch?v=UdNocRPQS3Y</a:t>
            </a:r>
            <a:r>
              <a:rPr b="1" lang="en-US" sz="800">
                <a:solidFill>
                  <a:srgbClr val="24314F"/>
                </a:solidFill>
                <a:latin typeface="Inter"/>
                <a:ea typeface="Inter"/>
                <a:cs typeface="Inter"/>
                <a:sym typeface="Inter"/>
              </a:rPr>
              <a:t> </a:t>
            </a:r>
            <a:endParaRPr sz="1200"/>
          </a:p>
        </p:txBody>
      </p:sp>
      <p:pic>
        <p:nvPicPr>
          <p:cNvPr id="2109" name="Google Shape;2109;p3"/>
          <p:cNvPicPr preferRelativeResize="0"/>
          <p:nvPr/>
        </p:nvPicPr>
        <p:blipFill rotWithShape="1">
          <a:blip r:embed="rId4">
            <a:alphaModFix/>
          </a:blip>
          <a:srcRect b="0" l="0" r="0" t="0"/>
          <a:stretch/>
        </p:blipFill>
        <p:spPr>
          <a:xfrm>
            <a:off x="1591708" y="3657065"/>
            <a:ext cx="3943925" cy="1382175"/>
          </a:xfrm>
          <a:prstGeom prst="rect">
            <a:avLst/>
          </a:prstGeom>
          <a:noFill/>
          <a:ln>
            <a:noFill/>
          </a:ln>
        </p:spPr>
      </p:pic>
      <p:sp>
        <p:nvSpPr>
          <p:cNvPr id="2110" name="Google Shape;2110;p3"/>
          <p:cNvSpPr txBox="1"/>
          <p:nvPr/>
        </p:nvSpPr>
        <p:spPr>
          <a:xfrm>
            <a:off x="4810911" y="6438219"/>
            <a:ext cx="8886900" cy="1692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00">
                <a:solidFill>
                  <a:srgbClr val="24314F"/>
                </a:solidFill>
                <a:latin typeface="Inter"/>
                <a:ea typeface="Inter"/>
                <a:cs typeface="Inter"/>
                <a:sym typeface="Inter"/>
              </a:rPr>
              <a:t>Solution Batching -&gt; New problem KV Cache is limited by the amount of GPU mem available</a:t>
            </a:r>
            <a:endParaRPr b="1" sz="1100">
              <a:solidFill>
                <a:srgbClr val="24314F"/>
              </a:solidFill>
              <a:latin typeface="Inter SemiBold"/>
              <a:ea typeface="Inter SemiBold"/>
              <a:cs typeface="Inter SemiBold"/>
              <a:sym typeface="Inter SemiBo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4" name="Shape 2114"/>
        <p:cNvGrpSpPr/>
        <p:nvPr/>
      </p:nvGrpSpPr>
      <p:grpSpPr>
        <a:xfrm>
          <a:off x="0" y="0"/>
          <a:ext cx="0" cy="0"/>
          <a:chOff x="0" y="0"/>
          <a:chExt cx="0" cy="0"/>
        </a:xfrm>
      </p:grpSpPr>
      <p:grpSp>
        <p:nvGrpSpPr>
          <p:cNvPr id="2115" name="Google Shape;2115;p4"/>
          <p:cNvGrpSpPr/>
          <p:nvPr/>
        </p:nvGrpSpPr>
        <p:grpSpPr>
          <a:xfrm>
            <a:off x="685800" y="1838306"/>
            <a:ext cx="10820400" cy="5019694"/>
            <a:chOff x="0" y="-47625"/>
            <a:chExt cx="4274726" cy="2214456"/>
          </a:xfrm>
        </p:grpSpPr>
        <p:sp>
          <p:nvSpPr>
            <p:cNvPr id="2116" name="Google Shape;2116;p4"/>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17" name="Google Shape;2117;p4"/>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18" name="Google Shape;2118;p4"/>
          <p:cNvSpPr txBox="1"/>
          <p:nvPr/>
        </p:nvSpPr>
        <p:spPr>
          <a:xfrm>
            <a:off x="685800" y="596900"/>
            <a:ext cx="80004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Efficient Memory Management for Large Language Model Serving with PagedAttention</a:t>
            </a:r>
            <a:endParaRPr b="1" sz="2800">
              <a:solidFill>
                <a:srgbClr val="24314F"/>
              </a:solidFill>
              <a:latin typeface="Arial"/>
              <a:ea typeface="Arial"/>
              <a:cs typeface="Arial"/>
              <a:sym typeface="Arial"/>
            </a:endParaRPr>
          </a:p>
        </p:txBody>
      </p:sp>
      <p:grpSp>
        <p:nvGrpSpPr>
          <p:cNvPr id="2119" name="Google Shape;2119;p4"/>
          <p:cNvGrpSpPr/>
          <p:nvPr/>
        </p:nvGrpSpPr>
        <p:grpSpPr>
          <a:xfrm>
            <a:off x="1295637" y="2126175"/>
            <a:ext cx="4576979" cy="4503228"/>
            <a:chOff x="0" y="-47625"/>
            <a:chExt cx="1808189" cy="1538670"/>
          </a:xfrm>
        </p:grpSpPr>
        <p:sp>
          <p:nvSpPr>
            <p:cNvPr id="2120" name="Google Shape;2120;p4"/>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21" name="Google Shape;2121;p4"/>
            <p:cNvSpPr txBox="1"/>
            <p:nvPr/>
          </p:nvSpPr>
          <p:spPr>
            <a:xfrm>
              <a:off x="0" y="-47625"/>
              <a:ext cx="1808189" cy="1538669"/>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22" name="Google Shape;2122;p4"/>
          <p:cNvSpPr txBox="1"/>
          <p:nvPr/>
        </p:nvSpPr>
        <p:spPr>
          <a:xfrm>
            <a:off x="1652536" y="2460511"/>
            <a:ext cx="3863100" cy="3522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The KV Mem Massive Memory Waste:</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When an LLM generates a new token, it reuses the computations from all previous tokens in the sequence. This is hard to manage because it is huge and dynamic! Previously they used pre-allocated continuous bock of memory for each request, sized for max possible len (e.g 2048).</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Internal Fragmentation</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a:t>
            </a:r>
            <a:r>
              <a:rPr b="1" i="0" lang="en-US" sz="800" u="none" cap="none" strike="noStrike">
                <a:solidFill>
                  <a:srgbClr val="24314F"/>
                </a:solidFill>
                <a:latin typeface="Inter SemiBold"/>
                <a:ea typeface="Inter SemiBold"/>
                <a:cs typeface="Inter SemiBold"/>
                <a:sym typeface="Inter SemiBold"/>
              </a:rPr>
              <a:t>A request rarely uses its fully allocated length</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External Fragmentation</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a:t>
            </a:r>
            <a:r>
              <a:rPr b="1" i="0" lang="en-US" sz="800" u="none" cap="none" strike="noStrike">
                <a:solidFill>
                  <a:srgbClr val="24314F"/>
                </a:solidFill>
                <a:latin typeface="Inter SemiBold"/>
                <a:ea typeface="Inter SemiBold"/>
                <a:cs typeface="Inter SemiBold"/>
                <a:sym typeface="Inter SemiBold"/>
              </a:rPr>
              <a:t>The memory allocator struggles to fit new requests of varying sizes into the gaps left by the completed ones.</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Only 20 to 40% of the allocated KV cache mem is actually used :0</a:t>
            </a:r>
            <a:endParaRPr sz="1200"/>
          </a:p>
        </p:txBody>
      </p:sp>
      <p:grpSp>
        <p:nvGrpSpPr>
          <p:cNvPr id="2123" name="Google Shape;2123;p4"/>
          <p:cNvGrpSpPr/>
          <p:nvPr/>
        </p:nvGrpSpPr>
        <p:grpSpPr>
          <a:xfrm>
            <a:off x="6260355" y="2201865"/>
            <a:ext cx="4576979" cy="4002084"/>
            <a:chOff x="0" y="-47625"/>
            <a:chExt cx="1808189" cy="1790292"/>
          </a:xfrm>
        </p:grpSpPr>
        <p:sp>
          <p:nvSpPr>
            <p:cNvPr id="2124" name="Google Shape;2124;p4"/>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25" name="Google Shape;2125;p4"/>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26" name="Google Shape;2126;p4"/>
          <p:cNvSpPr txBox="1"/>
          <p:nvPr/>
        </p:nvSpPr>
        <p:spPr>
          <a:xfrm>
            <a:off x="6617254" y="2517633"/>
            <a:ext cx="3863100" cy="33720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The solution Paged Attention (Applying Virtual Memory to the KV Cache: </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1" marL="14394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The KV Cache is divided into fixed-sized blocks, like memory pages in an OS.</a:t>
            </a:r>
            <a:endParaRPr sz="1200"/>
          </a:p>
          <a:p>
            <a:pPr indent="0" lvl="1" marL="143946" marR="0" rtl="0" algn="just">
              <a:lnSpc>
                <a:spcPct val="103722"/>
              </a:lnSpc>
              <a:spcBef>
                <a:spcPts val="0"/>
              </a:spcBef>
              <a:spcAft>
                <a:spcPts val="0"/>
              </a:spcAft>
              <a:buNone/>
            </a:pPr>
            <a:r>
              <a:rPr b="0" i="0" lang="en-US" sz="1600" u="none" cap="none" strike="noStrike">
                <a:solidFill>
                  <a:schemeClr val="dk1"/>
                </a:solidFill>
                <a:latin typeface="Arial"/>
                <a:ea typeface="Arial"/>
                <a:cs typeface="Arial"/>
                <a:sym typeface="Arial"/>
              </a:rPr>
              <a:t>↓</a:t>
            </a:r>
            <a:endParaRPr b="1" i="0" sz="800" u="none" cap="none" strike="noStrike">
              <a:solidFill>
                <a:srgbClr val="24314F"/>
              </a:solidFill>
              <a:latin typeface="Inter SemiBold"/>
              <a:ea typeface="Inter SemiBold"/>
              <a:cs typeface="Inter SemiBold"/>
              <a:sym typeface="Inter SemiBold"/>
            </a:endParaRPr>
          </a:p>
          <a:p>
            <a:pPr indent="0" lvl="1" marL="14394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Each request’s KV Cache is stored in non-contiguous physical blocks on the GPU</a:t>
            </a:r>
            <a:endParaRPr sz="1200"/>
          </a:p>
          <a:p>
            <a:pPr indent="0" lvl="1" marL="143946" marR="0" rtl="0" algn="just">
              <a:lnSpc>
                <a:spcPct val="103722"/>
              </a:lnSpc>
              <a:spcBef>
                <a:spcPts val="0"/>
              </a:spcBef>
              <a:spcAft>
                <a:spcPts val="0"/>
              </a:spcAft>
              <a:buNone/>
            </a:pPr>
            <a:r>
              <a:rPr b="0" i="0" lang="en-US" sz="1600" u="none" cap="none" strike="noStrike">
                <a:solidFill>
                  <a:schemeClr val="dk1"/>
                </a:solidFill>
                <a:latin typeface="Arial"/>
                <a:ea typeface="Arial"/>
                <a:cs typeface="Arial"/>
                <a:sym typeface="Arial"/>
              </a:rPr>
              <a:t>↓</a:t>
            </a:r>
            <a:endParaRPr sz="1200"/>
          </a:p>
          <a:p>
            <a:pPr indent="0" lvl="1" marL="14394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A block table maps a request’s logical blocks to physical blocks, just like an OS page table.</a:t>
            </a:r>
            <a:endParaRPr sz="1200"/>
          </a:p>
          <a:p>
            <a:pPr indent="0" lvl="1" marL="143946" marR="0" rtl="0" algn="just">
              <a:lnSpc>
                <a:spcPct val="140060"/>
              </a:lnSpc>
              <a:spcBef>
                <a:spcPts val="0"/>
              </a:spcBef>
              <a:spcAft>
                <a:spcPts val="0"/>
              </a:spcAft>
              <a:buNone/>
            </a:pPr>
            <a:r>
              <a:t/>
            </a:r>
            <a:endParaRPr b="1" i="0" sz="1133" u="none" cap="none" strike="noStrike">
              <a:solidFill>
                <a:srgbClr val="24314F"/>
              </a:solidFill>
              <a:latin typeface="Inter SemiBold"/>
              <a:ea typeface="Inter SemiBold"/>
              <a:cs typeface="Inter SemiBold"/>
              <a:sym typeface="Inter SemiBold"/>
            </a:endParaRPr>
          </a:p>
          <a:p>
            <a:pPr indent="0" lvl="1" marL="14394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vLLM is built on paged attention and puts these concepts to actual use.</a:t>
            </a:r>
            <a:endParaRPr b="1" i="0" sz="1133" u="none" cap="none" strike="noStrike">
              <a:solidFill>
                <a:srgbClr val="24314F"/>
              </a:solidFill>
              <a:latin typeface="Inter SemiBold"/>
              <a:ea typeface="Inter SemiBold"/>
              <a:cs typeface="Inter SemiBold"/>
              <a:sym typeface="Inter SemiBold"/>
            </a:endParaRPr>
          </a:p>
        </p:txBody>
      </p:sp>
      <p:sp>
        <p:nvSpPr>
          <p:cNvPr id="2127" name="Google Shape;2127;p4"/>
          <p:cNvSpPr txBox="1"/>
          <p:nvPr/>
        </p:nvSpPr>
        <p:spPr>
          <a:xfrm>
            <a:off x="7643020" y="654051"/>
            <a:ext cx="3863100" cy="4188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96% memory utilization</a:t>
            </a:r>
            <a:endParaRPr sz="1200"/>
          </a:p>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2-4x higher throughput</a:t>
            </a:r>
            <a:endParaRPr sz="1200"/>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grpSp>
        <p:nvGrpSpPr>
          <p:cNvPr id="2133" name="Google Shape;2133;p5"/>
          <p:cNvGrpSpPr/>
          <p:nvPr/>
        </p:nvGrpSpPr>
        <p:grpSpPr>
          <a:xfrm>
            <a:off x="685800" y="1838306"/>
            <a:ext cx="10820400" cy="5019694"/>
            <a:chOff x="0" y="-47625"/>
            <a:chExt cx="4274726" cy="2214456"/>
          </a:xfrm>
        </p:grpSpPr>
        <p:sp>
          <p:nvSpPr>
            <p:cNvPr id="2134" name="Google Shape;2134;p5"/>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5" name="Google Shape;2135;p5"/>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36" name="Google Shape;2136;p5"/>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Benchmarking vLLM using NSCC Cluster</a:t>
            </a:r>
            <a:endParaRPr sz="1200"/>
          </a:p>
        </p:txBody>
      </p:sp>
      <p:grpSp>
        <p:nvGrpSpPr>
          <p:cNvPr id="2137" name="Google Shape;2137;p5"/>
          <p:cNvGrpSpPr/>
          <p:nvPr/>
        </p:nvGrpSpPr>
        <p:grpSpPr>
          <a:xfrm>
            <a:off x="6260355" y="2187777"/>
            <a:ext cx="4576979" cy="4531677"/>
            <a:chOff x="0" y="-47625"/>
            <a:chExt cx="1808189" cy="1790292"/>
          </a:xfrm>
        </p:grpSpPr>
        <p:sp>
          <p:nvSpPr>
            <p:cNvPr id="2138" name="Google Shape;2138;p5"/>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9" name="Google Shape;2139;p5"/>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40" name="Google Shape;2140;p5"/>
          <p:cNvSpPr txBox="1"/>
          <p:nvPr/>
        </p:nvSpPr>
        <p:spPr>
          <a:xfrm>
            <a:off x="6617254" y="2517633"/>
            <a:ext cx="3863100" cy="39594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Summary </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In a nutshell, the system is highly performant in terms of raw processing speed, as shown by the high request and token throughputs. However, it suffers from a significant "cold start" issue, as indicated by the very high Time to First Token (TTFT). This means that while the model generates its response quickly once it gets started, there's a long initial delay before the first part of the answer appears.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Possible reasons for the High TTFT</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model being loaded into GPU memory on the first request.</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batching and scheduling system (vLLM) taking time to process the initial queue of requests.</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high P99 TTFT value suggests that this initial delay is not consistent and some requests experienced much worse latencies than the average.</a:t>
            </a:r>
            <a:endParaRPr sz="1200"/>
          </a:p>
        </p:txBody>
      </p:sp>
      <p:sp>
        <p:nvSpPr>
          <p:cNvPr id="2141" name="Google Shape;2141;p5"/>
          <p:cNvSpPr txBox="1"/>
          <p:nvPr/>
        </p:nvSpPr>
        <p:spPr>
          <a:xfrm>
            <a:off x="7642870" y="748089"/>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TinyLlama/TinyLlama-1.1B-Chat-v1.0</a:t>
            </a:r>
            <a:endParaRPr sz="1200"/>
          </a:p>
        </p:txBody>
      </p:sp>
      <p:pic>
        <p:nvPicPr>
          <p:cNvPr id="2142" name="Google Shape;2142;p5"/>
          <p:cNvPicPr preferRelativeResize="0"/>
          <p:nvPr/>
        </p:nvPicPr>
        <p:blipFill rotWithShape="1">
          <a:blip r:embed="rId3">
            <a:alphaModFix/>
          </a:blip>
          <a:srcRect b="0" l="0" r="0" t="0"/>
          <a:stretch/>
        </p:blipFill>
        <p:spPr>
          <a:xfrm>
            <a:off x="917666" y="2308328"/>
            <a:ext cx="5013980" cy="4411126"/>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grpSp>
        <p:nvGrpSpPr>
          <p:cNvPr id="2148" name="Google Shape;2148;p6"/>
          <p:cNvGrpSpPr/>
          <p:nvPr/>
        </p:nvGrpSpPr>
        <p:grpSpPr>
          <a:xfrm>
            <a:off x="685800" y="1838306"/>
            <a:ext cx="10820400" cy="5019694"/>
            <a:chOff x="0" y="-47625"/>
            <a:chExt cx="4274726" cy="2214456"/>
          </a:xfrm>
        </p:grpSpPr>
        <p:sp>
          <p:nvSpPr>
            <p:cNvPr id="2149" name="Google Shape;2149;p6"/>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50" name="Google Shape;2150;p6"/>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51" name="Google Shape;2151;p6"/>
          <p:cNvSpPr txBox="1"/>
          <p:nvPr/>
        </p:nvSpPr>
        <p:spPr>
          <a:xfrm>
            <a:off x="685800" y="596900"/>
            <a:ext cx="7595100" cy="431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Benchmarking vLLM using NSCC Cluster</a:t>
            </a:r>
            <a:endParaRPr sz="1200"/>
          </a:p>
        </p:txBody>
      </p:sp>
      <p:grpSp>
        <p:nvGrpSpPr>
          <p:cNvPr id="2152" name="Google Shape;2152;p6"/>
          <p:cNvGrpSpPr/>
          <p:nvPr/>
        </p:nvGrpSpPr>
        <p:grpSpPr>
          <a:xfrm>
            <a:off x="6260355" y="2187777"/>
            <a:ext cx="4576979" cy="4531677"/>
            <a:chOff x="0" y="-47625"/>
            <a:chExt cx="1808189" cy="1790292"/>
          </a:xfrm>
        </p:grpSpPr>
        <p:sp>
          <p:nvSpPr>
            <p:cNvPr id="2153" name="Google Shape;2153;p6"/>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54" name="Google Shape;2154;p6"/>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55" name="Google Shape;2155;p6"/>
          <p:cNvSpPr txBox="1"/>
          <p:nvPr/>
        </p:nvSpPr>
        <p:spPr>
          <a:xfrm>
            <a:off x="6617254" y="2517633"/>
            <a:ext cx="3863100" cy="39594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Summary </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In a nutshell, the system is highly performant in terms of raw processing speed, as shown by the high request and token throughputs. However, it suffers from a significant "cold start" issue, as indicated by the very high Time to First Token (TTFT). This means that while the model generates its response quickly once it gets started, there's a long initial delay before the first part of the answer appears.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Possible reasons for the High TTFT</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model being loaded into GPU memory on the first request.</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batching and scheduling system (vLLM) taking time to process the initial queue of requests.</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high P99 TTFT value suggests that this initial delay is not consistent and some requests experienced much worse latencies than the average.</a:t>
            </a:r>
            <a:endParaRPr sz="1200"/>
          </a:p>
        </p:txBody>
      </p:sp>
      <p:sp>
        <p:nvSpPr>
          <p:cNvPr id="2156" name="Google Shape;2156;p6"/>
          <p:cNvSpPr txBox="1"/>
          <p:nvPr/>
        </p:nvSpPr>
        <p:spPr>
          <a:xfrm>
            <a:off x="7643020" y="654051"/>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pic>
        <p:nvPicPr>
          <p:cNvPr id="2157" name="Google Shape;2157;p6"/>
          <p:cNvPicPr preferRelativeResize="0"/>
          <p:nvPr/>
        </p:nvPicPr>
        <p:blipFill rotWithShape="1">
          <a:blip r:embed="rId3">
            <a:alphaModFix/>
          </a:blip>
          <a:srcRect b="0" l="0" r="0" t="0"/>
          <a:stretch/>
        </p:blipFill>
        <p:spPr>
          <a:xfrm>
            <a:off x="1014731" y="2308328"/>
            <a:ext cx="5078972" cy="4157786"/>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grpSp>
        <p:nvGrpSpPr>
          <p:cNvPr id="2162" name="Google Shape;2162;p7"/>
          <p:cNvGrpSpPr/>
          <p:nvPr/>
        </p:nvGrpSpPr>
        <p:grpSpPr>
          <a:xfrm>
            <a:off x="685800" y="1838306"/>
            <a:ext cx="10820400" cy="5019694"/>
            <a:chOff x="0" y="-47625"/>
            <a:chExt cx="4274726" cy="2214456"/>
          </a:xfrm>
        </p:grpSpPr>
        <p:sp>
          <p:nvSpPr>
            <p:cNvPr id="2163" name="Google Shape;2163;p7"/>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4" name="Google Shape;2164;p7"/>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65" name="Google Shape;2165;p7"/>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The Workflow details of vLLM</a:t>
            </a:r>
            <a:endParaRPr b="1" sz="2800">
              <a:solidFill>
                <a:srgbClr val="24314F"/>
              </a:solidFill>
              <a:latin typeface="Arial"/>
              <a:ea typeface="Arial"/>
              <a:cs typeface="Arial"/>
              <a:sym typeface="Arial"/>
            </a:endParaRPr>
          </a:p>
          <a:p>
            <a:pPr indent="0" lvl="0" marL="0" marR="0" rtl="0" algn="l">
              <a:lnSpc>
                <a:spcPct val="130000"/>
              </a:lnSpc>
              <a:spcBef>
                <a:spcPts val="0"/>
              </a:spcBef>
              <a:spcAft>
                <a:spcPts val="0"/>
              </a:spcAft>
              <a:buNone/>
            </a:pPr>
            <a:r>
              <a:t/>
            </a:r>
            <a:endParaRPr b="1" sz="2800">
              <a:solidFill>
                <a:srgbClr val="24314F"/>
              </a:solidFill>
              <a:latin typeface="Arial"/>
              <a:ea typeface="Arial"/>
              <a:cs typeface="Arial"/>
              <a:sym typeface="Arial"/>
            </a:endParaRPr>
          </a:p>
        </p:txBody>
      </p:sp>
      <p:grpSp>
        <p:nvGrpSpPr>
          <p:cNvPr id="2166" name="Google Shape;2166;p7"/>
          <p:cNvGrpSpPr/>
          <p:nvPr/>
        </p:nvGrpSpPr>
        <p:grpSpPr>
          <a:xfrm>
            <a:off x="1295637" y="2124665"/>
            <a:ext cx="4576979" cy="4552023"/>
            <a:chOff x="0" y="-47625"/>
            <a:chExt cx="1808189" cy="1538670"/>
          </a:xfrm>
        </p:grpSpPr>
        <p:sp>
          <p:nvSpPr>
            <p:cNvPr id="2167" name="Google Shape;2167;p7"/>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8" name="Google Shape;2168;p7"/>
            <p:cNvSpPr txBox="1"/>
            <p:nvPr/>
          </p:nvSpPr>
          <p:spPr>
            <a:xfrm>
              <a:off x="0" y="-47625"/>
              <a:ext cx="1808189" cy="1538669"/>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69" name="Google Shape;2169;p7"/>
          <p:cNvSpPr txBox="1"/>
          <p:nvPr/>
        </p:nvSpPr>
        <p:spPr>
          <a:xfrm>
            <a:off x="1652537" y="2517634"/>
            <a:ext cx="3863100" cy="31839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System Architecture and Control Flow:</a:t>
            </a:r>
            <a:endParaRPr b="1" sz="1133">
              <a:solidFill>
                <a:srgbClr val="24314F"/>
              </a:solidFill>
              <a:latin typeface="Inter SemiBold"/>
              <a:ea typeface="Inter SemiBold"/>
              <a:cs typeface="Inter SemiBold"/>
              <a:sym typeface="Inter SemiBold"/>
            </a:endParaRPr>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vLLM is a high-throughput distributed LLM serving engine. It is implemented based on PyTorch and Hugging Face Transformers, utilizing Ray and Megatron-LM for distributed execution</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Centralized Engine</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a:t>
            </a:r>
            <a:r>
              <a:rPr b="1" i="0" lang="en-US" sz="800" u="none" cap="none" strike="noStrike">
                <a:solidFill>
                  <a:srgbClr val="24314F"/>
                </a:solidFill>
                <a:latin typeface="Inter SemiBold"/>
                <a:ea typeface="Inter SemiBold"/>
                <a:cs typeface="Inter SemiBold"/>
                <a:sym typeface="Inter SemiBold"/>
              </a:rPr>
              <a:t>A centralized engine manages the block table and acts as the Scheduler. It broadcasts control messages containing input token IDs and block tables to GPU workers at the start of each decoding iteration</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GPU Workers</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a:t>
            </a:r>
            <a:r>
              <a:rPr b="1" i="0" lang="en-US" sz="800" u="none" cap="none" strike="noStrike">
                <a:solidFill>
                  <a:srgbClr val="24314F"/>
                </a:solidFill>
                <a:latin typeface="Inter SemiBold"/>
                <a:ea typeface="Inter SemiBold"/>
                <a:cs typeface="Inter SemiBold"/>
                <a:sym typeface="Inter SemiBold"/>
              </a:rPr>
              <a:t>GPU workers execute the model distributedly (model parallel fashion). Each worker contains a Cache Engine that allocates physical blocks according to memory commands received from the centralized engine</a:t>
            </a:r>
            <a:endParaRPr sz="1200"/>
          </a:p>
        </p:txBody>
      </p:sp>
      <p:grpSp>
        <p:nvGrpSpPr>
          <p:cNvPr id="2170" name="Google Shape;2170;p7"/>
          <p:cNvGrpSpPr/>
          <p:nvPr/>
        </p:nvGrpSpPr>
        <p:grpSpPr>
          <a:xfrm>
            <a:off x="6260355" y="2187777"/>
            <a:ext cx="4576979" cy="4531677"/>
            <a:chOff x="0" y="-47625"/>
            <a:chExt cx="1808189" cy="1790292"/>
          </a:xfrm>
        </p:grpSpPr>
        <p:sp>
          <p:nvSpPr>
            <p:cNvPr id="2171" name="Google Shape;2171;p7"/>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72" name="Google Shape;2172;p7"/>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73" name="Google Shape;2173;p7"/>
          <p:cNvSpPr txBox="1"/>
          <p:nvPr/>
        </p:nvSpPr>
        <p:spPr>
          <a:xfrm>
            <a:off x="6617254" y="2517633"/>
            <a:ext cx="3863100" cy="33417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PagedAttention &amp; KV Cache Management:</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KV Cache Partitioning</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PagedAttention partitions the KV cache (attention keys and values) of each sequence into fixed-size KV blocks (analogous to pages in an OS.)</a:t>
            </a:r>
            <a:endParaRPr sz="1200"/>
          </a:p>
          <a:p>
            <a:pPr indent="0" lvl="0" marL="0" marR="0" rtl="0" algn="just">
              <a:lnSpc>
                <a:spcPct val="140000"/>
              </a:lnSpc>
              <a:spcBef>
                <a:spcPts val="0"/>
              </a:spcBef>
              <a:spcAft>
                <a:spcPts val="0"/>
              </a:spcAft>
              <a:buNone/>
            </a:pPr>
            <a:r>
              <a:t/>
            </a:r>
            <a:endParaRPr b="1" sz="800">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Memory Mapping</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The KV Cache Manager maintains block tables that map a request's logical KV blocks (consecutive view) to non-contiguous physical KV blocks (on GPU DRAM). This design allows vLLM to utilize over 96% of the KV cache space on average</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Dynamic Allocation</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Memory is allocated on demand. A new physical block is allocated only when the last block of a sequence is full</a:t>
            </a:r>
            <a:endParaRPr sz="1200"/>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7" name="Shape 2177"/>
        <p:cNvGrpSpPr/>
        <p:nvPr/>
      </p:nvGrpSpPr>
      <p:grpSpPr>
        <a:xfrm>
          <a:off x="0" y="0"/>
          <a:ext cx="0" cy="0"/>
          <a:chOff x="0" y="0"/>
          <a:chExt cx="0" cy="0"/>
        </a:xfrm>
      </p:grpSpPr>
      <p:grpSp>
        <p:nvGrpSpPr>
          <p:cNvPr id="2178" name="Google Shape;2178;p8"/>
          <p:cNvGrpSpPr/>
          <p:nvPr/>
        </p:nvGrpSpPr>
        <p:grpSpPr>
          <a:xfrm>
            <a:off x="685800" y="1838306"/>
            <a:ext cx="10820400" cy="5019694"/>
            <a:chOff x="0" y="-47625"/>
            <a:chExt cx="4274726" cy="2214456"/>
          </a:xfrm>
        </p:grpSpPr>
        <p:sp>
          <p:nvSpPr>
            <p:cNvPr id="2179" name="Google Shape;2179;p8"/>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80" name="Google Shape;2180;p8"/>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81" name="Google Shape;2181;p8"/>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The Workflow details of vLLM</a:t>
            </a:r>
            <a:endParaRPr b="1" sz="2800">
              <a:solidFill>
                <a:srgbClr val="24314F"/>
              </a:solidFill>
              <a:latin typeface="Arial"/>
              <a:ea typeface="Arial"/>
              <a:cs typeface="Arial"/>
              <a:sym typeface="Arial"/>
            </a:endParaRPr>
          </a:p>
          <a:p>
            <a:pPr indent="0" lvl="0" marL="0" marR="0" rtl="0" algn="l">
              <a:lnSpc>
                <a:spcPct val="130000"/>
              </a:lnSpc>
              <a:spcBef>
                <a:spcPts val="0"/>
              </a:spcBef>
              <a:spcAft>
                <a:spcPts val="0"/>
              </a:spcAft>
              <a:buNone/>
            </a:pPr>
            <a:r>
              <a:t/>
            </a:r>
            <a:endParaRPr b="1" sz="2800">
              <a:solidFill>
                <a:srgbClr val="24314F"/>
              </a:solidFill>
              <a:latin typeface="Arial"/>
              <a:ea typeface="Arial"/>
              <a:cs typeface="Arial"/>
              <a:sym typeface="Arial"/>
            </a:endParaRPr>
          </a:p>
        </p:txBody>
      </p:sp>
      <p:grpSp>
        <p:nvGrpSpPr>
          <p:cNvPr id="2182" name="Google Shape;2182;p8"/>
          <p:cNvGrpSpPr/>
          <p:nvPr/>
        </p:nvGrpSpPr>
        <p:grpSpPr>
          <a:xfrm>
            <a:off x="1295637" y="2124665"/>
            <a:ext cx="4576979" cy="4552023"/>
            <a:chOff x="0" y="-47625"/>
            <a:chExt cx="1808189" cy="1538670"/>
          </a:xfrm>
        </p:grpSpPr>
        <p:sp>
          <p:nvSpPr>
            <p:cNvPr id="2183" name="Google Shape;2183;p8"/>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84" name="Google Shape;2184;p8"/>
            <p:cNvSpPr txBox="1"/>
            <p:nvPr/>
          </p:nvSpPr>
          <p:spPr>
            <a:xfrm>
              <a:off x="0" y="-47625"/>
              <a:ext cx="1808189" cy="1538669"/>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85" name="Google Shape;2185;p8"/>
          <p:cNvSpPr txBox="1"/>
          <p:nvPr/>
        </p:nvSpPr>
        <p:spPr>
          <a:xfrm>
            <a:off x="1652537" y="2517634"/>
            <a:ext cx="3863100" cy="38589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Decoding and Advanced Features:</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Decoding Steps</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For each decoding iteration, vLLM first selects candidate sequences for batching and allocates physical blocks for newly required logical blocks. The LLM computes the next token, using the PagedAttention kernel to fetch necessary KV blocks via the block table.</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KV Cache Sharing</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PagedAttention enables flexible memory sharing within and across requests, crucial for complex decoding algorithms. For scenarios like parallel sampling or beam search, prompt blocks can be shared</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Copy-on-Write (CoW)</a:t>
            </a:r>
            <a:endParaRPr b="1" i="0" sz="800" u="none" cap="none" strike="noStrike">
              <a:solidFill>
                <a:srgbClr val="24314F"/>
              </a:solidFill>
              <a:latin typeface="Inter SemiBold"/>
              <a:ea typeface="Inter SemiBold"/>
              <a:cs typeface="Inter SemiBold"/>
              <a:sym typeface="Inter SemiBold"/>
            </a:endParaRPr>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If a shared physical block needs modification (e.g., writing a newly generated token), the CoW technique is used: a new physical block is allocated, the old content is copied, and the sequence writes to the new, unique block.</a:t>
            </a:r>
            <a:endParaRPr sz="1200"/>
          </a:p>
        </p:txBody>
      </p:sp>
      <p:grpSp>
        <p:nvGrpSpPr>
          <p:cNvPr id="2186" name="Google Shape;2186;p8"/>
          <p:cNvGrpSpPr/>
          <p:nvPr/>
        </p:nvGrpSpPr>
        <p:grpSpPr>
          <a:xfrm>
            <a:off x="6260355" y="2187777"/>
            <a:ext cx="4576979" cy="4531677"/>
            <a:chOff x="0" y="-47625"/>
            <a:chExt cx="1808189" cy="1790292"/>
          </a:xfrm>
        </p:grpSpPr>
        <p:sp>
          <p:nvSpPr>
            <p:cNvPr id="2187" name="Google Shape;2187;p8"/>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88" name="Google Shape;2188;p8"/>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89" name="Google Shape;2189;p8"/>
          <p:cNvSpPr txBox="1"/>
          <p:nvPr/>
        </p:nvSpPr>
        <p:spPr>
          <a:xfrm>
            <a:off x="6617254" y="2517633"/>
            <a:ext cx="3863100" cy="33417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Scheduling and Recovery:</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Scheduling Policy</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vLLM uses a First-Come-First-Serve (FCFS) scheduling policy to ensure fairness and prevent starvation.</a:t>
            </a:r>
            <a:endParaRPr sz="1200"/>
          </a:p>
          <a:p>
            <a:pPr indent="0" lvl="0" marL="0" marR="0" rtl="0" algn="just">
              <a:lnSpc>
                <a:spcPct val="140000"/>
              </a:lnSpc>
              <a:spcBef>
                <a:spcPts val="0"/>
              </a:spcBef>
              <a:spcAft>
                <a:spcPts val="0"/>
              </a:spcAft>
              <a:buNone/>
            </a:pPr>
            <a:r>
              <a:t/>
            </a:r>
            <a:endParaRPr b="1" sz="800">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Preemption Policy</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When the system runs out of physical blocks, it employs an all-or-nothing eviction policy, preempting the entire request (or sequence group). The latest arrived requests are preempted first.</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Recovery Mechanisms</a:t>
            </a:r>
            <a:endParaRPr sz="1200"/>
          </a:p>
          <a:p>
            <a:pPr indent="-131246" lvl="2" marL="7450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o recover evicted blocks, vLLM uses two methods: Swapping (copying GPU KV blocks to larger CPU RAM, managed by a CPU block allocator) or Recomputation (deleting the KV cache and regenerating it later). </a:t>
            </a:r>
            <a:endParaRPr sz="1200"/>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4" name="Shape 2194"/>
        <p:cNvGrpSpPr/>
        <p:nvPr/>
      </p:nvGrpSpPr>
      <p:grpSpPr>
        <a:xfrm>
          <a:off x="0" y="0"/>
          <a:ext cx="0" cy="0"/>
          <a:chOff x="0" y="0"/>
          <a:chExt cx="0" cy="0"/>
        </a:xfrm>
      </p:grpSpPr>
      <p:grpSp>
        <p:nvGrpSpPr>
          <p:cNvPr id="2195" name="Google Shape;2195;p9"/>
          <p:cNvGrpSpPr/>
          <p:nvPr/>
        </p:nvGrpSpPr>
        <p:grpSpPr>
          <a:xfrm>
            <a:off x="685800" y="1838306"/>
            <a:ext cx="10820400" cy="5019694"/>
            <a:chOff x="0" y="-47625"/>
            <a:chExt cx="4274726" cy="2214456"/>
          </a:xfrm>
        </p:grpSpPr>
        <p:sp>
          <p:nvSpPr>
            <p:cNvPr id="2196" name="Google Shape;2196;p9"/>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97" name="Google Shape;2197;p9"/>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198" name="Google Shape;2198;p9"/>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Modify Scheduling Policies</a:t>
            </a:r>
            <a:endParaRPr sz="1200"/>
          </a:p>
          <a:p>
            <a:pPr indent="0" lvl="0" marL="0" marR="0" rtl="0" algn="l">
              <a:lnSpc>
                <a:spcPct val="130000"/>
              </a:lnSpc>
              <a:spcBef>
                <a:spcPts val="0"/>
              </a:spcBef>
              <a:spcAft>
                <a:spcPts val="0"/>
              </a:spcAft>
              <a:buNone/>
            </a:pPr>
            <a:r>
              <a:t/>
            </a:r>
            <a:endParaRPr b="1" sz="2800">
              <a:solidFill>
                <a:srgbClr val="24314F"/>
              </a:solidFill>
              <a:latin typeface="Arial"/>
              <a:ea typeface="Arial"/>
              <a:cs typeface="Arial"/>
              <a:sym typeface="Arial"/>
            </a:endParaRPr>
          </a:p>
        </p:txBody>
      </p:sp>
      <p:pic>
        <p:nvPicPr>
          <p:cNvPr id="2199" name="Google Shape;2199;p9"/>
          <p:cNvPicPr preferRelativeResize="0"/>
          <p:nvPr/>
        </p:nvPicPr>
        <p:blipFill rotWithShape="1">
          <a:blip r:embed="rId3">
            <a:alphaModFix/>
          </a:blip>
          <a:srcRect b="0" l="0" r="0" t="0"/>
          <a:stretch/>
        </p:blipFill>
        <p:spPr>
          <a:xfrm>
            <a:off x="1160207" y="2308328"/>
            <a:ext cx="4625741" cy="1455546"/>
          </a:xfrm>
          <a:prstGeom prst="rect">
            <a:avLst/>
          </a:prstGeom>
          <a:noFill/>
          <a:ln>
            <a:noFill/>
          </a:ln>
        </p:spPr>
      </p:pic>
      <p:grpSp>
        <p:nvGrpSpPr>
          <p:cNvPr id="2200" name="Google Shape;2200;p9"/>
          <p:cNvGrpSpPr/>
          <p:nvPr/>
        </p:nvGrpSpPr>
        <p:grpSpPr>
          <a:xfrm>
            <a:off x="1208969" y="4055062"/>
            <a:ext cx="4576979" cy="2664392"/>
            <a:chOff x="0" y="-47625"/>
            <a:chExt cx="1808189" cy="1790292"/>
          </a:xfrm>
        </p:grpSpPr>
        <p:sp>
          <p:nvSpPr>
            <p:cNvPr id="2201" name="Google Shape;2201;p9"/>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02" name="Google Shape;2202;p9"/>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203" name="Google Shape;2203;p9"/>
          <p:cNvSpPr txBox="1"/>
          <p:nvPr/>
        </p:nvSpPr>
        <p:spPr>
          <a:xfrm>
            <a:off x="1565868" y="4335245"/>
            <a:ext cx="3863100" cy="18330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Objective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Replace FCFS to prioritize shorter prompts.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Changed in vllm/v1/core/sched/scheduler.py file</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In schedule(self) -&gt; SchedulerOutput:</a:t>
            </a:r>
            <a:endParaRPr sz="1200"/>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Added Shortest Prompt First Policy</a:t>
            </a:r>
            <a:endParaRPr sz="1200"/>
          </a:p>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Results :</a:t>
            </a:r>
            <a:endParaRPr sz="1200"/>
          </a:p>
          <a:p>
            <a:pPr indent="-131246" lvl="1" marL="287892" marR="0" rtl="0" algn="just">
              <a:lnSpc>
                <a:spcPct val="186700"/>
              </a:lnSpc>
              <a:spcBef>
                <a:spcPts val="0"/>
              </a:spcBef>
              <a:spcAft>
                <a:spcPts val="0"/>
              </a:spcAft>
              <a:buClr>
                <a:srgbClr val="24314F"/>
              </a:buClr>
              <a:buSzPts val="800"/>
              <a:buFont typeface="Arial"/>
              <a:buChar char="•"/>
            </a:pPr>
            <a:r>
              <a:rPr b="1" i="0" lang="en-US" sz="800" u="none" cap="none" strike="noStrike">
                <a:solidFill>
                  <a:srgbClr val="24314F"/>
                </a:solidFill>
                <a:latin typeface="Inter SemiBold"/>
                <a:ea typeface="Inter SemiBold"/>
                <a:cs typeface="Inter SemiBold"/>
                <a:sym typeface="Inter SemiBold"/>
              </a:rPr>
              <a:t>FCFS performed better (original)</a:t>
            </a:r>
            <a:endParaRPr sz="1200"/>
          </a:p>
        </p:txBody>
      </p:sp>
      <p:pic>
        <p:nvPicPr>
          <p:cNvPr id="2204" name="Google Shape;2204;p9"/>
          <p:cNvPicPr preferRelativeResize="0"/>
          <p:nvPr/>
        </p:nvPicPr>
        <p:blipFill rotWithShape="1">
          <a:blip r:embed="rId4">
            <a:alphaModFix/>
          </a:blip>
          <a:srcRect b="0" l="0" r="0" t="0"/>
          <a:stretch/>
        </p:blipFill>
        <p:spPr>
          <a:xfrm>
            <a:off x="6260355" y="2368906"/>
            <a:ext cx="4968671" cy="4244708"/>
          </a:xfrm>
          <a:prstGeom prst="rect">
            <a:avLst/>
          </a:prstGeom>
          <a:noFill/>
          <a:ln>
            <a:noFill/>
          </a:ln>
        </p:spPr>
      </p:pic>
      <p:sp>
        <p:nvSpPr>
          <p:cNvPr id="2205" name="Google Shape;2205;p9"/>
          <p:cNvSpPr txBox="1"/>
          <p:nvPr/>
        </p:nvSpPr>
        <p:spPr>
          <a:xfrm>
            <a:off x="7643020" y="654051"/>
            <a:ext cx="3863100" cy="1743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meta-llama/Llama-2-7b-hf</a:t>
            </a:r>
            <a:endParaRPr sz="1200"/>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grpSp>
        <p:nvGrpSpPr>
          <p:cNvPr id="2210" name="Google Shape;2210;p10"/>
          <p:cNvGrpSpPr/>
          <p:nvPr/>
        </p:nvGrpSpPr>
        <p:grpSpPr>
          <a:xfrm>
            <a:off x="685800" y="1838306"/>
            <a:ext cx="10820400" cy="5019694"/>
            <a:chOff x="0" y="-47625"/>
            <a:chExt cx="4274726" cy="2214456"/>
          </a:xfrm>
        </p:grpSpPr>
        <p:sp>
          <p:nvSpPr>
            <p:cNvPr id="2211" name="Google Shape;2211;p10"/>
            <p:cNvSpPr/>
            <p:nvPr/>
          </p:nvSpPr>
          <p:spPr>
            <a:xfrm>
              <a:off x="0" y="0"/>
              <a:ext cx="4274726" cy="2166831"/>
            </a:xfrm>
            <a:custGeom>
              <a:rect b="b" l="l" r="r" t="t"/>
              <a:pathLst>
                <a:path extrusionOk="0" h="2166831" w="4274726">
                  <a:moveTo>
                    <a:pt x="9540" y="0"/>
                  </a:moveTo>
                  <a:lnTo>
                    <a:pt x="4265186" y="0"/>
                  </a:lnTo>
                  <a:cubicBezTo>
                    <a:pt x="4270455" y="0"/>
                    <a:pt x="4274726" y="4271"/>
                    <a:pt x="4274726" y="9540"/>
                  </a:cubicBezTo>
                  <a:lnTo>
                    <a:pt x="4274726" y="2157291"/>
                  </a:lnTo>
                  <a:cubicBezTo>
                    <a:pt x="4274726" y="2159821"/>
                    <a:pt x="4273721" y="2162247"/>
                    <a:pt x="4271932" y="2164037"/>
                  </a:cubicBezTo>
                  <a:cubicBezTo>
                    <a:pt x="4270143" y="2165826"/>
                    <a:pt x="4267716" y="2166831"/>
                    <a:pt x="4265186" y="2166831"/>
                  </a:cubicBezTo>
                  <a:lnTo>
                    <a:pt x="9540" y="2166831"/>
                  </a:lnTo>
                  <a:cubicBezTo>
                    <a:pt x="4271" y="2166831"/>
                    <a:pt x="0" y="2162559"/>
                    <a:pt x="0" y="2157291"/>
                  </a:cubicBezTo>
                  <a:lnTo>
                    <a:pt x="0" y="9540"/>
                  </a:lnTo>
                  <a:cubicBezTo>
                    <a:pt x="0" y="4271"/>
                    <a:pt x="4271" y="0"/>
                    <a:pt x="9540" y="0"/>
                  </a:cubicBezTo>
                  <a:close/>
                </a:path>
              </a:pathLst>
            </a:custGeom>
            <a:solidFill>
              <a:srgbClr val="E8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12" name="Google Shape;2212;p10"/>
            <p:cNvSpPr txBox="1"/>
            <p:nvPr/>
          </p:nvSpPr>
          <p:spPr>
            <a:xfrm>
              <a:off x="0" y="-47625"/>
              <a:ext cx="4274726" cy="2214456"/>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213" name="Google Shape;2213;p10"/>
          <p:cNvSpPr txBox="1"/>
          <p:nvPr/>
        </p:nvSpPr>
        <p:spPr>
          <a:xfrm>
            <a:off x="685800" y="596900"/>
            <a:ext cx="7595100" cy="991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2800">
                <a:solidFill>
                  <a:srgbClr val="24314F"/>
                </a:solidFill>
                <a:latin typeface="Arial"/>
                <a:ea typeface="Arial"/>
                <a:cs typeface="Arial"/>
                <a:sym typeface="Arial"/>
              </a:rPr>
              <a:t>Murakkab: Resource-Efficient Orchestration for Agentic AI Workflows</a:t>
            </a:r>
            <a:endParaRPr sz="1200"/>
          </a:p>
        </p:txBody>
      </p:sp>
      <p:grpSp>
        <p:nvGrpSpPr>
          <p:cNvPr id="2214" name="Google Shape;2214;p10"/>
          <p:cNvGrpSpPr/>
          <p:nvPr/>
        </p:nvGrpSpPr>
        <p:grpSpPr>
          <a:xfrm>
            <a:off x="1295637" y="2145008"/>
            <a:ext cx="4576979" cy="3894760"/>
            <a:chOff x="0" y="-47625"/>
            <a:chExt cx="1808189" cy="1538670"/>
          </a:xfrm>
        </p:grpSpPr>
        <p:sp>
          <p:nvSpPr>
            <p:cNvPr id="2215" name="Google Shape;2215;p10"/>
            <p:cNvSpPr/>
            <p:nvPr/>
          </p:nvSpPr>
          <p:spPr>
            <a:xfrm>
              <a:off x="0" y="0"/>
              <a:ext cx="1808189" cy="1491045"/>
            </a:xfrm>
            <a:custGeom>
              <a:rect b="b" l="l" r="r" t="t"/>
              <a:pathLst>
                <a:path extrusionOk="0" h="1491045" w="1808189">
                  <a:moveTo>
                    <a:pt x="27064" y="0"/>
                  </a:moveTo>
                  <a:lnTo>
                    <a:pt x="1781125" y="0"/>
                  </a:lnTo>
                  <a:cubicBezTo>
                    <a:pt x="1796072" y="0"/>
                    <a:pt x="1808189" y="12117"/>
                    <a:pt x="1808189" y="27064"/>
                  </a:cubicBezTo>
                  <a:lnTo>
                    <a:pt x="1808189" y="1463981"/>
                  </a:lnTo>
                  <a:cubicBezTo>
                    <a:pt x="1808189" y="1478928"/>
                    <a:pt x="1796072" y="1491045"/>
                    <a:pt x="1781125" y="1491045"/>
                  </a:cubicBezTo>
                  <a:lnTo>
                    <a:pt x="27064" y="1491045"/>
                  </a:lnTo>
                  <a:cubicBezTo>
                    <a:pt x="12117" y="1491045"/>
                    <a:pt x="0" y="1478928"/>
                    <a:pt x="0" y="1463981"/>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16" name="Google Shape;2216;p10"/>
            <p:cNvSpPr txBox="1"/>
            <p:nvPr/>
          </p:nvSpPr>
          <p:spPr>
            <a:xfrm>
              <a:off x="0" y="-47625"/>
              <a:ext cx="1808189" cy="1538669"/>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217" name="Google Shape;2217;p10"/>
          <p:cNvSpPr txBox="1"/>
          <p:nvPr/>
        </p:nvSpPr>
        <p:spPr>
          <a:xfrm>
            <a:off x="1652537" y="2517634"/>
            <a:ext cx="3863100" cy="33498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The Problem:</a:t>
            </a:r>
            <a:r>
              <a:rPr b="1" lang="en-US" sz="1133">
                <a:solidFill>
                  <a:srgbClr val="24314F"/>
                </a:solidFill>
                <a:latin typeface="Inter SemiBold"/>
                <a:ea typeface="Inter SemiBold"/>
                <a:cs typeface="Inter SemiBold"/>
                <a:sym typeface="Inter SemiBold"/>
              </a:rPr>
              <a:t>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Today's agentic workflows, which combine multiple AI models and tools, are inefficiently served in the cloud. Leading to wasted resources and high costs.</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Fragmentation</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Workflows are spread across different frameworks, providers, and cloud platforms with minimal coordination</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Tight Coupling</a:t>
            </a:r>
            <a:endParaRPr sz="1200"/>
          </a:p>
          <a:p>
            <a:pPr indent="0" lvl="2" marL="383856" marR="0" rtl="0" algn="just">
              <a:lnSpc>
                <a:spcPct val="140060"/>
              </a:lnSpc>
              <a:spcBef>
                <a:spcPts val="0"/>
              </a:spcBef>
              <a:spcAft>
                <a:spcPts val="0"/>
              </a:spcAft>
              <a:buNone/>
            </a:pPr>
            <a:r>
              <a:rPr b="1" i="0" lang="en-US" sz="1133" u="none" cap="none" strike="noStrike">
                <a:solidFill>
                  <a:srgbClr val="24314F"/>
                </a:solidFill>
                <a:latin typeface="Inter SemiBold"/>
                <a:ea typeface="Inter SemiBold"/>
                <a:cs typeface="Inter SemiBold"/>
                <a:sym typeface="Inter SemiBold"/>
              </a:rPr>
              <a:t>- Application logic is hard-coded with specific models and hardware</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p:txBody>
      </p:sp>
      <p:grpSp>
        <p:nvGrpSpPr>
          <p:cNvPr id="2218" name="Google Shape;2218;p10"/>
          <p:cNvGrpSpPr/>
          <p:nvPr/>
        </p:nvGrpSpPr>
        <p:grpSpPr>
          <a:xfrm>
            <a:off x="6260355" y="2187777"/>
            <a:ext cx="4576979" cy="4531677"/>
            <a:chOff x="0" y="-47625"/>
            <a:chExt cx="1808189" cy="1790292"/>
          </a:xfrm>
        </p:grpSpPr>
        <p:sp>
          <p:nvSpPr>
            <p:cNvPr id="2219" name="Google Shape;2219;p10"/>
            <p:cNvSpPr/>
            <p:nvPr/>
          </p:nvSpPr>
          <p:spPr>
            <a:xfrm>
              <a:off x="0" y="0"/>
              <a:ext cx="1808189" cy="1742667"/>
            </a:xfrm>
            <a:custGeom>
              <a:rect b="b" l="l" r="r" t="t"/>
              <a:pathLst>
                <a:path extrusionOk="0" h="1742667" w="1808189">
                  <a:moveTo>
                    <a:pt x="27064" y="0"/>
                  </a:moveTo>
                  <a:lnTo>
                    <a:pt x="1781125" y="0"/>
                  </a:lnTo>
                  <a:cubicBezTo>
                    <a:pt x="1796072" y="0"/>
                    <a:pt x="1808189" y="12117"/>
                    <a:pt x="1808189" y="27064"/>
                  </a:cubicBezTo>
                  <a:lnTo>
                    <a:pt x="1808189" y="1715603"/>
                  </a:lnTo>
                  <a:cubicBezTo>
                    <a:pt x="1808189" y="1730550"/>
                    <a:pt x="1796072" y="1742667"/>
                    <a:pt x="1781125" y="1742667"/>
                  </a:cubicBezTo>
                  <a:lnTo>
                    <a:pt x="27064" y="1742667"/>
                  </a:lnTo>
                  <a:cubicBezTo>
                    <a:pt x="12117" y="1742667"/>
                    <a:pt x="0" y="1730550"/>
                    <a:pt x="0" y="1715603"/>
                  </a:cubicBezTo>
                  <a:lnTo>
                    <a:pt x="0" y="27064"/>
                  </a:lnTo>
                  <a:cubicBezTo>
                    <a:pt x="0" y="12117"/>
                    <a:pt x="12117" y="0"/>
                    <a:pt x="270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20" name="Google Shape;2220;p10"/>
            <p:cNvSpPr txBox="1"/>
            <p:nvPr/>
          </p:nvSpPr>
          <p:spPr>
            <a:xfrm>
              <a:off x="0" y="-47625"/>
              <a:ext cx="1808189" cy="1790292"/>
            </a:xfrm>
            <a:prstGeom prst="rect">
              <a:avLst/>
            </a:prstGeom>
            <a:noFill/>
            <a:ln>
              <a:noFill/>
            </a:ln>
          </p:spPr>
          <p:txBody>
            <a:bodyPr anchorCtr="0" anchor="ctr" bIns="33850" lIns="33850" spcFirstLastPara="1" rIns="33850" wrap="square" tIns="33850">
              <a:noAutofit/>
            </a:bodyPr>
            <a:lstStyle/>
            <a:p>
              <a:pPr indent="0" lvl="0" marL="0" marR="0" rtl="0" algn="ctr">
                <a:lnSpc>
                  <a:spcPct val="155583"/>
                </a:lnSpc>
                <a:spcBef>
                  <a:spcPts val="0"/>
                </a:spcBef>
                <a:spcAft>
                  <a:spcPts val="0"/>
                </a:spcAft>
                <a:buNone/>
              </a:pPr>
              <a:r>
                <a:t/>
              </a:r>
              <a:endParaRPr sz="1200">
                <a:solidFill>
                  <a:schemeClr val="dk1"/>
                </a:solidFill>
                <a:latin typeface="Arial"/>
                <a:ea typeface="Arial"/>
                <a:cs typeface="Arial"/>
                <a:sym typeface="Arial"/>
              </a:endParaRPr>
            </a:p>
          </p:txBody>
        </p:sp>
      </p:grpSp>
      <p:sp>
        <p:nvSpPr>
          <p:cNvPr id="2221" name="Google Shape;2221;p10"/>
          <p:cNvSpPr txBox="1"/>
          <p:nvPr/>
        </p:nvSpPr>
        <p:spPr>
          <a:xfrm>
            <a:off x="6617254" y="2517633"/>
            <a:ext cx="3863100" cy="3528300"/>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1" lang="en-US" sz="1133">
                <a:solidFill>
                  <a:srgbClr val="24314F"/>
                </a:solidFill>
                <a:latin typeface="Inter"/>
                <a:ea typeface="Inter"/>
                <a:cs typeface="Inter"/>
                <a:sym typeface="Inter"/>
              </a:rPr>
              <a:t>The solution Murakkab: </a:t>
            </a:r>
            <a:endParaRPr sz="1200"/>
          </a:p>
          <a:p>
            <a:pPr indent="0" lvl="0" marL="0" marR="0" rtl="0" algn="just">
              <a:lnSpc>
                <a:spcPct val="140060"/>
              </a:lnSpc>
              <a:spcBef>
                <a:spcPts val="0"/>
              </a:spcBef>
              <a:spcAft>
                <a:spcPts val="0"/>
              </a:spcAft>
              <a:buNone/>
            </a:pPr>
            <a:r>
              <a:rPr b="1" lang="en-US" sz="1133">
                <a:solidFill>
                  <a:srgbClr val="24314F"/>
                </a:solidFill>
                <a:latin typeface="Inter SemiBold"/>
                <a:ea typeface="Inter SemiBold"/>
                <a:cs typeface="Inter SemiBold"/>
                <a:sym typeface="Inter SemiBold"/>
              </a:rPr>
              <a:t>Murakkab automates the optimisation of multi-tenant agentic workflows. It manages the entire workflow life-cycle from development to execution.</a:t>
            </a:r>
            <a:endParaRPr sz="1200"/>
          </a:p>
          <a:p>
            <a:pPr indent="0" lvl="0" marL="0" marR="0" rtl="0" algn="just">
              <a:lnSpc>
                <a:spcPct val="140060"/>
              </a:lnSpc>
              <a:spcBef>
                <a:spcPts val="0"/>
              </a:spcBef>
              <a:spcAft>
                <a:spcPts val="0"/>
              </a:spcAft>
              <a:buNone/>
            </a:pPr>
            <a:r>
              <a:t/>
            </a:r>
            <a:endParaRPr b="1" sz="1133">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Declarative Specification which is like telling the system what(the application logic) you want, rather than how(the technical details) to do it.</a:t>
            </a:r>
            <a:endParaRPr sz="1200"/>
          </a:p>
          <a:p>
            <a:pPr indent="0" lvl="0" marL="0" marR="0" rtl="0" algn="just">
              <a:lnSpc>
                <a:spcPct val="140000"/>
              </a:lnSpc>
              <a:spcBef>
                <a:spcPts val="0"/>
              </a:spcBef>
              <a:spcAft>
                <a:spcPts val="0"/>
              </a:spcAft>
              <a:buNone/>
            </a:pPr>
            <a:r>
              <a:rPr b="1" lang="en-US" sz="800">
                <a:solidFill>
                  <a:srgbClr val="24314F"/>
                </a:solidFill>
                <a:latin typeface="Inter SemiBold"/>
                <a:ea typeface="Inter SemiBold"/>
                <a:cs typeface="Inter SemiBold"/>
                <a:sym typeface="Inter SemiBold"/>
              </a:rPr>
              <a:t>(No need to specify which AI model to use (like "Llama-3.2"), how many GPUs to reserve, or which cloud provider to use ).</a:t>
            </a:r>
            <a:endParaRPr sz="1200"/>
          </a:p>
          <a:p>
            <a:pPr indent="0" lvl="0" marL="0" marR="0" rtl="0" algn="just">
              <a:lnSpc>
                <a:spcPct val="140000"/>
              </a:lnSpc>
              <a:spcBef>
                <a:spcPts val="0"/>
              </a:spcBef>
              <a:spcAft>
                <a:spcPts val="0"/>
              </a:spcAft>
              <a:buNone/>
            </a:pPr>
            <a:r>
              <a:t/>
            </a:r>
            <a:endParaRPr b="1" sz="800">
              <a:solidFill>
                <a:srgbClr val="24314F"/>
              </a:solidFill>
              <a:latin typeface="Inter SemiBold"/>
              <a:ea typeface="Inter SemiBold"/>
              <a:cs typeface="Inter SemiBold"/>
              <a:sym typeface="Inter SemiBold"/>
            </a:endParaRPr>
          </a:p>
          <a:p>
            <a:pPr indent="0" lvl="0" marL="0" marR="0" rtl="0" algn="just">
              <a:lnSpc>
                <a:spcPct val="140000"/>
              </a:lnSpc>
              <a:spcBef>
                <a:spcPts val="0"/>
              </a:spcBef>
              <a:spcAft>
                <a:spcPts val="0"/>
              </a:spcAft>
              <a:buNone/>
            </a:pPr>
            <a:r>
              <a:t/>
            </a:r>
            <a:endParaRPr b="1" sz="800">
              <a:solidFill>
                <a:srgbClr val="24314F"/>
              </a:solidFill>
              <a:latin typeface="Inter SemiBold"/>
              <a:ea typeface="Inter SemiBold"/>
              <a:cs typeface="Inter SemiBold"/>
              <a:sym typeface="Inter SemiBold"/>
            </a:endParaRPr>
          </a:p>
          <a:p>
            <a:pPr indent="-131246" lvl="1" marL="287892" marR="0" rtl="0" algn="just">
              <a:lnSpc>
                <a:spcPct val="140060"/>
              </a:lnSpc>
              <a:spcBef>
                <a:spcPts val="0"/>
              </a:spcBef>
              <a:spcAft>
                <a:spcPts val="0"/>
              </a:spcAft>
              <a:buClr>
                <a:srgbClr val="24314F"/>
              </a:buClr>
              <a:buSzPts val="1133"/>
              <a:buFont typeface="Arial"/>
              <a:buChar char="•"/>
            </a:pPr>
            <a:r>
              <a:rPr b="1" i="0" lang="en-US" sz="1133" u="none" cap="none" strike="noStrike">
                <a:solidFill>
                  <a:srgbClr val="24314F"/>
                </a:solidFill>
                <a:latin typeface="Inter SemiBold"/>
                <a:ea typeface="Inter SemiBold"/>
                <a:cs typeface="Inter SemiBold"/>
                <a:sym typeface="Inter SemiBold"/>
              </a:rPr>
              <a:t>Profile-Guided Optimisation &amp; Adaptive Runtime</a:t>
            </a:r>
            <a:endParaRPr sz="1200"/>
          </a:p>
          <a:p>
            <a:pPr indent="0" lvl="0" marL="0" marR="0" rtl="0" algn="just">
              <a:lnSpc>
                <a:spcPct val="140000"/>
              </a:lnSpc>
              <a:spcBef>
                <a:spcPts val="0"/>
              </a:spcBef>
              <a:spcAft>
                <a:spcPts val="0"/>
              </a:spcAft>
              <a:buNone/>
            </a:pPr>
            <a:r>
              <a:rPr b="1" lang="en-US" sz="800">
                <a:solidFill>
                  <a:srgbClr val="24314F"/>
                </a:solidFill>
                <a:latin typeface="Inter SemiBold"/>
                <a:ea typeface="Inter SemiBold"/>
                <a:cs typeface="Inter SemiBold"/>
                <a:sym typeface="Inter SemiBold"/>
              </a:rPr>
              <a:t>(Murakkab studies different AI models and hardware setups in advance to see how they perform. It creates detailed reports (profiles). It constantly monitors the workload and resource availability. It's able to reconfigure workflows, share resources and auto-scale.).</a:t>
            </a:r>
            <a:endParaRPr sz="1200"/>
          </a:p>
        </p:txBody>
      </p:sp>
      <p:sp>
        <p:nvSpPr>
          <p:cNvPr id="2222" name="Google Shape;2222;p10"/>
          <p:cNvSpPr txBox="1"/>
          <p:nvPr/>
        </p:nvSpPr>
        <p:spPr>
          <a:xfrm>
            <a:off x="7643020" y="654051"/>
            <a:ext cx="3863100" cy="663000"/>
          </a:xfrm>
          <a:prstGeom prst="rect">
            <a:avLst/>
          </a:prstGeom>
          <a:noFill/>
          <a:ln>
            <a:noFill/>
          </a:ln>
        </p:spPr>
        <p:txBody>
          <a:bodyPr anchorCtr="0" anchor="t" bIns="0" lIns="0" spcFirstLastPara="1" rIns="0" wrap="square" tIns="0">
            <a:spAutoFit/>
          </a:bodyPr>
          <a:lstStyle/>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GPU Usage Up to 2.8x Reduction</a:t>
            </a:r>
            <a:endParaRPr sz="1200"/>
          </a:p>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Energy Consumption Up to 3.7x Reduction</a:t>
            </a:r>
            <a:endParaRPr sz="1200"/>
          </a:p>
          <a:p>
            <a:pPr indent="0" lvl="0" marL="0" marR="0" rtl="0" algn="r">
              <a:lnSpc>
                <a:spcPct val="140060"/>
              </a:lnSpc>
              <a:spcBef>
                <a:spcPts val="0"/>
              </a:spcBef>
              <a:spcAft>
                <a:spcPts val="0"/>
              </a:spcAft>
              <a:buNone/>
            </a:pPr>
            <a:r>
              <a:rPr b="1" lang="en-US" sz="1133">
                <a:solidFill>
                  <a:srgbClr val="24314F"/>
                </a:solidFill>
                <a:latin typeface="Inter"/>
                <a:ea typeface="Inter"/>
                <a:cs typeface="Inter"/>
                <a:sym typeface="Inter"/>
              </a:rPr>
              <a:t>Cost Up to 4.3x reduction</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2025-10-02T08:05:12Z</dcterms:created>
  <dc:creator>澄志 卢</dc:creator>
</cp:coreProperties>
</file>